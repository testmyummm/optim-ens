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equipo. Presentarse brevemente como CTO. Agradecer la asistencia y explicar el objetivo de la sesion.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tono personal. Transmitir orgullo por la certificacion. Explicar que la seguridad no es solo del equipo 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ENS no es voluntario: es una obligacion legal para cualquier empresa que trabaje con el sector publico. optimTech presta servicios a la administracion, por lo que estamos obligados a cumplirlo.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que la certificacion ENS no es solo un requisito legal, sino una ventaja competitiva que nos diferencia. Nuestros clientes del sector publico lo exigen.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brevemente cada fase. Destacar que TonniNova nos ayudo con el gap analysis inicial. La auditoria interna se realizo en noviembre 2025. Ahora estamos en fase de mejora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10 principios basicos del ENS. No es necesario entrar en detalle de todos, pero si destacar que cubren desde la prevencion hasta la mejora continua. Son la base de todo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los roles clave del SGSI. El CEO es el responsable ultimo. El CISO lidera la estrategia de seguridad. El Comite de Seguridad se reune periodicamente para supervisar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nuestra infraestructura esta en proveedores certificados. Azure tiene ENS Alto e ISO 27001. Google Cloud tambien esta certificado ENS. Esto facilita nuestro cumplimiento.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politicas son los documentos de mas alto nivel. La D01 es la politica marco. La D02 define como clasificamos la informacion. La D03 son las directrices que todos debemos cumplir.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normativa I01 que todos debeis firmar. Repasar cada punto brevemente. Insistir en MFA y en reportar correos sospechosos. Recordar que el bloqueo de pantalla es obligatorio.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procedimientos operativos definen como hacemos las cosas. El P05 de incidentes es especialmente importante: todos debeis saber como reportar un incidente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desarrollo seguro es obligatorio segun las medidas mp.sw.1 y mp.sw.2 del ENS. Todo codigo debe pasar por revision. Las dependencias deben mantenerse actualizadas.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clasificacion por defecto es USO INTERNO. Todo documento debe llevar su clasificacion en la cabecera. Los documentos CONFIDENCIAL y SECRETO requieren cifrado.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RGPD es complementario al ENS. Los derechos de los interesados deben atenderse en plazo. Ante una brecha, la notificacion a la AEPD debe hacerse en menos de 72 horas si hay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escenarios mas comunes. Insistir en que es mejor una falsa alarma que no reportar. Ante la duda, contactar al CISO. Nunca intentar investigar por cuenta propia.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cada obligacion. Recordar que el incumplimiento puede tener consecuencias disciplinarias. La firma de la I01 es obligatoria para todos los empleados.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evidencias son la prueba de que cumplimos. Sin evidencias, no hay cumplimiento demostrable. La auditoria de noviembre 2025 identifico areas de mejora que ya estamos abordando.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de concienciacion es continuo. La formacion anual es obligatoria. Los simulacros de phishing nos ayudan a mantenernos alerta. El Comite revisara el progreso trimestralmente.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que la documentacion viva esta en Confluence (espacio ENSCORP). Para incidentes, contactar al CISO. Para temas de datos personales, al DPO.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turno de preguntas. Agradecer la asistencia y el compromiso del equipo. Recordar que la seguridad es un esfuerzo continuo y colectivo.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429000" y="548640"/>
            <a:ext cx="2286000" cy="930704"/>
          </a:xfrm>
          <a:prstGeom prst="rect">
            <a:avLst/>
          </a:prstGeom>
        </p:spPr>
      </p:pic>
      <p:sp>
        <p:nvSpPr>
          <p:cNvPr id="3" name="Text 0"/>
          <p:cNvSpPr/>
          <p:nvPr/>
        </p:nvSpPr>
        <p:spPr>
          <a:xfrm>
            <a:off x="457200" y="1828800"/>
            <a:ext cx="8229600" cy="731520"/>
          </a:xfrm>
          <a:prstGeom prst="rect">
            <a:avLst/>
          </a:prstGeom>
          <a:noFill/>
          <a:ln/>
        </p:spPr>
        <p:txBody>
          <a:bodyPr wrap="square"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ENS en optimTech</a:t>
            </a:r>
            <a:endParaRPr lang="en-US" sz="4000" dirty="0"/>
          </a:p>
        </p:txBody>
      </p:sp>
      <p:sp>
        <p:nvSpPr>
          <p:cNvPr id="4" name="Text 1"/>
          <p:cNvSpPr/>
          <p:nvPr/>
        </p:nvSpPr>
        <p:spPr>
          <a:xfrm>
            <a:off x="457200" y="2560320"/>
            <a:ext cx="82296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Esquema Nacional de Seguridad — Presentacion al Equipo</a:t>
            </a:r>
            <a:endParaRPr lang="en-US" sz="1600" dirty="0"/>
          </a:p>
        </p:txBody>
      </p:sp>
      <p:sp>
        <p:nvSpPr>
          <p:cNvPr id="5" name="Text 2"/>
          <p:cNvSpPr/>
          <p:nvPr/>
        </p:nvSpPr>
        <p:spPr>
          <a:xfrm>
            <a:off x="457200" y="3291840"/>
            <a:ext cx="8229600" cy="365760"/>
          </a:xfrm>
          <a:prstGeom prst="rect">
            <a:avLst/>
          </a:prstGeom>
          <a:noFill/>
          <a:ln/>
        </p:spPr>
        <p:txBody>
          <a:bodyPr wrap="square"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Marzo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548640" y="365760"/>
            <a:ext cx="4572000" cy="54864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Mensaje del CTO</a:t>
            </a:r>
            <a:endParaRPr lang="en-US" sz="2800" dirty="0"/>
          </a:p>
        </p:txBody>
      </p:sp>
      <p:sp>
        <p:nvSpPr>
          <p:cNvPr id="3" name="Shape 1"/>
          <p:cNvSpPr/>
          <p:nvPr/>
        </p:nvSpPr>
        <p:spPr>
          <a:xfrm>
            <a:off x="5943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4" name="Image 0" descr="preencoded.png">    </p:cNvPr>
          <p:cNvPicPr>
            <a:picLocks noChangeAspect="1"/>
          </p:cNvPicPr>
          <p:nvPr/>
        </p:nvPicPr>
        <p:blipFill>
          <a:blip r:embed="rId1"/>
          <a:stretch>
            <a:fillRect/>
          </a:stretch>
        </p:blipFill>
        <p:spPr>
          <a:xfrm>
            <a:off x="1554480" y="1920240"/>
            <a:ext cx="548640" cy="548640"/>
          </a:xfrm>
          <a:prstGeom prst="rect">
            <a:avLst/>
          </a:prstGeom>
        </p:spPr>
      </p:pic>
      <p:sp>
        <p:nvSpPr>
          <p:cNvPr id="5" name="Shape 2"/>
          <p:cNvSpPr/>
          <p:nvPr/>
        </p:nvSpPr>
        <p:spPr>
          <a:xfrm>
            <a:off x="1417320" y="1783080"/>
            <a:ext cx="822960" cy="822960"/>
          </a:xfrm>
          <a:prstGeom prst="ellipse">
            <a:avLst/>
          </a:prstGeom>
          <a:solidFill>
            <a:srgbClr val="0D9A76">
              <a:alpha val="30000"/>
            </a:srgbClr>
          </a:solidFill>
          <a:ln/>
        </p:spPr>
      </p:sp>
      <p:pic>
        <p:nvPicPr>
          <p:cNvPr id="6" name="Image 1" descr="preencoded.png">    </p:cNvPr>
          <p:cNvPicPr>
            <a:picLocks noChangeAspect="1"/>
          </p:cNvPicPr>
          <p:nvPr/>
        </p:nvPicPr>
        <p:blipFill>
          <a:blip r:embed="rId2"/>
          <a:stretch>
            <a:fillRect/>
          </a:stretch>
        </p:blipFill>
        <p:spPr>
          <a:xfrm>
            <a:off x="1600200" y="1965960"/>
            <a:ext cx="457200" cy="457200"/>
          </a:xfrm>
          <a:prstGeom prst="rect">
            <a:avLst/>
          </a:prstGeom>
        </p:spPr>
      </p:pic>
      <p:sp>
        <p:nvSpPr>
          <p:cNvPr id="7" name="Text 3"/>
          <p:cNvSpPr/>
          <p:nvPr/>
        </p:nvSpPr>
        <p:spPr>
          <a:xfrm>
            <a:off x="7772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La seguridad es responsabilidad de TODOS</a:t>
            </a:r>
            <a:endParaRPr lang="en-US" sz="1400" dirty="0"/>
          </a:p>
        </p:txBody>
      </p:sp>
      <p:sp>
        <p:nvSpPr>
          <p:cNvPr id="8" name="Shape 4"/>
          <p:cNvSpPr/>
          <p:nvPr/>
        </p:nvSpPr>
        <p:spPr>
          <a:xfrm>
            <a:off x="33375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9" name="Image 2" descr="preencoded.png">    </p:cNvPr>
          <p:cNvPicPr>
            <a:picLocks noChangeAspect="1"/>
          </p:cNvPicPr>
          <p:nvPr/>
        </p:nvPicPr>
        <p:blipFill>
          <a:blip r:embed="rId3"/>
          <a:stretch>
            <a:fillRect/>
          </a:stretch>
        </p:blipFill>
        <p:spPr>
          <a:xfrm>
            <a:off x="4297680" y="1920240"/>
            <a:ext cx="548640" cy="548640"/>
          </a:xfrm>
          <a:prstGeom prst="rect">
            <a:avLst/>
          </a:prstGeom>
        </p:spPr>
      </p:pic>
      <p:sp>
        <p:nvSpPr>
          <p:cNvPr id="10" name="Shape 5"/>
          <p:cNvSpPr/>
          <p:nvPr/>
        </p:nvSpPr>
        <p:spPr>
          <a:xfrm>
            <a:off x="4160520" y="1783080"/>
            <a:ext cx="822960" cy="822960"/>
          </a:xfrm>
          <a:prstGeom prst="ellipse">
            <a:avLst/>
          </a:prstGeom>
          <a:solidFill>
            <a:srgbClr val="0D9A76">
              <a:alpha val="30000"/>
            </a:srgbClr>
          </a:solidFill>
          <a:ln/>
        </p:spPr>
      </p:sp>
      <p:pic>
        <p:nvPicPr>
          <p:cNvPr id="11" name="Image 3" descr="preencoded.png">    </p:cNvPr>
          <p:cNvPicPr>
            <a:picLocks noChangeAspect="1"/>
          </p:cNvPicPr>
          <p:nvPr/>
        </p:nvPicPr>
        <p:blipFill>
          <a:blip r:embed="rId4"/>
          <a:stretch>
            <a:fillRect/>
          </a:stretch>
        </p:blipFill>
        <p:spPr>
          <a:xfrm>
            <a:off x="4343400" y="1965960"/>
            <a:ext cx="457200" cy="457200"/>
          </a:xfrm>
          <a:prstGeom prst="rect">
            <a:avLst/>
          </a:prstGeom>
        </p:spPr>
      </p:pic>
      <p:sp>
        <p:nvSpPr>
          <p:cNvPr id="12" name="Text 6"/>
          <p:cNvSpPr/>
          <p:nvPr/>
        </p:nvSpPr>
        <p:spPr>
          <a:xfrm>
            <a:off x="35204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Estamos certificados y debemos mantenerlo</a:t>
            </a:r>
            <a:endParaRPr lang="en-US" sz="1400" dirty="0"/>
          </a:p>
        </p:txBody>
      </p:sp>
      <p:sp>
        <p:nvSpPr>
          <p:cNvPr id="13" name="Shape 7"/>
          <p:cNvSpPr/>
          <p:nvPr/>
        </p:nvSpPr>
        <p:spPr>
          <a:xfrm>
            <a:off x="60807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14" name="Image 4" descr="preencoded.png">    </p:cNvPr>
          <p:cNvPicPr>
            <a:picLocks noChangeAspect="1"/>
          </p:cNvPicPr>
          <p:nvPr/>
        </p:nvPicPr>
        <p:blipFill>
          <a:blip r:embed="rId5"/>
          <a:stretch>
            <a:fillRect/>
          </a:stretch>
        </p:blipFill>
        <p:spPr>
          <a:xfrm>
            <a:off x="7040880" y="1920240"/>
            <a:ext cx="548640" cy="548640"/>
          </a:xfrm>
          <a:prstGeom prst="rect">
            <a:avLst/>
          </a:prstGeom>
        </p:spPr>
      </p:pic>
      <p:sp>
        <p:nvSpPr>
          <p:cNvPr id="15" name="Shape 8"/>
          <p:cNvSpPr/>
          <p:nvPr/>
        </p:nvSpPr>
        <p:spPr>
          <a:xfrm>
            <a:off x="6903720" y="1783080"/>
            <a:ext cx="822960" cy="822960"/>
          </a:xfrm>
          <a:prstGeom prst="ellipse">
            <a:avLst/>
          </a:prstGeom>
          <a:solidFill>
            <a:srgbClr val="0D9A76">
              <a:alpha val="30000"/>
            </a:srgbClr>
          </a:solidFill>
          <a:ln/>
        </p:spPr>
      </p:sp>
      <p:pic>
        <p:nvPicPr>
          <p:cNvPr id="16" name="Image 5" descr="preencoded.png">    </p:cNvPr>
          <p:cNvPicPr>
            <a:picLocks noChangeAspect="1"/>
          </p:cNvPicPr>
          <p:nvPr/>
        </p:nvPicPr>
        <p:blipFill>
          <a:blip r:embed="rId6"/>
          <a:stretch>
            <a:fillRect/>
          </a:stretch>
        </p:blipFill>
        <p:spPr>
          <a:xfrm>
            <a:off x="7086600" y="1965960"/>
            <a:ext cx="457200" cy="457200"/>
          </a:xfrm>
          <a:prstGeom prst="rect">
            <a:avLst/>
          </a:prstGeom>
        </p:spPr>
      </p:pic>
      <p:sp>
        <p:nvSpPr>
          <p:cNvPr id="17" name="Text 9"/>
          <p:cNvSpPr/>
          <p:nvPr/>
        </p:nvSpPr>
        <p:spPr>
          <a:xfrm>
            <a:off x="62636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Protegemos a nuestros clientes y a nosotros mismos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Que es el ENS?</a:t>
            </a:r>
            <a:endParaRPr lang="en-US" sz="2200" dirty="0"/>
          </a:p>
        </p:txBody>
      </p:sp>
      <p:sp>
        <p:nvSpPr>
          <p:cNvPr id="3" name="Text 1"/>
          <p:cNvSpPr/>
          <p:nvPr/>
        </p:nvSpPr>
        <p:spPr>
          <a:xfrm>
            <a:off x="548640" y="914400"/>
            <a:ext cx="475488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Real Decreto 311/2022 — Marco legal obligatorio</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Garantiza la seguridad de la informacion en el sector publico</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Aplica a la administracion publica y a sus proveedores tecnologicos</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Define 3 categorias de sistemas: Basica, Media y Alta</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Se complementa con las guias CCN-STIC del CCN</a:t>
            </a:r>
            <a:endParaRPr lang="en-US" sz="1300" dirty="0"/>
          </a:p>
        </p:txBody>
      </p:sp>
      <p:sp>
        <p:nvSpPr>
          <p:cNvPr id="4" name="Shape 2"/>
          <p:cNvSpPr/>
          <p:nvPr/>
        </p:nvSpPr>
        <p:spPr>
          <a:xfrm>
            <a:off x="5760720" y="914400"/>
            <a:ext cx="2926080" cy="1371600"/>
          </a:xfrm>
          <a:prstGeom prst="roundRect">
            <a:avLst>
              <a:gd name="adj" fmla="val 5333"/>
            </a:avLst>
          </a:prstGeom>
          <a:solidFill>
            <a:srgbClr val="FFFFFF"/>
          </a:solidFill>
          <a:ln/>
          <a:effectLst>
            <a:outerShdw sx="100000" sy="100000" kx="0" ky="0" algn="bl" rotWithShape="0" blurRad="50800" dist="25400" dir="8100000">
              <a:srgbClr val="000000">
                <a:alpha val="10000"/>
              </a:srgbClr>
            </a:outerShdw>
          </a:effectLst>
        </p:spPr>
      </p:sp>
      <p:sp>
        <p:nvSpPr>
          <p:cNvPr id="5" name="Shape 3"/>
          <p:cNvSpPr/>
          <p:nvPr/>
        </p:nvSpPr>
        <p:spPr>
          <a:xfrm>
            <a:off x="5760720" y="914400"/>
            <a:ext cx="54864" cy="1371600"/>
          </a:xfrm>
          <a:prstGeom prst="rect">
            <a:avLst>
              <a:gd name="adj" fmla="val 50000"/>
            </a:avLst>
          </a:prstGeom>
          <a:solidFill>
            <a:srgbClr val="0D9A76"/>
          </a:solidFill>
          <a:ln/>
        </p:spPr>
      </p:sp>
      <p:sp>
        <p:nvSpPr>
          <p:cNvPr id="6" name="Text 4"/>
          <p:cNvSpPr/>
          <p:nvPr/>
        </p:nvSpPr>
        <p:spPr>
          <a:xfrm>
            <a:off x="5943600" y="1005840"/>
            <a:ext cx="2560320" cy="548640"/>
          </a:xfrm>
          <a:prstGeom prst="rect">
            <a:avLst/>
          </a:prstGeom>
          <a:noFill/>
          <a:ln/>
        </p:spPr>
        <p:txBody>
          <a:bodyPr wrap="square" lIns="0" tIns="0" rIns="0" bIns="0" rtlCol="0" anchor="ctr"/>
          <a:lstStyle/>
          <a:p>
            <a:pPr algn="ctr" indent="0" marL="0">
              <a:buNone/>
            </a:pPr>
            <a:r>
              <a:rPr lang="en-US" sz="2400" b="1" dirty="0">
                <a:solidFill>
                  <a:srgbClr val="0D9A76"/>
                </a:solidFill>
                <a:latin typeface="Calibri" pitchFamily="34" charset="0"/>
                <a:ea typeface="Calibri" pitchFamily="34" charset="-122"/>
                <a:cs typeface="Calibri" pitchFamily="34" charset="-120"/>
              </a:rPr>
              <a:t>RD 311/2022</a:t>
            </a:r>
            <a:endParaRPr lang="en-US" sz="2400" dirty="0"/>
          </a:p>
        </p:txBody>
      </p:sp>
      <p:sp>
        <p:nvSpPr>
          <p:cNvPr id="7" name="Text 5"/>
          <p:cNvSpPr/>
          <p:nvPr/>
        </p:nvSpPr>
        <p:spPr>
          <a:xfrm>
            <a:off x="5943600" y="1554480"/>
            <a:ext cx="2560320" cy="365760"/>
          </a:xfrm>
          <a:prstGeom prst="rect">
            <a:avLst/>
          </a:prstGeom>
          <a:noFill/>
          <a:ln/>
        </p:spPr>
        <p:txBody>
          <a:bodyPr wrap="square" lIns="0" tIns="0" rIns="0" bIns="0"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Marco legal de seguridad</a:t>
            </a:r>
            <a:endParaRPr lang="en-US" sz="1200" dirty="0"/>
          </a:p>
        </p:txBody>
      </p:sp>
      <p:sp>
        <p:nvSpPr>
          <p:cNvPr id="8" name="Shape 6"/>
          <p:cNvSpPr/>
          <p:nvPr/>
        </p:nvSpPr>
        <p:spPr>
          <a:xfrm>
            <a:off x="5760720" y="2560320"/>
            <a:ext cx="2926080" cy="1371600"/>
          </a:xfrm>
          <a:prstGeom prst="roundRect">
            <a:avLst>
              <a:gd name="adj" fmla="val 5333"/>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5760720" y="2560320"/>
            <a:ext cx="54864" cy="1371600"/>
          </a:xfrm>
          <a:prstGeom prst="rect">
            <a:avLst>
              <a:gd name="adj" fmla="val 50000"/>
            </a:avLst>
          </a:prstGeom>
          <a:solidFill>
            <a:srgbClr val="0D9A76"/>
          </a:solidFill>
          <a:ln/>
        </p:spPr>
      </p:sp>
      <p:sp>
        <p:nvSpPr>
          <p:cNvPr id="10" name="Text 8"/>
          <p:cNvSpPr/>
          <p:nvPr/>
        </p:nvSpPr>
        <p:spPr>
          <a:xfrm>
            <a:off x="5943600" y="2651760"/>
            <a:ext cx="2560320" cy="548640"/>
          </a:xfrm>
          <a:prstGeom prst="rect">
            <a:avLst/>
          </a:prstGeom>
          <a:noFill/>
          <a:ln/>
        </p:spPr>
        <p:txBody>
          <a:bodyPr wrap="square" lIns="0" tIns="0" rIns="0" bIns="0" rtlCol="0" anchor="ctr"/>
          <a:lstStyle/>
          <a:p>
            <a:pPr algn="ctr" indent="0" marL="0">
              <a:buNone/>
            </a:pPr>
            <a:r>
              <a:rPr lang="en-US" sz="2000" b="1" dirty="0">
                <a:solidFill>
                  <a:srgbClr val="0D9A76"/>
                </a:solidFill>
                <a:latin typeface="Calibri" pitchFamily="34" charset="0"/>
                <a:ea typeface="Calibri" pitchFamily="34" charset="-122"/>
                <a:cs typeface="Calibri" pitchFamily="34" charset="-120"/>
              </a:rPr>
              <a:t>3 Categorias</a:t>
            </a:r>
            <a:endParaRPr lang="en-US" sz="2000" dirty="0"/>
          </a:p>
        </p:txBody>
      </p:sp>
      <p:sp>
        <p:nvSpPr>
          <p:cNvPr id="11" name="Text 9"/>
          <p:cNvSpPr/>
          <p:nvPr/>
        </p:nvSpPr>
        <p:spPr>
          <a:xfrm>
            <a:off x="5943600" y="3200400"/>
            <a:ext cx="2560320" cy="365760"/>
          </a:xfrm>
          <a:prstGeom prst="rect">
            <a:avLst/>
          </a:prstGeom>
          <a:noFill/>
          <a:ln/>
        </p:spPr>
        <p:txBody>
          <a:bodyPr wrap="square" lIns="0" tIns="0" rIns="0" bIns="0"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Basica | Media | Alta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Por que optimTech esta certificado?</a:t>
            </a:r>
            <a:endParaRPr lang="en-US" sz="2200" dirty="0"/>
          </a:p>
        </p:txBody>
      </p:sp>
      <p:sp>
        <p:nvSpPr>
          <p:cNvPr id="3" name="Shape 1"/>
          <p:cNvSpPr/>
          <p:nvPr/>
        </p:nvSpPr>
        <p:spPr>
          <a:xfrm>
            <a:off x="54864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548640" y="1097280"/>
            <a:ext cx="54864" cy="2926080"/>
          </a:xfrm>
          <a:prstGeom prst="rect">
            <a:avLst>
              <a:gd name="adj" fmla="val 50000"/>
            </a:avLst>
          </a:prstGeom>
          <a:solidFill>
            <a:srgbClr val="0D9A76"/>
          </a:solidFill>
          <a:ln/>
        </p:spPr>
      </p:sp>
      <p:sp>
        <p:nvSpPr>
          <p:cNvPr id="5" name="Shape 3"/>
          <p:cNvSpPr/>
          <p:nvPr/>
        </p:nvSpPr>
        <p:spPr>
          <a:xfrm>
            <a:off x="1463040" y="1371600"/>
            <a:ext cx="640080" cy="640080"/>
          </a:xfrm>
          <a:prstGeom prst="ellipse">
            <a:avLst/>
          </a:prstGeom>
          <a:solidFill>
            <a:srgbClr val="D1FBF0"/>
          </a:solidFill>
          <a:ln/>
        </p:spPr>
      </p:sp>
      <p:pic>
        <p:nvPicPr>
          <p:cNvPr id="6" name="Image 0" descr="preencoded.png">    </p:cNvPr>
          <p:cNvPicPr>
            <a:picLocks noChangeAspect="1"/>
          </p:cNvPicPr>
          <p:nvPr/>
        </p:nvPicPr>
        <p:blipFill>
          <a:blip r:embed="rId1"/>
          <a:stretch>
            <a:fillRect/>
          </a:stretch>
        </p:blipFill>
        <p:spPr>
          <a:xfrm>
            <a:off x="1600200" y="1508760"/>
            <a:ext cx="365760" cy="365760"/>
          </a:xfrm>
          <a:prstGeom prst="rect">
            <a:avLst/>
          </a:prstGeom>
        </p:spPr>
      </p:pic>
      <p:sp>
        <p:nvSpPr>
          <p:cNvPr id="7" name="Text 4"/>
          <p:cNvSpPr/>
          <p:nvPr/>
        </p:nvSpPr>
        <p:spPr>
          <a:xfrm>
            <a:off x="68580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Sector Publico</a:t>
            </a:r>
            <a:endParaRPr lang="en-US" sz="1500" dirty="0"/>
          </a:p>
        </p:txBody>
      </p:sp>
      <p:sp>
        <p:nvSpPr>
          <p:cNvPr id="8" name="Text 5"/>
          <p:cNvSpPr/>
          <p:nvPr/>
        </p:nvSpPr>
        <p:spPr>
          <a:xfrm>
            <a:off x="73152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Prestamos servicios a la administracion publica y sectores regulados</a:t>
            </a:r>
            <a:endParaRPr lang="en-US" sz="1200" dirty="0"/>
          </a:p>
        </p:txBody>
      </p:sp>
      <p:sp>
        <p:nvSpPr>
          <p:cNvPr id="9" name="Shape 6"/>
          <p:cNvSpPr/>
          <p:nvPr/>
        </p:nvSpPr>
        <p:spPr>
          <a:xfrm>
            <a:off x="333756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10" name="Shape 7"/>
          <p:cNvSpPr/>
          <p:nvPr/>
        </p:nvSpPr>
        <p:spPr>
          <a:xfrm>
            <a:off x="3337560" y="1097280"/>
            <a:ext cx="54864" cy="2926080"/>
          </a:xfrm>
          <a:prstGeom prst="rect">
            <a:avLst>
              <a:gd name="adj" fmla="val 50000"/>
            </a:avLst>
          </a:prstGeom>
          <a:solidFill>
            <a:srgbClr val="0D9A76"/>
          </a:solidFill>
          <a:ln/>
        </p:spPr>
      </p:sp>
      <p:sp>
        <p:nvSpPr>
          <p:cNvPr id="11" name="Shape 8"/>
          <p:cNvSpPr/>
          <p:nvPr/>
        </p:nvSpPr>
        <p:spPr>
          <a:xfrm>
            <a:off x="4251960" y="1371600"/>
            <a:ext cx="640080" cy="640080"/>
          </a:xfrm>
          <a:prstGeom prst="ellipse">
            <a:avLst/>
          </a:prstGeom>
          <a:solidFill>
            <a:srgbClr val="D1FBF0"/>
          </a:solidFill>
          <a:ln/>
        </p:spPr>
      </p:sp>
      <p:pic>
        <p:nvPicPr>
          <p:cNvPr id="12" name="Image 1" descr="preencoded.png">    </p:cNvPr>
          <p:cNvPicPr>
            <a:picLocks noChangeAspect="1"/>
          </p:cNvPicPr>
          <p:nvPr/>
        </p:nvPicPr>
        <p:blipFill>
          <a:blip r:embed="rId2"/>
          <a:stretch>
            <a:fillRect/>
          </a:stretch>
        </p:blipFill>
        <p:spPr>
          <a:xfrm>
            <a:off x="4389120" y="1508760"/>
            <a:ext cx="365760" cy="365760"/>
          </a:xfrm>
          <a:prstGeom prst="rect">
            <a:avLst/>
          </a:prstGeom>
        </p:spPr>
      </p:pic>
      <p:sp>
        <p:nvSpPr>
          <p:cNvPr id="13" name="Text 9"/>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Ventaja Competitiva</a:t>
            </a:r>
            <a:endParaRPr lang="en-US" sz="1500" dirty="0"/>
          </a:p>
        </p:txBody>
      </p:sp>
      <p:sp>
        <p:nvSpPr>
          <p:cNvPr id="14" name="Text 10"/>
          <p:cNvSpPr/>
          <p:nvPr/>
        </p:nvSpPr>
        <p:spPr>
          <a:xfrm>
            <a:off x="352044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Demuestra nuestro compromiso con la seguridad ante el mercado</a:t>
            </a:r>
            <a:endParaRPr lang="en-US" sz="1200" dirty="0"/>
          </a:p>
        </p:txBody>
      </p:sp>
      <p:sp>
        <p:nvSpPr>
          <p:cNvPr id="15" name="Shape 11"/>
          <p:cNvSpPr/>
          <p:nvPr/>
        </p:nvSpPr>
        <p:spPr>
          <a:xfrm>
            <a:off x="612648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16" name="Shape 12"/>
          <p:cNvSpPr/>
          <p:nvPr/>
        </p:nvSpPr>
        <p:spPr>
          <a:xfrm>
            <a:off x="6126480" y="1097280"/>
            <a:ext cx="54864" cy="2926080"/>
          </a:xfrm>
          <a:prstGeom prst="rect">
            <a:avLst>
              <a:gd name="adj" fmla="val 50000"/>
            </a:avLst>
          </a:prstGeom>
          <a:solidFill>
            <a:srgbClr val="0D9A76"/>
          </a:solidFill>
          <a:ln/>
        </p:spPr>
      </p:sp>
      <p:sp>
        <p:nvSpPr>
          <p:cNvPr id="17" name="Shape 13"/>
          <p:cNvSpPr/>
          <p:nvPr/>
        </p:nvSpPr>
        <p:spPr>
          <a:xfrm>
            <a:off x="7040880" y="1371600"/>
            <a:ext cx="640080" cy="640080"/>
          </a:xfrm>
          <a:prstGeom prst="ellipse">
            <a:avLst/>
          </a:prstGeom>
          <a:solidFill>
            <a:srgbClr val="D1FBF0"/>
          </a:solidFill>
          <a:ln/>
        </p:spPr>
      </p:sp>
      <p:pic>
        <p:nvPicPr>
          <p:cNvPr id="18" name="Image 2" descr="preencoded.png">    </p:cNvPr>
          <p:cNvPicPr>
            <a:picLocks noChangeAspect="1"/>
          </p:cNvPicPr>
          <p:nvPr/>
        </p:nvPicPr>
        <p:blipFill>
          <a:blip r:embed="rId3"/>
          <a:stretch>
            <a:fillRect/>
          </a:stretch>
        </p:blipFill>
        <p:spPr>
          <a:xfrm>
            <a:off x="7178040" y="1508760"/>
            <a:ext cx="365760" cy="365760"/>
          </a:xfrm>
          <a:prstGeom prst="rect">
            <a:avLst/>
          </a:prstGeom>
        </p:spPr>
      </p:pic>
      <p:sp>
        <p:nvSpPr>
          <p:cNvPr id="19" name="Text 14"/>
          <p:cNvSpPr/>
          <p:nvPr/>
        </p:nvSpPr>
        <p:spPr>
          <a:xfrm>
            <a:off x="626364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Confianza</a:t>
            </a:r>
            <a:endParaRPr lang="en-US" sz="1500" dirty="0"/>
          </a:p>
        </p:txBody>
      </p:sp>
      <p:sp>
        <p:nvSpPr>
          <p:cNvPr id="20" name="Text 15"/>
          <p:cNvSpPr/>
          <p:nvPr/>
        </p:nvSpPr>
        <p:spPr>
          <a:xfrm>
            <a:off x="630936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Garantia para clientes y partners de que protegemos su informacion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Nuestro Recorrido</a:t>
            </a:r>
            <a:endParaRPr lang="en-US" sz="2200" dirty="0"/>
          </a:p>
        </p:txBody>
      </p:sp>
      <p:sp>
        <p:nvSpPr>
          <p:cNvPr id="3" name="Shape 1"/>
          <p:cNvSpPr/>
          <p:nvPr/>
        </p:nvSpPr>
        <p:spPr>
          <a:xfrm>
            <a:off x="1234440" y="2487168"/>
            <a:ext cx="7315200" cy="54864"/>
          </a:xfrm>
          <a:prstGeom prst="rect">
            <a:avLst/>
          </a:prstGeom>
          <a:solidFill>
            <a:srgbClr val="D1FBF0"/>
          </a:solidFill>
          <a:ln/>
        </p:spPr>
      </p:sp>
      <p:sp>
        <p:nvSpPr>
          <p:cNvPr id="4" name="Shape 2"/>
          <p:cNvSpPr/>
          <p:nvPr/>
        </p:nvSpPr>
        <p:spPr>
          <a:xfrm>
            <a:off x="914400" y="2194560"/>
            <a:ext cx="640080" cy="640080"/>
          </a:xfrm>
          <a:prstGeom prst="ellipse">
            <a:avLst/>
          </a:prstGeom>
          <a:solidFill>
            <a:srgbClr val="0D9A76"/>
          </a:solidFill>
          <a:ln/>
        </p:spPr>
      </p:sp>
      <p:sp>
        <p:nvSpPr>
          <p:cNvPr id="5" name="Text 3"/>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6400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Q1-Q2 2025</a:t>
            </a:r>
            <a:endParaRPr lang="en-US" sz="1000" dirty="0"/>
          </a:p>
        </p:txBody>
      </p:sp>
      <p:sp>
        <p:nvSpPr>
          <p:cNvPr id="7" name="Text 5"/>
          <p:cNvSpPr/>
          <p:nvPr/>
        </p:nvSpPr>
        <p:spPr>
          <a:xfrm>
            <a:off x="5486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Gap Analysis</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(TonniNova)</a:t>
            </a:r>
            <a:endParaRPr lang="en-US" sz="1100" dirty="0"/>
          </a:p>
        </p:txBody>
      </p:sp>
      <p:sp>
        <p:nvSpPr>
          <p:cNvPr id="8" name="Shape 6"/>
          <p:cNvSpPr/>
          <p:nvPr/>
        </p:nvSpPr>
        <p:spPr>
          <a:xfrm>
            <a:off x="2743200" y="2194560"/>
            <a:ext cx="640080" cy="640080"/>
          </a:xfrm>
          <a:prstGeom prst="ellipse">
            <a:avLst/>
          </a:prstGeom>
          <a:solidFill>
            <a:srgbClr val="0D9A76"/>
          </a:solidFill>
          <a:ln/>
        </p:spPr>
      </p:sp>
      <p:sp>
        <p:nvSpPr>
          <p:cNvPr id="9" name="Text 7"/>
          <p:cNvSpPr/>
          <p:nvPr/>
        </p:nvSpPr>
        <p:spPr>
          <a:xfrm>
            <a:off x="27432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24688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Q2-Q3 2025</a:t>
            </a:r>
            <a:endParaRPr lang="en-US" sz="1000" dirty="0"/>
          </a:p>
        </p:txBody>
      </p:sp>
      <p:sp>
        <p:nvSpPr>
          <p:cNvPr id="11" name="Text 9"/>
          <p:cNvSpPr/>
          <p:nvPr/>
        </p:nvSpPr>
        <p:spPr>
          <a:xfrm>
            <a:off x="23774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Documentacion</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SGSI</a:t>
            </a:r>
            <a:endParaRPr lang="en-US" sz="1100" dirty="0"/>
          </a:p>
        </p:txBody>
      </p:sp>
      <p:sp>
        <p:nvSpPr>
          <p:cNvPr id="12" name="Shape 10"/>
          <p:cNvSpPr/>
          <p:nvPr/>
        </p:nvSpPr>
        <p:spPr>
          <a:xfrm>
            <a:off x="4572000" y="2194560"/>
            <a:ext cx="640080" cy="640080"/>
          </a:xfrm>
          <a:prstGeom prst="ellipse">
            <a:avLst/>
          </a:prstGeom>
          <a:solidFill>
            <a:srgbClr val="0D9A76"/>
          </a:solidFill>
          <a:ln/>
        </p:spPr>
      </p:sp>
      <p:sp>
        <p:nvSpPr>
          <p:cNvPr id="13" name="Text 11"/>
          <p:cNvSpPr/>
          <p:nvPr/>
        </p:nvSpPr>
        <p:spPr>
          <a:xfrm>
            <a:off x="45720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42976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Nov 2025</a:t>
            </a:r>
            <a:endParaRPr lang="en-US" sz="1000" dirty="0"/>
          </a:p>
        </p:txBody>
      </p:sp>
      <p:sp>
        <p:nvSpPr>
          <p:cNvPr id="15" name="Text 13"/>
          <p:cNvSpPr/>
          <p:nvPr/>
        </p:nvSpPr>
        <p:spPr>
          <a:xfrm>
            <a:off x="42062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Auditoria</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Interna</a:t>
            </a:r>
            <a:endParaRPr lang="en-US" sz="1100" dirty="0"/>
          </a:p>
        </p:txBody>
      </p:sp>
      <p:sp>
        <p:nvSpPr>
          <p:cNvPr id="16" name="Shape 14"/>
          <p:cNvSpPr/>
          <p:nvPr/>
        </p:nvSpPr>
        <p:spPr>
          <a:xfrm>
            <a:off x="6400800" y="2194560"/>
            <a:ext cx="640080" cy="640080"/>
          </a:xfrm>
          <a:prstGeom prst="ellipse">
            <a:avLst/>
          </a:prstGeom>
          <a:solidFill>
            <a:srgbClr val="0D9A76"/>
          </a:solidFill>
          <a:ln/>
        </p:spPr>
      </p:sp>
      <p:sp>
        <p:nvSpPr>
          <p:cNvPr id="17" name="Text 15"/>
          <p:cNvSpPr/>
          <p:nvPr/>
        </p:nvSpPr>
        <p:spPr>
          <a:xfrm>
            <a:off x="64008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61264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2025-2026</a:t>
            </a:r>
            <a:endParaRPr lang="en-US" sz="1000" dirty="0"/>
          </a:p>
        </p:txBody>
      </p:sp>
      <p:sp>
        <p:nvSpPr>
          <p:cNvPr id="19" name="Text 17"/>
          <p:cNvSpPr/>
          <p:nvPr/>
        </p:nvSpPr>
        <p:spPr>
          <a:xfrm>
            <a:off x="60350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Certificacion</a:t>
            </a:r>
            <a:endParaRPr lang="en-US" sz="1100" dirty="0"/>
          </a:p>
        </p:txBody>
      </p:sp>
      <p:sp>
        <p:nvSpPr>
          <p:cNvPr id="20" name="Shape 18"/>
          <p:cNvSpPr/>
          <p:nvPr/>
        </p:nvSpPr>
        <p:spPr>
          <a:xfrm>
            <a:off x="8229600" y="2194560"/>
            <a:ext cx="640080" cy="640080"/>
          </a:xfrm>
          <a:prstGeom prst="ellipse">
            <a:avLst/>
          </a:prstGeom>
          <a:solidFill>
            <a:srgbClr val="0D9A76"/>
          </a:solidFill>
          <a:ln/>
        </p:spPr>
      </p:sp>
      <p:sp>
        <p:nvSpPr>
          <p:cNvPr id="21" name="Text 19"/>
          <p:cNvSpPr/>
          <p:nvPr/>
        </p:nvSpPr>
        <p:spPr>
          <a:xfrm>
            <a:off x="82296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79552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2026</a:t>
            </a:r>
            <a:endParaRPr lang="en-US" sz="1000" dirty="0"/>
          </a:p>
        </p:txBody>
      </p:sp>
      <p:sp>
        <p:nvSpPr>
          <p:cNvPr id="23" name="Text 21"/>
          <p:cNvSpPr/>
          <p:nvPr/>
        </p:nvSpPr>
        <p:spPr>
          <a:xfrm>
            <a:off x="78638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Mejora</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Continua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Los 10 Principios del ENS</a:t>
            </a:r>
            <a:endParaRPr lang="en-US" sz="2200" dirty="0"/>
          </a:p>
        </p:txBody>
      </p:sp>
      <p:sp>
        <p:nvSpPr>
          <p:cNvPr id="3" name="Shape 1"/>
          <p:cNvSpPr/>
          <p:nvPr/>
        </p:nvSpPr>
        <p:spPr>
          <a:xfrm>
            <a:off x="731520" y="1051560"/>
            <a:ext cx="365760" cy="365760"/>
          </a:xfrm>
          <a:prstGeom prst="ellipse">
            <a:avLst/>
          </a:prstGeom>
          <a:solidFill>
            <a:srgbClr val="0D9A76"/>
          </a:solidFill>
          <a:ln/>
        </p:spPr>
      </p:sp>
      <p:sp>
        <p:nvSpPr>
          <p:cNvPr id="4" name="Text 2"/>
          <p:cNvSpPr/>
          <p:nvPr/>
        </p:nvSpPr>
        <p:spPr>
          <a:xfrm>
            <a:off x="731520" y="1051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234440" y="100584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Seguridad integral</a:t>
            </a:r>
            <a:endParaRPr lang="en-US" sz="1300" dirty="0"/>
          </a:p>
        </p:txBody>
      </p:sp>
      <p:sp>
        <p:nvSpPr>
          <p:cNvPr id="6" name="Shape 4"/>
          <p:cNvSpPr/>
          <p:nvPr/>
        </p:nvSpPr>
        <p:spPr>
          <a:xfrm>
            <a:off x="731520" y="1691640"/>
            <a:ext cx="365760" cy="365760"/>
          </a:xfrm>
          <a:prstGeom prst="ellipse">
            <a:avLst/>
          </a:prstGeom>
          <a:solidFill>
            <a:srgbClr val="0D9A76"/>
          </a:solidFill>
          <a:ln/>
        </p:spPr>
      </p:sp>
      <p:sp>
        <p:nvSpPr>
          <p:cNvPr id="7" name="Text 5"/>
          <p:cNvSpPr/>
          <p:nvPr/>
        </p:nvSpPr>
        <p:spPr>
          <a:xfrm>
            <a:off x="731520" y="1691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234440" y="164592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Gestion de riesgos</a:t>
            </a:r>
            <a:endParaRPr lang="en-US" sz="1300" dirty="0"/>
          </a:p>
        </p:txBody>
      </p:sp>
      <p:sp>
        <p:nvSpPr>
          <p:cNvPr id="9" name="Shape 7"/>
          <p:cNvSpPr/>
          <p:nvPr/>
        </p:nvSpPr>
        <p:spPr>
          <a:xfrm>
            <a:off x="731520" y="2331720"/>
            <a:ext cx="365760" cy="365760"/>
          </a:xfrm>
          <a:prstGeom prst="ellipse">
            <a:avLst/>
          </a:prstGeom>
          <a:solidFill>
            <a:srgbClr val="0D9A76"/>
          </a:solidFill>
          <a:ln/>
        </p:spPr>
      </p:sp>
      <p:sp>
        <p:nvSpPr>
          <p:cNvPr id="10" name="Text 8"/>
          <p:cNvSpPr/>
          <p:nvPr/>
        </p:nvSpPr>
        <p:spPr>
          <a:xfrm>
            <a:off x="731520" y="2331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234440" y="228600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Prevencion, deteccion y respuesta</a:t>
            </a:r>
            <a:endParaRPr lang="en-US" sz="1300" dirty="0"/>
          </a:p>
        </p:txBody>
      </p:sp>
      <p:sp>
        <p:nvSpPr>
          <p:cNvPr id="12" name="Shape 10"/>
          <p:cNvSpPr/>
          <p:nvPr/>
        </p:nvSpPr>
        <p:spPr>
          <a:xfrm>
            <a:off x="731520" y="2971800"/>
            <a:ext cx="365760" cy="365760"/>
          </a:xfrm>
          <a:prstGeom prst="ellipse">
            <a:avLst/>
          </a:prstGeom>
          <a:solidFill>
            <a:srgbClr val="0D9A76"/>
          </a:solidFill>
          <a:ln/>
        </p:spPr>
      </p:sp>
      <p:sp>
        <p:nvSpPr>
          <p:cNvPr id="13" name="Text 11"/>
          <p:cNvSpPr/>
          <p:nvPr/>
        </p:nvSpPr>
        <p:spPr>
          <a:xfrm>
            <a:off x="731520" y="2971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234440" y="292608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Defensa en profundidad</a:t>
            </a:r>
            <a:endParaRPr lang="en-US" sz="1300" dirty="0"/>
          </a:p>
        </p:txBody>
      </p:sp>
      <p:sp>
        <p:nvSpPr>
          <p:cNvPr id="15" name="Shape 13"/>
          <p:cNvSpPr/>
          <p:nvPr/>
        </p:nvSpPr>
        <p:spPr>
          <a:xfrm>
            <a:off x="731520" y="3611880"/>
            <a:ext cx="365760" cy="365760"/>
          </a:xfrm>
          <a:prstGeom prst="ellipse">
            <a:avLst/>
          </a:prstGeom>
          <a:solidFill>
            <a:srgbClr val="0D9A76"/>
          </a:solidFill>
          <a:ln/>
        </p:spPr>
      </p:sp>
      <p:sp>
        <p:nvSpPr>
          <p:cNvPr id="16" name="Text 14"/>
          <p:cNvSpPr/>
          <p:nvPr/>
        </p:nvSpPr>
        <p:spPr>
          <a:xfrm>
            <a:off x="731520" y="3611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7" name="Text 15"/>
          <p:cNvSpPr/>
          <p:nvPr/>
        </p:nvSpPr>
        <p:spPr>
          <a:xfrm>
            <a:off x="1234440" y="356616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Vigilancia continua</a:t>
            </a:r>
            <a:endParaRPr lang="en-US" sz="1300" dirty="0"/>
          </a:p>
        </p:txBody>
      </p:sp>
      <p:sp>
        <p:nvSpPr>
          <p:cNvPr id="18" name="Shape 16"/>
          <p:cNvSpPr/>
          <p:nvPr/>
        </p:nvSpPr>
        <p:spPr>
          <a:xfrm>
            <a:off x="4754880" y="1051560"/>
            <a:ext cx="365760" cy="365760"/>
          </a:xfrm>
          <a:prstGeom prst="ellipse">
            <a:avLst/>
          </a:prstGeom>
          <a:solidFill>
            <a:srgbClr val="0D9A76"/>
          </a:solidFill>
          <a:ln/>
        </p:spPr>
      </p:sp>
      <p:sp>
        <p:nvSpPr>
          <p:cNvPr id="19" name="Text 17"/>
          <p:cNvSpPr/>
          <p:nvPr/>
        </p:nvSpPr>
        <p:spPr>
          <a:xfrm>
            <a:off x="4754880" y="1051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0" name="Text 18"/>
          <p:cNvSpPr/>
          <p:nvPr/>
        </p:nvSpPr>
        <p:spPr>
          <a:xfrm>
            <a:off x="5257800" y="100584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Diferenciacion de responsabilidades</a:t>
            </a:r>
            <a:endParaRPr lang="en-US" sz="1300" dirty="0"/>
          </a:p>
        </p:txBody>
      </p:sp>
      <p:sp>
        <p:nvSpPr>
          <p:cNvPr id="21" name="Shape 19"/>
          <p:cNvSpPr/>
          <p:nvPr/>
        </p:nvSpPr>
        <p:spPr>
          <a:xfrm>
            <a:off x="4754880" y="1691640"/>
            <a:ext cx="365760" cy="365760"/>
          </a:xfrm>
          <a:prstGeom prst="ellipse">
            <a:avLst/>
          </a:prstGeom>
          <a:solidFill>
            <a:srgbClr val="0D9A76"/>
          </a:solidFill>
          <a:ln/>
        </p:spPr>
      </p:sp>
      <p:sp>
        <p:nvSpPr>
          <p:cNvPr id="22" name="Text 20"/>
          <p:cNvSpPr/>
          <p:nvPr/>
        </p:nvSpPr>
        <p:spPr>
          <a:xfrm>
            <a:off x="4754880" y="1691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3" name="Text 21"/>
          <p:cNvSpPr/>
          <p:nvPr/>
        </p:nvSpPr>
        <p:spPr>
          <a:xfrm>
            <a:off x="5257800" y="164592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Proporcionalidad</a:t>
            </a:r>
            <a:endParaRPr lang="en-US" sz="1300" dirty="0"/>
          </a:p>
        </p:txBody>
      </p:sp>
      <p:sp>
        <p:nvSpPr>
          <p:cNvPr id="24" name="Shape 22"/>
          <p:cNvSpPr/>
          <p:nvPr/>
        </p:nvSpPr>
        <p:spPr>
          <a:xfrm>
            <a:off x="4754880" y="2331720"/>
            <a:ext cx="365760" cy="365760"/>
          </a:xfrm>
          <a:prstGeom prst="ellipse">
            <a:avLst/>
          </a:prstGeom>
          <a:solidFill>
            <a:srgbClr val="0D9A76"/>
          </a:solidFill>
          <a:ln/>
        </p:spPr>
      </p:sp>
      <p:sp>
        <p:nvSpPr>
          <p:cNvPr id="25" name="Text 23"/>
          <p:cNvSpPr/>
          <p:nvPr/>
        </p:nvSpPr>
        <p:spPr>
          <a:xfrm>
            <a:off x="4754880" y="2331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26" name="Text 24"/>
          <p:cNvSpPr/>
          <p:nvPr/>
        </p:nvSpPr>
        <p:spPr>
          <a:xfrm>
            <a:off x="5257800" y="228600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Transparencia</a:t>
            </a:r>
            <a:endParaRPr lang="en-US" sz="1300" dirty="0"/>
          </a:p>
        </p:txBody>
      </p:sp>
      <p:sp>
        <p:nvSpPr>
          <p:cNvPr id="27" name="Shape 25"/>
          <p:cNvSpPr/>
          <p:nvPr/>
        </p:nvSpPr>
        <p:spPr>
          <a:xfrm>
            <a:off x="4754880" y="2971800"/>
            <a:ext cx="365760" cy="365760"/>
          </a:xfrm>
          <a:prstGeom prst="ellipse">
            <a:avLst/>
          </a:prstGeom>
          <a:solidFill>
            <a:srgbClr val="0D9A76"/>
          </a:solidFill>
          <a:ln/>
        </p:spPr>
      </p:sp>
      <p:sp>
        <p:nvSpPr>
          <p:cNvPr id="28" name="Text 26"/>
          <p:cNvSpPr/>
          <p:nvPr/>
        </p:nvSpPr>
        <p:spPr>
          <a:xfrm>
            <a:off x="4754880" y="2971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29" name="Text 27"/>
          <p:cNvSpPr/>
          <p:nvPr/>
        </p:nvSpPr>
        <p:spPr>
          <a:xfrm>
            <a:off x="5257800" y="292608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Profesionalidad</a:t>
            </a:r>
            <a:endParaRPr lang="en-US" sz="1300" dirty="0"/>
          </a:p>
        </p:txBody>
      </p:sp>
      <p:sp>
        <p:nvSpPr>
          <p:cNvPr id="30" name="Shape 28"/>
          <p:cNvSpPr/>
          <p:nvPr/>
        </p:nvSpPr>
        <p:spPr>
          <a:xfrm>
            <a:off x="4754880" y="3611880"/>
            <a:ext cx="365760" cy="365760"/>
          </a:xfrm>
          <a:prstGeom prst="ellipse">
            <a:avLst/>
          </a:prstGeom>
          <a:solidFill>
            <a:srgbClr val="0D9A76"/>
          </a:solidFill>
          <a:ln/>
        </p:spPr>
      </p:sp>
      <p:sp>
        <p:nvSpPr>
          <p:cNvPr id="31" name="Text 29"/>
          <p:cNvSpPr/>
          <p:nvPr/>
        </p:nvSpPr>
        <p:spPr>
          <a:xfrm>
            <a:off x="4754880" y="3611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32" name="Text 30"/>
          <p:cNvSpPr/>
          <p:nvPr/>
        </p:nvSpPr>
        <p:spPr>
          <a:xfrm>
            <a:off x="5257800" y="356616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Mejora continua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Gobernanza — Quien es Quien?</a:t>
            </a:r>
            <a:endParaRPr lang="en-US" sz="2200" dirty="0"/>
          </a:p>
        </p:txBody>
      </p:sp>
      <p:sp>
        <p:nvSpPr>
          <p:cNvPr id="3" name="Shape 1"/>
          <p:cNvSpPr/>
          <p:nvPr/>
        </p:nvSpPr>
        <p:spPr>
          <a:xfrm>
            <a:off x="86868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1760220" y="1097280"/>
            <a:ext cx="502920" cy="502920"/>
          </a:xfrm>
          <a:prstGeom prst="ellipse">
            <a:avLst/>
          </a:prstGeom>
          <a:solidFill>
            <a:srgbClr val="0D9A76"/>
          </a:solidFill>
          <a:ln/>
        </p:spPr>
      </p:sp>
      <p:pic>
        <p:nvPicPr>
          <p:cNvPr id="5" name="Image 0" descr="preencoded.png">    </p:cNvPr>
          <p:cNvPicPr>
            <a:picLocks noChangeAspect="1"/>
          </p:cNvPicPr>
          <p:nvPr/>
        </p:nvPicPr>
        <p:blipFill>
          <a:blip r:embed="rId1"/>
          <a:stretch>
            <a:fillRect/>
          </a:stretch>
        </p:blipFill>
        <p:spPr>
          <a:xfrm>
            <a:off x="1874520" y="1216152"/>
            <a:ext cx="274320" cy="274320"/>
          </a:xfrm>
          <a:prstGeom prst="rect">
            <a:avLst/>
          </a:prstGeom>
        </p:spPr>
      </p:pic>
      <p:sp>
        <p:nvSpPr>
          <p:cNvPr id="6" name="Text 3"/>
          <p:cNvSpPr/>
          <p:nvPr/>
        </p:nvSpPr>
        <p:spPr>
          <a:xfrm>
            <a:off x="96012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CEO (DPT04)</a:t>
            </a:r>
            <a:endParaRPr lang="en-US" sz="1300" dirty="0"/>
          </a:p>
        </p:txBody>
      </p:sp>
      <p:sp>
        <p:nvSpPr>
          <p:cNvPr id="7" name="Text 4"/>
          <p:cNvSpPr/>
          <p:nvPr/>
        </p:nvSpPr>
        <p:spPr>
          <a:xfrm>
            <a:off x="96012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Responsable ultimo</a:t>
            </a:r>
            <a:endParaRPr lang="en-US" sz="1100" dirty="0"/>
          </a:p>
        </p:txBody>
      </p:sp>
      <p:sp>
        <p:nvSpPr>
          <p:cNvPr id="8" name="Shape 5"/>
          <p:cNvSpPr/>
          <p:nvPr/>
        </p:nvSpPr>
        <p:spPr>
          <a:xfrm>
            <a:off x="342900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9" name="Shape 6"/>
          <p:cNvSpPr/>
          <p:nvPr/>
        </p:nvSpPr>
        <p:spPr>
          <a:xfrm>
            <a:off x="4320540" y="1097280"/>
            <a:ext cx="502920" cy="502920"/>
          </a:xfrm>
          <a:prstGeom prst="ellipse">
            <a:avLst/>
          </a:prstGeom>
          <a:solidFill>
            <a:srgbClr val="0D9A76"/>
          </a:solidFill>
          <a:ln/>
        </p:spPr>
      </p:sp>
      <p:pic>
        <p:nvPicPr>
          <p:cNvPr id="10" name="Image 1" descr="preencoded.png">    </p:cNvPr>
          <p:cNvPicPr>
            <a:picLocks noChangeAspect="1"/>
          </p:cNvPicPr>
          <p:nvPr/>
        </p:nvPicPr>
        <p:blipFill>
          <a:blip r:embed="rId2"/>
          <a:stretch>
            <a:fillRect/>
          </a:stretch>
        </p:blipFill>
        <p:spPr>
          <a:xfrm>
            <a:off x="4434840" y="1216152"/>
            <a:ext cx="274320" cy="274320"/>
          </a:xfrm>
          <a:prstGeom prst="rect">
            <a:avLst/>
          </a:prstGeom>
        </p:spPr>
      </p:pic>
      <p:sp>
        <p:nvSpPr>
          <p:cNvPr id="11" name="Text 7"/>
          <p:cNvSpPr/>
          <p:nvPr/>
        </p:nvSpPr>
        <p:spPr>
          <a:xfrm>
            <a:off x="352044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CTO (DPT02)</a:t>
            </a:r>
            <a:endParaRPr lang="en-US" sz="1300" dirty="0"/>
          </a:p>
        </p:txBody>
      </p:sp>
      <p:sp>
        <p:nvSpPr>
          <p:cNvPr id="12" name="Text 8"/>
          <p:cNvSpPr/>
          <p:nvPr/>
        </p:nvSpPr>
        <p:spPr>
          <a:xfrm>
            <a:off x="352044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Implementacion tecnica</a:t>
            </a:r>
            <a:endParaRPr lang="en-US" sz="1100" dirty="0"/>
          </a:p>
        </p:txBody>
      </p:sp>
      <p:sp>
        <p:nvSpPr>
          <p:cNvPr id="13" name="Shape 9"/>
          <p:cNvSpPr/>
          <p:nvPr/>
        </p:nvSpPr>
        <p:spPr>
          <a:xfrm>
            <a:off x="598932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14" name="Shape 10"/>
          <p:cNvSpPr/>
          <p:nvPr/>
        </p:nvSpPr>
        <p:spPr>
          <a:xfrm>
            <a:off x="6880860" y="1097280"/>
            <a:ext cx="502920" cy="502920"/>
          </a:xfrm>
          <a:prstGeom prst="ellipse">
            <a:avLst/>
          </a:prstGeom>
          <a:solidFill>
            <a:srgbClr val="0D9A76"/>
          </a:solidFill>
          <a:ln/>
        </p:spPr>
      </p:sp>
      <p:pic>
        <p:nvPicPr>
          <p:cNvPr id="15" name="Image 2" descr="preencoded.png">    </p:cNvPr>
          <p:cNvPicPr>
            <a:picLocks noChangeAspect="1"/>
          </p:cNvPicPr>
          <p:nvPr/>
        </p:nvPicPr>
        <p:blipFill>
          <a:blip r:embed="rId3"/>
          <a:stretch>
            <a:fillRect/>
          </a:stretch>
        </p:blipFill>
        <p:spPr>
          <a:xfrm>
            <a:off x="6995160" y="1216152"/>
            <a:ext cx="274320" cy="274320"/>
          </a:xfrm>
          <a:prstGeom prst="rect">
            <a:avLst/>
          </a:prstGeom>
        </p:spPr>
      </p:pic>
      <p:sp>
        <p:nvSpPr>
          <p:cNvPr id="16" name="Text 11"/>
          <p:cNvSpPr/>
          <p:nvPr/>
        </p:nvSpPr>
        <p:spPr>
          <a:xfrm>
            <a:off x="608076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CISO (DPT01)</a:t>
            </a:r>
            <a:endParaRPr lang="en-US" sz="1300" dirty="0"/>
          </a:p>
        </p:txBody>
      </p:sp>
      <p:sp>
        <p:nvSpPr>
          <p:cNvPr id="17" name="Text 12"/>
          <p:cNvSpPr/>
          <p:nvPr/>
        </p:nvSpPr>
        <p:spPr>
          <a:xfrm>
            <a:off x="608076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Estrategia de seguridad</a:t>
            </a:r>
            <a:endParaRPr lang="en-US" sz="1100" dirty="0"/>
          </a:p>
        </p:txBody>
      </p:sp>
      <p:sp>
        <p:nvSpPr>
          <p:cNvPr id="18" name="Shape 13"/>
          <p:cNvSpPr/>
          <p:nvPr/>
        </p:nvSpPr>
        <p:spPr>
          <a:xfrm>
            <a:off x="2148840" y="292608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19" name="Shape 14"/>
          <p:cNvSpPr/>
          <p:nvPr/>
        </p:nvSpPr>
        <p:spPr>
          <a:xfrm>
            <a:off x="3040380" y="3108960"/>
            <a:ext cx="502920" cy="502920"/>
          </a:xfrm>
          <a:prstGeom prst="ellipse">
            <a:avLst/>
          </a:prstGeom>
          <a:solidFill>
            <a:srgbClr val="0D9A76"/>
          </a:solidFill>
          <a:ln/>
        </p:spPr>
      </p:sp>
      <p:pic>
        <p:nvPicPr>
          <p:cNvPr id="20" name="Image 3" descr="preencoded.png">    </p:cNvPr>
          <p:cNvPicPr>
            <a:picLocks noChangeAspect="1"/>
          </p:cNvPicPr>
          <p:nvPr/>
        </p:nvPicPr>
        <p:blipFill>
          <a:blip r:embed="rId4"/>
          <a:stretch>
            <a:fillRect/>
          </a:stretch>
        </p:blipFill>
        <p:spPr>
          <a:xfrm>
            <a:off x="3154680" y="3227832"/>
            <a:ext cx="274320" cy="274320"/>
          </a:xfrm>
          <a:prstGeom prst="rect">
            <a:avLst/>
          </a:prstGeom>
        </p:spPr>
      </p:pic>
      <p:sp>
        <p:nvSpPr>
          <p:cNvPr id="21" name="Text 15"/>
          <p:cNvSpPr/>
          <p:nvPr/>
        </p:nvSpPr>
        <p:spPr>
          <a:xfrm>
            <a:off x="2240280" y="370332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DPO (DPT03)</a:t>
            </a:r>
            <a:endParaRPr lang="en-US" sz="1300" dirty="0"/>
          </a:p>
        </p:txBody>
      </p:sp>
      <p:sp>
        <p:nvSpPr>
          <p:cNvPr id="22" name="Text 16"/>
          <p:cNvSpPr/>
          <p:nvPr/>
        </p:nvSpPr>
        <p:spPr>
          <a:xfrm>
            <a:off x="2240280" y="402336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Proteccion de datos</a:t>
            </a:r>
            <a:endParaRPr lang="en-US" sz="1100" dirty="0"/>
          </a:p>
        </p:txBody>
      </p:sp>
      <p:sp>
        <p:nvSpPr>
          <p:cNvPr id="23" name="Shape 17"/>
          <p:cNvSpPr/>
          <p:nvPr/>
        </p:nvSpPr>
        <p:spPr>
          <a:xfrm>
            <a:off x="4709160" y="292608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24" name="Shape 18"/>
          <p:cNvSpPr/>
          <p:nvPr/>
        </p:nvSpPr>
        <p:spPr>
          <a:xfrm>
            <a:off x="5600700" y="3108960"/>
            <a:ext cx="502920" cy="502920"/>
          </a:xfrm>
          <a:prstGeom prst="ellipse">
            <a:avLst/>
          </a:prstGeom>
          <a:solidFill>
            <a:srgbClr val="0D9A76"/>
          </a:solidFill>
          <a:ln/>
        </p:spPr>
      </p:sp>
      <p:pic>
        <p:nvPicPr>
          <p:cNvPr id="25" name="Image 4" descr="preencoded.png">    </p:cNvPr>
          <p:cNvPicPr>
            <a:picLocks noChangeAspect="1"/>
          </p:cNvPicPr>
          <p:nvPr/>
        </p:nvPicPr>
        <p:blipFill>
          <a:blip r:embed="rId5"/>
          <a:stretch>
            <a:fillRect/>
          </a:stretch>
        </p:blipFill>
        <p:spPr>
          <a:xfrm>
            <a:off x="5715000" y="3227832"/>
            <a:ext cx="274320" cy="274320"/>
          </a:xfrm>
          <a:prstGeom prst="rect">
            <a:avLst/>
          </a:prstGeom>
        </p:spPr>
      </p:pic>
      <p:sp>
        <p:nvSpPr>
          <p:cNvPr id="26" name="Text 19"/>
          <p:cNvSpPr/>
          <p:nvPr/>
        </p:nvSpPr>
        <p:spPr>
          <a:xfrm>
            <a:off x="4800600" y="370332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Auditor (DPT05)</a:t>
            </a:r>
            <a:endParaRPr lang="en-US" sz="1300" dirty="0"/>
          </a:p>
        </p:txBody>
      </p:sp>
      <p:sp>
        <p:nvSpPr>
          <p:cNvPr id="27" name="Text 20"/>
          <p:cNvSpPr/>
          <p:nvPr/>
        </p:nvSpPr>
        <p:spPr>
          <a:xfrm>
            <a:off x="4800600" y="402336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Verificacion independiente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Nuestra Infraestructura</a:t>
            </a:r>
            <a:endParaRPr lang="en-US" sz="2200" dirty="0"/>
          </a:p>
        </p:txBody>
      </p:sp>
      <p:sp>
        <p:nvSpPr>
          <p:cNvPr id="3" name="Shape 1"/>
          <p:cNvSpPr/>
          <p:nvPr/>
        </p:nvSpPr>
        <p:spPr>
          <a:xfrm>
            <a:off x="731520" y="100584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1005840"/>
            <a:ext cx="54864" cy="1463040"/>
          </a:xfrm>
          <a:prstGeom prst="rect">
            <a:avLst>
              <a:gd name="adj" fmla="val 50000"/>
            </a:avLst>
          </a:prstGeom>
          <a:solidFill>
            <a:srgbClr val="0D9A76"/>
          </a:solidFill>
          <a:ln/>
        </p:spPr>
      </p:sp>
      <p:pic>
        <p:nvPicPr>
          <p:cNvPr id="5" name="Image 0" descr="preencoded.png">    </p:cNvPr>
          <p:cNvPicPr>
            <a:picLocks noChangeAspect="1"/>
          </p:cNvPicPr>
          <p:nvPr/>
        </p:nvPicPr>
        <p:blipFill>
          <a:blip r:embed="rId1"/>
          <a:stretch>
            <a:fillRect/>
          </a:stretch>
        </p:blipFill>
        <p:spPr>
          <a:xfrm>
            <a:off x="1005840" y="1531620"/>
            <a:ext cx="411480" cy="411480"/>
          </a:xfrm>
          <a:prstGeom prst="rect">
            <a:avLst/>
          </a:prstGeom>
        </p:spPr>
      </p:pic>
      <p:sp>
        <p:nvSpPr>
          <p:cNvPr id="6" name="Text 3"/>
          <p:cNvSpPr/>
          <p:nvPr/>
        </p:nvSpPr>
        <p:spPr>
          <a:xfrm>
            <a:off x="1554480" y="123444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Microsoft Azure</a:t>
            </a:r>
            <a:endParaRPr lang="en-US" sz="1500" dirty="0"/>
          </a:p>
        </p:txBody>
      </p:sp>
      <p:sp>
        <p:nvSpPr>
          <p:cNvPr id="7" name="Text 4"/>
          <p:cNvSpPr/>
          <p:nvPr/>
        </p:nvSpPr>
        <p:spPr>
          <a:xfrm>
            <a:off x="1554480" y="164592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ENS Alto | ISO 27001</a:t>
            </a:r>
            <a:endParaRPr lang="en-US" sz="1200" dirty="0"/>
          </a:p>
        </p:txBody>
      </p:sp>
      <p:sp>
        <p:nvSpPr>
          <p:cNvPr id="8" name="Shape 5"/>
          <p:cNvSpPr/>
          <p:nvPr/>
        </p:nvSpPr>
        <p:spPr>
          <a:xfrm>
            <a:off x="4754880" y="100584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9" name="Shape 6"/>
          <p:cNvSpPr/>
          <p:nvPr/>
        </p:nvSpPr>
        <p:spPr>
          <a:xfrm>
            <a:off x="4754880" y="1005840"/>
            <a:ext cx="54864" cy="1463040"/>
          </a:xfrm>
          <a:prstGeom prst="rect">
            <a:avLst>
              <a:gd name="adj" fmla="val 50000"/>
            </a:avLst>
          </a:prstGeom>
          <a:solidFill>
            <a:srgbClr val="0D9A76"/>
          </a:solidFill>
          <a:ln/>
        </p:spPr>
      </p:sp>
      <p:pic>
        <p:nvPicPr>
          <p:cNvPr id="10" name="Image 1" descr="preencoded.png">    </p:cNvPr>
          <p:cNvPicPr>
            <a:picLocks noChangeAspect="1"/>
          </p:cNvPicPr>
          <p:nvPr/>
        </p:nvPicPr>
        <p:blipFill>
          <a:blip r:embed="rId2"/>
          <a:stretch>
            <a:fillRect/>
          </a:stretch>
        </p:blipFill>
        <p:spPr>
          <a:xfrm>
            <a:off x="5029200" y="1531620"/>
            <a:ext cx="411480" cy="411480"/>
          </a:xfrm>
          <a:prstGeom prst="rect">
            <a:avLst/>
          </a:prstGeom>
        </p:spPr>
      </p:pic>
      <p:sp>
        <p:nvSpPr>
          <p:cNvPr id="11" name="Text 7"/>
          <p:cNvSpPr/>
          <p:nvPr/>
        </p:nvSpPr>
        <p:spPr>
          <a:xfrm>
            <a:off x="5577840" y="123444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Google Cloud</a:t>
            </a:r>
            <a:endParaRPr lang="en-US" sz="1500" dirty="0"/>
          </a:p>
        </p:txBody>
      </p:sp>
      <p:sp>
        <p:nvSpPr>
          <p:cNvPr id="12" name="Text 8"/>
          <p:cNvSpPr/>
          <p:nvPr/>
        </p:nvSpPr>
        <p:spPr>
          <a:xfrm>
            <a:off x="5577840" y="164592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ENS Certificado</a:t>
            </a:r>
            <a:endParaRPr lang="en-US" sz="1200" dirty="0"/>
          </a:p>
        </p:txBody>
      </p:sp>
      <p:sp>
        <p:nvSpPr>
          <p:cNvPr id="13" name="Shape 9"/>
          <p:cNvSpPr/>
          <p:nvPr/>
        </p:nvSpPr>
        <p:spPr>
          <a:xfrm>
            <a:off x="731520" y="274320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14" name="Shape 10"/>
          <p:cNvSpPr/>
          <p:nvPr/>
        </p:nvSpPr>
        <p:spPr>
          <a:xfrm>
            <a:off x="731520" y="2743200"/>
            <a:ext cx="54864" cy="1463040"/>
          </a:xfrm>
          <a:prstGeom prst="rect">
            <a:avLst>
              <a:gd name="adj" fmla="val 50000"/>
            </a:avLst>
          </a:prstGeom>
          <a:solidFill>
            <a:srgbClr val="0D9A76"/>
          </a:solidFill>
          <a:ln/>
        </p:spPr>
      </p:sp>
      <p:pic>
        <p:nvPicPr>
          <p:cNvPr id="15" name="Image 2" descr="preencoded.png">    </p:cNvPr>
          <p:cNvPicPr>
            <a:picLocks noChangeAspect="1"/>
          </p:cNvPicPr>
          <p:nvPr/>
        </p:nvPicPr>
        <p:blipFill>
          <a:blip r:embed="rId3"/>
          <a:stretch>
            <a:fillRect/>
          </a:stretch>
        </p:blipFill>
        <p:spPr>
          <a:xfrm>
            <a:off x="1005840" y="3268980"/>
            <a:ext cx="411480" cy="411480"/>
          </a:xfrm>
          <a:prstGeom prst="rect">
            <a:avLst/>
          </a:prstGeom>
        </p:spPr>
      </p:pic>
      <p:sp>
        <p:nvSpPr>
          <p:cNvPr id="16" name="Text 11"/>
          <p:cNvSpPr/>
          <p:nvPr/>
        </p:nvSpPr>
        <p:spPr>
          <a:xfrm>
            <a:off x="1554480" y="297180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Azure DevOps</a:t>
            </a:r>
            <a:endParaRPr lang="en-US" sz="1500" dirty="0"/>
          </a:p>
        </p:txBody>
      </p:sp>
      <p:sp>
        <p:nvSpPr>
          <p:cNvPr id="17" name="Text 12"/>
          <p:cNvSpPr/>
          <p:nvPr/>
        </p:nvSpPr>
        <p:spPr>
          <a:xfrm>
            <a:off x="1554480" y="338328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ISO 27001</a:t>
            </a:r>
            <a:endParaRPr lang="en-US" sz="1200" dirty="0"/>
          </a:p>
        </p:txBody>
      </p:sp>
      <p:sp>
        <p:nvSpPr>
          <p:cNvPr id="18" name="Shape 13"/>
          <p:cNvSpPr/>
          <p:nvPr/>
        </p:nvSpPr>
        <p:spPr>
          <a:xfrm>
            <a:off x="4754880" y="274320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19" name="Shape 14"/>
          <p:cNvSpPr/>
          <p:nvPr/>
        </p:nvSpPr>
        <p:spPr>
          <a:xfrm>
            <a:off x="4754880" y="2743200"/>
            <a:ext cx="54864" cy="1463040"/>
          </a:xfrm>
          <a:prstGeom prst="rect">
            <a:avLst>
              <a:gd name="adj" fmla="val 50000"/>
            </a:avLst>
          </a:prstGeom>
          <a:solidFill>
            <a:srgbClr val="0D9A76"/>
          </a:solidFill>
          <a:ln/>
        </p:spPr>
      </p:sp>
      <p:pic>
        <p:nvPicPr>
          <p:cNvPr id="20" name="Image 3" descr="preencoded.png">    </p:cNvPr>
          <p:cNvPicPr>
            <a:picLocks noChangeAspect="1"/>
          </p:cNvPicPr>
          <p:nvPr/>
        </p:nvPicPr>
        <p:blipFill>
          <a:blip r:embed="rId4"/>
          <a:stretch>
            <a:fillRect/>
          </a:stretch>
        </p:blipFill>
        <p:spPr>
          <a:xfrm>
            <a:off x="5029200" y="3268980"/>
            <a:ext cx="411480" cy="411480"/>
          </a:xfrm>
          <a:prstGeom prst="rect">
            <a:avLst/>
          </a:prstGeom>
        </p:spPr>
      </p:pic>
      <p:sp>
        <p:nvSpPr>
          <p:cNvPr id="21" name="Text 15"/>
          <p:cNvSpPr/>
          <p:nvPr/>
        </p:nvSpPr>
        <p:spPr>
          <a:xfrm>
            <a:off x="5577840" y="297180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Atlassian (Jira + Confluence)</a:t>
            </a:r>
            <a:endParaRPr lang="en-US" sz="1500" dirty="0"/>
          </a:p>
        </p:txBody>
      </p:sp>
      <p:sp>
        <p:nvSpPr>
          <p:cNvPr id="22" name="Text 16"/>
          <p:cNvSpPr/>
          <p:nvPr/>
        </p:nvSpPr>
        <p:spPr>
          <a:xfrm>
            <a:off x="5577840" y="338328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Gestion de proyectos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Politicas Clave</a:t>
            </a:r>
            <a:endParaRPr lang="en-US" sz="2200" dirty="0"/>
          </a:p>
        </p:txBody>
      </p:sp>
      <p:sp>
        <p:nvSpPr>
          <p:cNvPr id="3" name="Shape 1"/>
          <p:cNvSpPr/>
          <p:nvPr/>
        </p:nvSpPr>
        <p:spPr>
          <a:xfrm>
            <a:off x="731520" y="91440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914400"/>
            <a:ext cx="54864" cy="1280160"/>
          </a:xfrm>
          <a:prstGeom prst="rect">
            <a:avLst>
              <a:gd name="adj" fmla="val 50000"/>
            </a:avLst>
          </a:prstGeom>
          <a:solidFill>
            <a:srgbClr val="0D9A76"/>
          </a:solidFill>
          <a:ln/>
        </p:spPr>
      </p:sp>
      <p:sp>
        <p:nvSpPr>
          <p:cNvPr id="5" name="Shape 3"/>
          <p:cNvSpPr/>
          <p:nvPr/>
        </p:nvSpPr>
        <p:spPr>
          <a:xfrm>
            <a:off x="914400" y="1097280"/>
            <a:ext cx="548640" cy="320040"/>
          </a:xfrm>
          <a:prstGeom prst="roundRect">
            <a:avLst>
              <a:gd name="adj" fmla="val 14286"/>
            </a:avLst>
          </a:prstGeom>
          <a:solidFill>
            <a:srgbClr val="0D9A76"/>
          </a:solidFill>
          <a:ln/>
        </p:spPr>
      </p:sp>
      <p:sp>
        <p:nvSpPr>
          <p:cNvPr id="6" name="Text 4"/>
          <p:cNvSpPr/>
          <p:nvPr/>
        </p:nvSpPr>
        <p:spPr>
          <a:xfrm>
            <a:off x="914400" y="109728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D01</a:t>
            </a:r>
            <a:endParaRPr lang="en-US" sz="1100" dirty="0"/>
          </a:p>
        </p:txBody>
      </p:sp>
      <p:sp>
        <p:nvSpPr>
          <p:cNvPr id="7" name="Text 5"/>
          <p:cNvSpPr/>
          <p:nvPr/>
        </p:nvSpPr>
        <p:spPr>
          <a:xfrm>
            <a:off x="1600200" y="105156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Politica de Seguridad</a:t>
            </a:r>
            <a:endParaRPr lang="en-US" sz="1400" dirty="0"/>
          </a:p>
        </p:txBody>
      </p:sp>
      <p:sp>
        <p:nvSpPr>
          <p:cNvPr id="8" name="Text 6"/>
          <p:cNvSpPr/>
          <p:nvPr/>
        </p:nvSpPr>
        <p:spPr>
          <a:xfrm>
            <a:off x="914400" y="150876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Marco general de seguridad de la informacion. Define objetivos y compromisos.</a:t>
            </a:r>
            <a:endParaRPr lang="en-US" sz="1100" dirty="0"/>
          </a:p>
        </p:txBody>
      </p:sp>
      <p:sp>
        <p:nvSpPr>
          <p:cNvPr id="9" name="Shape 7"/>
          <p:cNvSpPr/>
          <p:nvPr/>
        </p:nvSpPr>
        <p:spPr>
          <a:xfrm>
            <a:off x="4754880" y="91440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914400"/>
            <a:ext cx="54864" cy="1280160"/>
          </a:xfrm>
          <a:prstGeom prst="rect">
            <a:avLst>
              <a:gd name="adj" fmla="val 50000"/>
            </a:avLst>
          </a:prstGeom>
          <a:solidFill>
            <a:srgbClr val="0D9A76"/>
          </a:solidFill>
          <a:ln/>
        </p:spPr>
      </p:sp>
      <p:sp>
        <p:nvSpPr>
          <p:cNvPr id="11" name="Shape 9"/>
          <p:cNvSpPr/>
          <p:nvPr/>
        </p:nvSpPr>
        <p:spPr>
          <a:xfrm>
            <a:off x="4937760" y="1097280"/>
            <a:ext cx="548640" cy="320040"/>
          </a:xfrm>
          <a:prstGeom prst="roundRect">
            <a:avLst>
              <a:gd name="adj" fmla="val 14286"/>
            </a:avLst>
          </a:prstGeom>
          <a:solidFill>
            <a:srgbClr val="0D9A76"/>
          </a:solidFill>
          <a:ln/>
        </p:spPr>
      </p:sp>
      <p:sp>
        <p:nvSpPr>
          <p:cNvPr id="12" name="Text 10"/>
          <p:cNvSpPr/>
          <p:nvPr/>
        </p:nvSpPr>
        <p:spPr>
          <a:xfrm>
            <a:off x="4937760" y="109728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D02</a:t>
            </a:r>
            <a:endParaRPr lang="en-US" sz="1100" dirty="0"/>
          </a:p>
        </p:txBody>
      </p:sp>
      <p:sp>
        <p:nvSpPr>
          <p:cNvPr id="13" name="Text 11"/>
          <p:cNvSpPr/>
          <p:nvPr/>
        </p:nvSpPr>
        <p:spPr>
          <a:xfrm>
            <a:off x="5623560" y="105156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Clasificacion de la Informacion</a:t>
            </a:r>
            <a:endParaRPr lang="en-US" sz="1400" dirty="0"/>
          </a:p>
        </p:txBody>
      </p:sp>
      <p:sp>
        <p:nvSpPr>
          <p:cNvPr id="14" name="Text 12"/>
          <p:cNvSpPr/>
          <p:nvPr/>
        </p:nvSpPr>
        <p:spPr>
          <a:xfrm>
            <a:off x="4937760" y="150876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Criterios para clasificar y proteger la informacion segun su sensibilidad.</a:t>
            </a:r>
            <a:endParaRPr lang="en-US" sz="1100" dirty="0"/>
          </a:p>
        </p:txBody>
      </p:sp>
      <p:sp>
        <p:nvSpPr>
          <p:cNvPr id="15" name="Shape 13"/>
          <p:cNvSpPr/>
          <p:nvPr/>
        </p:nvSpPr>
        <p:spPr>
          <a:xfrm>
            <a:off x="731520" y="242316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731520" y="2423160"/>
            <a:ext cx="54864" cy="1280160"/>
          </a:xfrm>
          <a:prstGeom prst="rect">
            <a:avLst>
              <a:gd name="adj" fmla="val 50000"/>
            </a:avLst>
          </a:prstGeom>
          <a:solidFill>
            <a:srgbClr val="0D9A76"/>
          </a:solidFill>
          <a:ln/>
        </p:spPr>
      </p:sp>
      <p:sp>
        <p:nvSpPr>
          <p:cNvPr id="17" name="Shape 15"/>
          <p:cNvSpPr/>
          <p:nvPr/>
        </p:nvSpPr>
        <p:spPr>
          <a:xfrm>
            <a:off x="914400" y="2606040"/>
            <a:ext cx="548640" cy="320040"/>
          </a:xfrm>
          <a:prstGeom prst="roundRect">
            <a:avLst>
              <a:gd name="adj" fmla="val 14286"/>
            </a:avLst>
          </a:prstGeom>
          <a:solidFill>
            <a:srgbClr val="0D9A76"/>
          </a:solidFill>
          <a:ln/>
        </p:spPr>
      </p:sp>
      <p:sp>
        <p:nvSpPr>
          <p:cNvPr id="18" name="Text 16"/>
          <p:cNvSpPr/>
          <p:nvPr/>
        </p:nvSpPr>
        <p:spPr>
          <a:xfrm>
            <a:off x="914400" y="260604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D03</a:t>
            </a:r>
            <a:endParaRPr lang="en-US" sz="1100" dirty="0"/>
          </a:p>
        </p:txBody>
      </p:sp>
      <p:sp>
        <p:nvSpPr>
          <p:cNvPr id="19" name="Text 17"/>
          <p:cNvSpPr/>
          <p:nvPr/>
        </p:nvSpPr>
        <p:spPr>
          <a:xfrm>
            <a:off x="1600200" y="256032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Directrices de Seguridad</a:t>
            </a:r>
            <a:endParaRPr lang="en-US" sz="1400" dirty="0"/>
          </a:p>
        </p:txBody>
      </p:sp>
      <p:sp>
        <p:nvSpPr>
          <p:cNvPr id="20" name="Text 18"/>
          <p:cNvSpPr/>
          <p:nvPr/>
        </p:nvSpPr>
        <p:spPr>
          <a:xfrm>
            <a:off x="914400" y="301752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Normas tecnicas y organizativas que todo empleado debe seguir.</a:t>
            </a:r>
            <a:endParaRPr lang="en-US" sz="1100" dirty="0"/>
          </a:p>
        </p:txBody>
      </p:sp>
      <p:sp>
        <p:nvSpPr>
          <p:cNvPr id="21" name="Shape 19"/>
          <p:cNvSpPr/>
          <p:nvPr/>
        </p:nvSpPr>
        <p:spPr>
          <a:xfrm>
            <a:off x="4754880" y="242316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754880" y="2423160"/>
            <a:ext cx="54864" cy="1280160"/>
          </a:xfrm>
          <a:prstGeom prst="rect">
            <a:avLst>
              <a:gd name="adj" fmla="val 50000"/>
            </a:avLst>
          </a:prstGeom>
          <a:solidFill>
            <a:srgbClr val="0D9A76"/>
          </a:solidFill>
          <a:ln/>
        </p:spPr>
      </p:sp>
      <p:sp>
        <p:nvSpPr>
          <p:cNvPr id="23" name="Shape 21"/>
          <p:cNvSpPr/>
          <p:nvPr/>
        </p:nvSpPr>
        <p:spPr>
          <a:xfrm>
            <a:off x="4937760" y="2606040"/>
            <a:ext cx="548640" cy="320040"/>
          </a:xfrm>
          <a:prstGeom prst="roundRect">
            <a:avLst>
              <a:gd name="adj" fmla="val 14286"/>
            </a:avLst>
          </a:prstGeom>
          <a:solidFill>
            <a:srgbClr val="0D9A76"/>
          </a:solidFill>
          <a:ln/>
        </p:spPr>
      </p:sp>
      <p:sp>
        <p:nvSpPr>
          <p:cNvPr id="24" name="Text 22"/>
          <p:cNvSpPr/>
          <p:nvPr/>
        </p:nvSpPr>
        <p:spPr>
          <a:xfrm>
            <a:off x="4937760" y="260604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D10</a:t>
            </a:r>
            <a:endParaRPr lang="en-US" sz="1100" dirty="0"/>
          </a:p>
        </p:txBody>
      </p:sp>
      <p:sp>
        <p:nvSpPr>
          <p:cNvPr id="25" name="Text 23"/>
          <p:cNvSpPr/>
          <p:nvPr/>
        </p:nvSpPr>
        <p:spPr>
          <a:xfrm>
            <a:off x="5623560" y="256032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Proteccion de Datos</a:t>
            </a:r>
            <a:endParaRPr lang="en-US" sz="1400" dirty="0"/>
          </a:p>
        </p:txBody>
      </p:sp>
      <p:sp>
        <p:nvSpPr>
          <p:cNvPr id="26" name="Text 24"/>
          <p:cNvSpPr/>
          <p:nvPr/>
        </p:nvSpPr>
        <p:spPr>
          <a:xfrm>
            <a:off x="4937760" y="301752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Cumplimiento del RGPD y normativa de proteccion de datos personales.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Normativa que te Afecta (I01)</a:t>
            </a:r>
            <a:endParaRPr lang="en-US" sz="2200" dirty="0"/>
          </a:p>
        </p:txBody>
      </p:sp>
      <p:sp>
        <p:nvSpPr>
          <p:cNvPr id="3" name="Shape 1"/>
          <p:cNvSpPr/>
          <p:nvPr/>
        </p:nvSpPr>
        <p:spPr>
          <a:xfrm>
            <a:off x="457200" y="914400"/>
            <a:ext cx="8229600" cy="530352"/>
          </a:xfrm>
          <a:prstGeom prst="rect">
            <a:avLst>
              <a:gd name="adj" fmla="val 6897"/>
            </a:avLst>
          </a:prstGeom>
          <a:solidFill>
            <a:srgbClr val="FFFFFF"/>
          </a:solidFill>
          <a:ln/>
        </p:spPr>
      </p:sp>
      <p:pic>
        <p:nvPicPr>
          <p:cNvPr id="4" name="Image 0" descr="preencoded.png">    </p:cNvPr>
          <p:cNvPicPr>
            <a:picLocks noChangeAspect="1"/>
          </p:cNvPicPr>
          <p:nvPr/>
        </p:nvPicPr>
        <p:blipFill>
          <a:blip r:embed="rId1"/>
          <a:stretch>
            <a:fillRect/>
          </a:stretch>
        </p:blipFill>
        <p:spPr>
          <a:xfrm>
            <a:off x="640080" y="996696"/>
            <a:ext cx="320040" cy="320040"/>
          </a:xfrm>
          <a:prstGeom prst="rect">
            <a:avLst/>
          </a:prstGeom>
        </p:spPr>
      </p:pic>
      <p:sp>
        <p:nvSpPr>
          <p:cNvPr id="5" name="Text 2"/>
          <p:cNvSpPr/>
          <p:nvPr/>
        </p:nvSpPr>
        <p:spPr>
          <a:xfrm>
            <a:off x="1097280" y="914400"/>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Contrasenas: Min. 12 caracteres + MFA obligatorio</a:t>
            </a:r>
            <a:endParaRPr lang="en-US" sz="1200" dirty="0"/>
          </a:p>
        </p:txBody>
      </p:sp>
      <p:pic>
        <p:nvPicPr>
          <p:cNvPr id="6" name="Image 1" descr="preencoded.png">    </p:cNvPr>
          <p:cNvPicPr>
            <a:picLocks noChangeAspect="1"/>
          </p:cNvPicPr>
          <p:nvPr/>
        </p:nvPicPr>
        <p:blipFill>
          <a:blip r:embed="rId2"/>
          <a:stretch>
            <a:fillRect/>
          </a:stretch>
        </p:blipFill>
        <p:spPr>
          <a:xfrm>
            <a:off x="640080" y="1527048"/>
            <a:ext cx="320040" cy="320040"/>
          </a:xfrm>
          <a:prstGeom prst="rect">
            <a:avLst/>
          </a:prstGeom>
        </p:spPr>
      </p:pic>
      <p:sp>
        <p:nvSpPr>
          <p:cNvPr id="7" name="Text 3"/>
          <p:cNvSpPr/>
          <p:nvPr/>
        </p:nvSpPr>
        <p:spPr>
          <a:xfrm>
            <a:off x="1097280" y="1444752"/>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Correo: No abrir adjuntos sospechosos. Reportar phishing.</a:t>
            </a:r>
            <a:endParaRPr lang="en-US" sz="1200" dirty="0"/>
          </a:p>
        </p:txBody>
      </p:sp>
      <p:sp>
        <p:nvSpPr>
          <p:cNvPr id="8" name="Shape 4"/>
          <p:cNvSpPr/>
          <p:nvPr/>
        </p:nvSpPr>
        <p:spPr>
          <a:xfrm>
            <a:off x="457200" y="1975104"/>
            <a:ext cx="8229600" cy="530352"/>
          </a:xfrm>
          <a:prstGeom prst="rect">
            <a:avLst>
              <a:gd name="adj" fmla="val 6897"/>
            </a:avLst>
          </a:prstGeom>
          <a:solidFill>
            <a:srgbClr val="FFFFFF"/>
          </a:solidFill>
          <a:ln/>
        </p:spPr>
      </p:sp>
      <p:pic>
        <p:nvPicPr>
          <p:cNvPr id="9" name="Image 2" descr="preencoded.png">    </p:cNvPr>
          <p:cNvPicPr>
            <a:picLocks noChangeAspect="1"/>
          </p:cNvPicPr>
          <p:nvPr/>
        </p:nvPicPr>
        <p:blipFill>
          <a:blip r:embed="rId3"/>
          <a:stretch>
            <a:fillRect/>
          </a:stretch>
        </p:blipFill>
        <p:spPr>
          <a:xfrm>
            <a:off x="640080" y="2057400"/>
            <a:ext cx="320040" cy="320040"/>
          </a:xfrm>
          <a:prstGeom prst="rect">
            <a:avLst/>
          </a:prstGeom>
        </p:spPr>
      </p:pic>
      <p:sp>
        <p:nvSpPr>
          <p:cNvPr id="10" name="Text 5"/>
          <p:cNvSpPr/>
          <p:nvPr/>
        </p:nvSpPr>
        <p:spPr>
          <a:xfrm>
            <a:off x="1097280" y="1975104"/>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Internet: Solo uso profesional. Sin software no autorizado.</a:t>
            </a:r>
            <a:endParaRPr lang="en-US" sz="1200" dirty="0"/>
          </a:p>
        </p:txBody>
      </p:sp>
      <p:pic>
        <p:nvPicPr>
          <p:cNvPr id="11" name="Image 3" descr="preencoded.png">    </p:cNvPr>
          <p:cNvPicPr>
            <a:picLocks noChangeAspect="1"/>
          </p:cNvPicPr>
          <p:nvPr/>
        </p:nvPicPr>
        <p:blipFill>
          <a:blip r:embed="rId4"/>
          <a:stretch>
            <a:fillRect/>
          </a:stretch>
        </p:blipFill>
        <p:spPr>
          <a:xfrm>
            <a:off x="640080" y="2587752"/>
            <a:ext cx="320040" cy="320040"/>
          </a:xfrm>
          <a:prstGeom prst="rect">
            <a:avLst/>
          </a:prstGeom>
        </p:spPr>
      </p:pic>
      <p:sp>
        <p:nvSpPr>
          <p:cNvPr id="12" name="Text 6"/>
          <p:cNvSpPr/>
          <p:nvPr/>
        </p:nvSpPr>
        <p:spPr>
          <a:xfrm>
            <a:off x="1097280" y="2505456"/>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Moviles: Cifrado + PIN/biometria obligatorios.</a:t>
            </a:r>
            <a:endParaRPr lang="en-US" sz="1200" dirty="0"/>
          </a:p>
        </p:txBody>
      </p:sp>
      <p:sp>
        <p:nvSpPr>
          <p:cNvPr id="13" name="Shape 7"/>
          <p:cNvSpPr/>
          <p:nvPr/>
        </p:nvSpPr>
        <p:spPr>
          <a:xfrm>
            <a:off x="457200" y="3035808"/>
            <a:ext cx="8229600" cy="530352"/>
          </a:xfrm>
          <a:prstGeom prst="rect">
            <a:avLst>
              <a:gd name="adj" fmla="val 6897"/>
            </a:avLst>
          </a:prstGeom>
          <a:solidFill>
            <a:srgbClr val="FFFFFF"/>
          </a:solidFill>
          <a:ln/>
        </p:spPr>
      </p:sp>
      <p:pic>
        <p:nvPicPr>
          <p:cNvPr id="14" name="Image 4" descr="preencoded.png">    </p:cNvPr>
          <p:cNvPicPr>
            <a:picLocks noChangeAspect="1"/>
          </p:cNvPicPr>
          <p:nvPr/>
        </p:nvPicPr>
        <p:blipFill>
          <a:blip r:embed="rId5"/>
          <a:stretch>
            <a:fillRect/>
          </a:stretch>
        </p:blipFill>
        <p:spPr>
          <a:xfrm>
            <a:off x="640080" y="3118104"/>
            <a:ext cx="320040" cy="320040"/>
          </a:xfrm>
          <a:prstGeom prst="rect">
            <a:avLst/>
          </a:prstGeom>
        </p:spPr>
      </p:pic>
      <p:sp>
        <p:nvSpPr>
          <p:cNvPr id="15" name="Text 8"/>
          <p:cNvSpPr/>
          <p:nvPr/>
        </p:nvSpPr>
        <p:spPr>
          <a:xfrm>
            <a:off x="1097280" y="3035808"/>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Teletrabajo: VPN siempre. Sin WiFi publicas.</a:t>
            </a:r>
            <a:endParaRPr lang="en-US" sz="1200" dirty="0"/>
          </a:p>
        </p:txBody>
      </p:sp>
      <p:pic>
        <p:nvPicPr>
          <p:cNvPr id="16" name="Image 5" descr="preencoded.png">    </p:cNvPr>
          <p:cNvPicPr>
            <a:picLocks noChangeAspect="1"/>
          </p:cNvPicPr>
          <p:nvPr/>
        </p:nvPicPr>
        <p:blipFill>
          <a:blip r:embed="rId6"/>
          <a:stretch>
            <a:fillRect/>
          </a:stretch>
        </p:blipFill>
        <p:spPr>
          <a:xfrm>
            <a:off x="640080" y="3648456"/>
            <a:ext cx="320040" cy="320040"/>
          </a:xfrm>
          <a:prstGeom prst="rect">
            <a:avLst/>
          </a:prstGeom>
        </p:spPr>
      </p:pic>
      <p:sp>
        <p:nvSpPr>
          <p:cNvPr id="17" name="Text 9"/>
          <p:cNvSpPr/>
          <p:nvPr/>
        </p:nvSpPr>
        <p:spPr>
          <a:xfrm>
            <a:off x="1097280" y="3566160"/>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Puesto: Mesa limpia. Bloquear pantalla (Win+L / Cmd+Q).</a:t>
            </a:r>
            <a:endParaRPr lang="en-US" sz="1200" dirty="0"/>
          </a:p>
        </p:txBody>
      </p:sp>
      <p:sp>
        <p:nvSpPr>
          <p:cNvPr id="18" name="Shape 10"/>
          <p:cNvSpPr/>
          <p:nvPr/>
        </p:nvSpPr>
        <p:spPr>
          <a:xfrm>
            <a:off x="457200" y="4096512"/>
            <a:ext cx="8229600" cy="530352"/>
          </a:xfrm>
          <a:prstGeom prst="rect">
            <a:avLst>
              <a:gd name="adj" fmla="val 6897"/>
            </a:avLst>
          </a:prstGeom>
          <a:solidFill>
            <a:srgbClr val="FFFFFF"/>
          </a:solidFill>
          <a:ln/>
        </p:spPr>
      </p:sp>
      <p:pic>
        <p:nvPicPr>
          <p:cNvPr id="19" name="Image 6" descr="preencoded.png">    </p:cNvPr>
          <p:cNvPicPr>
            <a:picLocks noChangeAspect="1"/>
          </p:cNvPicPr>
          <p:nvPr/>
        </p:nvPicPr>
        <p:blipFill>
          <a:blip r:embed="rId7"/>
          <a:stretch>
            <a:fillRect/>
          </a:stretch>
        </p:blipFill>
        <p:spPr>
          <a:xfrm>
            <a:off x="640080" y="4178808"/>
            <a:ext cx="320040" cy="320040"/>
          </a:xfrm>
          <a:prstGeom prst="rect">
            <a:avLst/>
          </a:prstGeom>
        </p:spPr>
      </p:pic>
      <p:sp>
        <p:nvSpPr>
          <p:cNvPr id="20" name="Text 11"/>
          <p:cNvSpPr/>
          <p:nvPr/>
        </p:nvSpPr>
        <p:spPr>
          <a:xfrm>
            <a:off x="1097280" y="4096512"/>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BYOD: Requiere autorizacion formal (I05).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Procedimientos Operativos</a:t>
            </a:r>
            <a:endParaRPr lang="en-US" sz="2200" dirty="0"/>
          </a:p>
        </p:txBody>
      </p:sp>
      <p:sp>
        <p:nvSpPr>
          <p:cNvPr id="3" name="Shape 1"/>
          <p:cNvSpPr/>
          <p:nvPr/>
        </p:nvSpPr>
        <p:spPr>
          <a:xfrm>
            <a:off x="731520" y="91440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868680" y="1024128"/>
            <a:ext cx="502920" cy="320040"/>
          </a:xfrm>
          <a:prstGeom prst="roundRect">
            <a:avLst>
              <a:gd name="adj" fmla="val 14286"/>
            </a:avLst>
          </a:prstGeom>
          <a:solidFill>
            <a:srgbClr val="0D9A76"/>
          </a:solidFill>
          <a:ln/>
        </p:spPr>
      </p:sp>
      <p:sp>
        <p:nvSpPr>
          <p:cNvPr id="5" name="Text 3"/>
          <p:cNvSpPr/>
          <p:nvPr/>
        </p:nvSpPr>
        <p:spPr>
          <a:xfrm>
            <a:off x="868680" y="102412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P01</a:t>
            </a:r>
            <a:endParaRPr lang="en-US" sz="1100" dirty="0"/>
          </a:p>
        </p:txBody>
      </p:sp>
      <p:sp>
        <p:nvSpPr>
          <p:cNvPr id="6" name="Text 4"/>
          <p:cNvSpPr/>
          <p:nvPr/>
        </p:nvSpPr>
        <p:spPr>
          <a:xfrm>
            <a:off x="1508760" y="96012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Riesgos</a:t>
            </a:r>
            <a:endParaRPr lang="en-US" sz="1400" dirty="0"/>
          </a:p>
        </p:txBody>
      </p:sp>
      <p:sp>
        <p:nvSpPr>
          <p:cNvPr id="7" name="Text 5"/>
          <p:cNvSpPr/>
          <p:nvPr/>
        </p:nvSpPr>
        <p:spPr>
          <a:xfrm>
            <a:off x="1508760" y="123444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Identificacion y tratamiento de riesgos</a:t>
            </a:r>
            <a:endParaRPr lang="en-US" sz="1100" dirty="0"/>
          </a:p>
        </p:txBody>
      </p:sp>
      <p:sp>
        <p:nvSpPr>
          <p:cNvPr id="8" name="Shape 6"/>
          <p:cNvSpPr/>
          <p:nvPr/>
        </p:nvSpPr>
        <p:spPr>
          <a:xfrm>
            <a:off x="731520" y="164592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868680" y="1755648"/>
            <a:ext cx="502920" cy="320040"/>
          </a:xfrm>
          <a:prstGeom prst="roundRect">
            <a:avLst>
              <a:gd name="adj" fmla="val 14286"/>
            </a:avLst>
          </a:prstGeom>
          <a:solidFill>
            <a:srgbClr val="0D9A76"/>
          </a:solidFill>
          <a:ln/>
        </p:spPr>
      </p:sp>
      <p:sp>
        <p:nvSpPr>
          <p:cNvPr id="10" name="Text 8"/>
          <p:cNvSpPr/>
          <p:nvPr/>
        </p:nvSpPr>
        <p:spPr>
          <a:xfrm>
            <a:off x="868680" y="175564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P02</a:t>
            </a:r>
            <a:endParaRPr lang="en-US" sz="1100" dirty="0"/>
          </a:p>
        </p:txBody>
      </p:sp>
      <p:sp>
        <p:nvSpPr>
          <p:cNvPr id="11" name="Text 9"/>
          <p:cNvSpPr/>
          <p:nvPr/>
        </p:nvSpPr>
        <p:spPr>
          <a:xfrm>
            <a:off x="1508760" y="169164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Adquisicion TIC</a:t>
            </a:r>
            <a:endParaRPr lang="en-US" sz="1400" dirty="0"/>
          </a:p>
        </p:txBody>
      </p:sp>
      <p:sp>
        <p:nvSpPr>
          <p:cNvPr id="12" name="Text 10"/>
          <p:cNvSpPr/>
          <p:nvPr/>
        </p:nvSpPr>
        <p:spPr>
          <a:xfrm>
            <a:off x="1508760" y="196596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Evaluacion de proveedores y herramientas</a:t>
            </a:r>
            <a:endParaRPr lang="en-US" sz="1100" dirty="0"/>
          </a:p>
        </p:txBody>
      </p:sp>
      <p:sp>
        <p:nvSpPr>
          <p:cNvPr id="13" name="Shape 11"/>
          <p:cNvSpPr/>
          <p:nvPr/>
        </p:nvSpPr>
        <p:spPr>
          <a:xfrm>
            <a:off x="731520" y="237744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868680" y="2487168"/>
            <a:ext cx="502920" cy="320040"/>
          </a:xfrm>
          <a:prstGeom prst="roundRect">
            <a:avLst>
              <a:gd name="adj" fmla="val 14286"/>
            </a:avLst>
          </a:prstGeom>
          <a:solidFill>
            <a:srgbClr val="0D9A76"/>
          </a:solidFill>
          <a:ln/>
        </p:spPr>
      </p:sp>
      <p:sp>
        <p:nvSpPr>
          <p:cNvPr id="15" name="Text 13"/>
          <p:cNvSpPr/>
          <p:nvPr/>
        </p:nvSpPr>
        <p:spPr>
          <a:xfrm>
            <a:off x="868680" y="248716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P03</a:t>
            </a:r>
            <a:endParaRPr lang="en-US" sz="1100" dirty="0"/>
          </a:p>
        </p:txBody>
      </p:sp>
      <p:sp>
        <p:nvSpPr>
          <p:cNvPr id="16" name="Text 14"/>
          <p:cNvSpPr/>
          <p:nvPr/>
        </p:nvSpPr>
        <p:spPr>
          <a:xfrm>
            <a:off x="1508760" y="242316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Cambios</a:t>
            </a:r>
            <a:endParaRPr lang="en-US" sz="1400" dirty="0"/>
          </a:p>
        </p:txBody>
      </p:sp>
      <p:sp>
        <p:nvSpPr>
          <p:cNvPr id="17" name="Text 15"/>
          <p:cNvSpPr/>
          <p:nvPr/>
        </p:nvSpPr>
        <p:spPr>
          <a:xfrm>
            <a:off x="1508760" y="269748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Control formal de cambios en sistemas</a:t>
            </a:r>
            <a:endParaRPr lang="en-US" sz="1100" dirty="0"/>
          </a:p>
        </p:txBody>
      </p:sp>
      <p:sp>
        <p:nvSpPr>
          <p:cNvPr id="18" name="Shape 16"/>
          <p:cNvSpPr/>
          <p:nvPr/>
        </p:nvSpPr>
        <p:spPr>
          <a:xfrm>
            <a:off x="731520" y="310896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868680" y="3218688"/>
            <a:ext cx="502920" cy="320040"/>
          </a:xfrm>
          <a:prstGeom prst="roundRect">
            <a:avLst>
              <a:gd name="adj" fmla="val 14286"/>
            </a:avLst>
          </a:prstGeom>
          <a:solidFill>
            <a:srgbClr val="0D9A76"/>
          </a:solidFill>
          <a:ln/>
        </p:spPr>
      </p:sp>
      <p:sp>
        <p:nvSpPr>
          <p:cNvPr id="20" name="Text 18"/>
          <p:cNvSpPr/>
          <p:nvPr/>
        </p:nvSpPr>
        <p:spPr>
          <a:xfrm>
            <a:off x="868680" y="321868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P04</a:t>
            </a:r>
            <a:endParaRPr lang="en-US" sz="1100" dirty="0"/>
          </a:p>
        </p:txBody>
      </p:sp>
      <p:sp>
        <p:nvSpPr>
          <p:cNvPr id="21" name="Text 19"/>
          <p:cNvSpPr/>
          <p:nvPr/>
        </p:nvSpPr>
        <p:spPr>
          <a:xfrm>
            <a:off x="1508760" y="315468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Usuarios</a:t>
            </a:r>
            <a:endParaRPr lang="en-US" sz="1400" dirty="0"/>
          </a:p>
        </p:txBody>
      </p:sp>
      <p:sp>
        <p:nvSpPr>
          <p:cNvPr id="22" name="Text 20"/>
          <p:cNvSpPr/>
          <p:nvPr/>
        </p:nvSpPr>
        <p:spPr>
          <a:xfrm>
            <a:off x="1508760" y="342900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Altas, bajas y modificaciones de accesos</a:t>
            </a:r>
            <a:endParaRPr lang="en-US" sz="1100" dirty="0"/>
          </a:p>
        </p:txBody>
      </p:sp>
      <p:sp>
        <p:nvSpPr>
          <p:cNvPr id="23" name="Shape 21"/>
          <p:cNvSpPr/>
          <p:nvPr/>
        </p:nvSpPr>
        <p:spPr>
          <a:xfrm>
            <a:off x="731520" y="384048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868680" y="3950208"/>
            <a:ext cx="502920" cy="320040"/>
          </a:xfrm>
          <a:prstGeom prst="roundRect">
            <a:avLst>
              <a:gd name="adj" fmla="val 14286"/>
            </a:avLst>
          </a:prstGeom>
          <a:solidFill>
            <a:srgbClr val="0D9A76"/>
          </a:solidFill>
          <a:ln/>
        </p:spPr>
      </p:sp>
      <p:sp>
        <p:nvSpPr>
          <p:cNvPr id="25" name="Text 23"/>
          <p:cNvSpPr/>
          <p:nvPr/>
        </p:nvSpPr>
        <p:spPr>
          <a:xfrm>
            <a:off x="868680" y="395020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P05</a:t>
            </a:r>
            <a:endParaRPr lang="en-US" sz="1100" dirty="0"/>
          </a:p>
        </p:txBody>
      </p:sp>
      <p:sp>
        <p:nvSpPr>
          <p:cNvPr id="26" name="Text 24"/>
          <p:cNvSpPr/>
          <p:nvPr/>
        </p:nvSpPr>
        <p:spPr>
          <a:xfrm>
            <a:off x="1508760" y="388620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Incidentes</a:t>
            </a:r>
            <a:endParaRPr lang="en-US" sz="1400" dirty="0"/>
          </a:p>
        </p:txBody>
      </p:sp>
      <p:sp>
        <p:nvSpPr>
          <p:cNvPr id="27" name="Text 25"/>
          <p:cNvSpPr/>
          <p:nvPr/>
        </p:nvSpPr>
        <p:spPr>
          <a:xfrm>
            <a:off x="1508760" y="416052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Deteccion, respuesta y notificacion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82296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Desarrollo Seguro (mp.sw.1 / mp.sw.2)</a:t>
            </a:r>
            <a:endParaRPr lang="en-US" sz="2200" dirty="0"/>
          </a:p>
        </p:txBody>
      </p:sp>
      <p:sp>
        <p:nvSpPr>
          <p:cNvPr id="3" name="Shape 1"/>
          <p:cNvSpPr/>
          <p:nvPr/>
        </p:nvSpPr>
        <p:spPr>
          <a:xfrm>
            <a:off x="731520" y="10058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1005840"/>
            <a:ext cx="54864" cy="594360"/>
          </a:xfrm>
          <a:prstGeom prst="rect">
            <a:avLst>
              <a:gd name="adj" fmla="val 50000"/>
            </a:avLst>
          </a:prstGeom>
          <a:solidFill>
            <a:srgbClr val="0D9A76"/>
          </a:solidFill>
          <a:ln/>
        </p:spPr>
      </p:sp>
      <p:pic>
        <p:nvPicPr>
          <p:cNvPr id="5" name="Image 0" descr="preencoded.png">    </p:cNvPr>
          <p:cNvPicPr>
            <a:picLocks noChangeAspect="1"/>
          </p:cNvPicPr>
          <p:nvPr/>
        </p:nvPicPr>
        <p:blipFill>
          <a:blip r:embed="rId1"/>
          <a:stretch>
            <a:fillRect/>
          </a:stretch>
        </p:blipFill>
        <p:spPr>
          <a:xfrm>
            <a:off x="960120" y="1097280"/>
            <a:ext cx="320040" cy="320040"/>
          </a:xfrm>
          <a:prstGeom prst="rect">
            <a:avLst/>
          </a:prstGeom>
        </p:spPr>
      </p:pic>
      <p:sp>
        <p:nvSpPr>
          <p:cNvPr id="6" name="Text 3"/>
          <p:cNvSpPr/>
          <p:nvPr/>
        </p:nvSpPr>
        <p:spPr>
          <a:xfrm>
            <a:off x="1417320" y="10058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SDLC seguro: Seguridad integrada en cada fase del desarrollo</a:t>
            </a:r>
            <a:endParaRPr lang="en-US" sz="1300" dirty="0"/>
          </a:p>
        </p:txBody>
      </p:sp>
      <p:sp>
        <p:nvSpPr>
          <p:cNvPr id="7" name="Shape 4"/>
          <p:cNvSpPr/>
          <p:nvPr/>
        </p:nvSpPr>
        <p:spPr>
          <a:xfrm>
            <a:off x="731520" y="16916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8" name="Shape 5"/>
          <p:cNvSpPr/>
          <p:nvPr/>
        </p:nvSpPr>
        <p:spPr>
          <a:xfrm>
            <a:off x="731520" y="1691640"/>
            <a:ext cx="54864" cy="594360"/>
          </a:xfrm>
          <a:prstGeom prst="rect">
            <a:avLst>
              <a:gd name="adj" fmla="val 50000"/>
            </a:avLst>
          </a:prstGeom>
          <a:solidFill>
            <a:srgbClr val="0D9A76"/>
          </a:solidFill>
          <a:ln/>
        </p:spPr>
      </p:sp>
      <p:pic>
        <p:nvPicPr>
          <p:cNvPr id="9" name="Image 1" descr="preencoded.png">    </p:cNvPr>
          <p:cNvPicPr>
            <a:picLocks noChangeAspect="1"/>
          </p:cNvPicPr>
          <p:nvPr/>
        </p:nvPicPr>
        <p:blipFill>
          <a:blip r:embed="rId2"/>
          <a:stretch>
            <a:fillRect/>
          </a:stretch>
        </p:blipFill>
        <p:spPr>
          <a:xfrm>
            <a:off x="960120" y="1783080"/>
            <a:ext cx="320040" cy="320040"/>
          </a:xfrm>
          <a:prstGeom prst="rect">
            <a:avLst/>
          </a:prstGeom>
        </p:spPr>
      </p:pic>
      <p:sp>
        <p:nvSpPr>
          <p:cNvPr id="10" name="Text 6"/>
          <p:cNvSpPr/>
          <p:nvPr/>
        </p:nvSpPr>
        <p:spPr>
          <a:xfrm>
            <a:off x="1417320" y="16916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Revision de codigo obligatoria antes de cada despliegue</a:t>
            </a:r>
            <a:endParaRPr lang="en-US" sz="1300" dirty="0"/>
          </a:p>
        </p:txBody>
      </p:sp>
      <p:sp>
        <p:nvSpPr>
          <p:cNvPr id="11" name="Shape 7"/>
          <p:cNvSpPr/>
          <p:nvPr/>
        </p:nvSpPr>
        <p:spPr>
          <a:xfrm>
            <a:off x="731520" y="23774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12" name="Shape 8"/>
          <p:cNvSpPr/>
          <p:nvPr/>
        </p:nvSpPr>
        <p:spPr>
          <a:xfrm>
            <a:off x="731520" y="2377440"/>
            <a:ext cx="54864" cy="594360"/>
          </a:xfrm>
          <a:prstGeom prst="rect">
            <a:avLst>
              <a:gd name="adj" fmla="val 50000"/>
            </a:avLst>
          </a:prstGeom>
          <a:solidFill>
            <a:srgbClr val="0D9A76"/>
          </a:solidFill>
          <a:ln/>
        </p:spPr>
      </p:sp>
      <p:pic>
        <p:nvPicPr>
          <p:cNvPr id="13" name="Image 2" descr="preencoded.png">    </p:cNvPr>
          <p:cNvPicPr>
            <a:picLocks noChangeAspect="1"/>
          </p:cNvPicPr>
          <p:nvPr/>
        </p:nvPicPr>
        <p:blipFill>
          <a:blip r:embed="rId3"/>
          <a:stretch>
            <a:fillRect/>
          </a:stretch>
        </p:blipFill>
        <p:spPr>
          <a:xfrm>
            <a:off x="960120" y="2468880"/>
            <a:ext cx="320040" cy="320040"/>
          </a:xfrm>
          <a:prstGeom prst="rect">
            <a:avLst/>
          </a:prstGeom>
        </p:spPr>
      </p:pic>
      <p:sp>
        <p:nvSpPr>
          <p:cNvPr id="14" name="Text 9"/>
          <p:cNvSpPr/>
          <p:nvPr/>
        </p:nvSpPr>
        <p:spPr>
          <a:xfrm>
            <a:off x="1417320" y="23774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Pruebas de seguridad y analisis de vulnerabilidades</a:t>
            </a:r>
            <a:endParaRPr lang="en-US" sz="1300" dirty="0"/>
          </a:p>
        </p:txBody>
      </p:sp>
      <p:sp>
        <p:nvSpPr>
          <p:cNvPr id="15" name="Shape 10"/>
          <p:cNvSpPr/>
          <p:nvPr/>
        </p:nvSpPr>
        <p:spPr>
          <a:xfrm>
            <a:off x="731520" y="30632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16" name="Shape 11"/>
          <p:cNvSpPr/>
          <p:nvPr/>
        </p:nvSpPr>
        <p:spPr>
          <a:xfrm>
            <a:off x="731520" y="3063240"/>
            <a:ext cx="54864" cy="594360"/>
          </a:xfrm>
          <a:prstGeom prst="rect">
            <a:avLst>
              <a:gd name="adj" fmla="val 50000"/>
            </a:avLst>
          </a:prstGeom>
          <a:solidFill>
            <a:srgbClr val="0D9A76"/>
          </a:solidFill>
          <a:ln/>
        </p:spPr>
      </p:sp>
      <p:pic>
        <p:nvPicPr>
          <p:cNvPr id="17" name="Image 3" descr="preencoded.png">    </p:cNvPr>
          <p:cNvPicPr>
            <a:picLocks noChangeAspect="1"/>
          </p:cNvPicPr>
          <p:nvPr/>
        </p:nvPicPr>
        <p:blipFill>
          <a:blip r:embed="rId4"/>
          <a:stretch>
            <a:fillRect/>
          </a:stretch>
        </p:blipFill>
        <p:spPr>
          <a:xfrm>
            <a:off x="960120" y="3154680"/>
            <a:ext cx="320040" cy="320040"/>
          </a:xfrm>
          <a:prstGeom prst="rect">
            <a:avLst/>
          </a:prstGeom>
        </p:spPr>
      </p:pic>
      <p:sp>
        <p:nvSpPr>
          <p:cNvPr id="18" name="Text 12"/>
          <p:cNvSpPr/>
          <p:nvPr/>
        </p:nvSpPr>
        <p:spPr>
          <a:xfrm>
            <a:off x="1417320" y="30632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Control de versiones: Azure DevOps, ramas protegidas</a:t>
            </a:r>
            <a:endParaRPr lang="en-US" sz="1300" dirty="0"/>
          </a:p>
        </p:txBody>
      </p:sp>
      <p:sp>
        <p:nvSpPr>
          <p:cNvPr id="19" name="Shape 13"/>
          <p:cNvSpPr/>
          <p:nvPr/>
        </p:nvSpPr>
        <p:spPr>
          <a:xfrm>
            <a:off x="731520" y="37490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20" name="Shape 14"/>
          <p:cNvSpPr/>
          <p:nvPr/>
        </p:nvSpPr>
        <p:spPr>
          <a:xfrm>
            <a:off x="731520" y="3749040"/>
            <a:ext cx="54864" cy="594360"/>
          </a:xfrm>
          <a:prstGeom prst="rect">
            <a:avLst>
              <a:gd name="adj" fmla="val 50000"/>
            </a:avLst>
          </a:prstGeom>
          <a:solidFill>
            <a:srgbClr val="0D9A76"/>
          </a:solidFill>
          <a:ln/>
        </p:spPr>
      </p:sp>
      <p:pic>
        <p:nvPicPr>
          <p:cNvPr id="21" name="Image 4" descr="preencoded.png">    </p:cNvPr>
          <p:cNvPicPr>
            <a:picLocks noChangeAspect="1"/>
          </p:cNvPicPr>
          <p:nvPr/>
        </p:nvPicPr>
        <p:blipFill>
          <a:blip r:embed="rId5"/>
          <a:stretch>
            <a:fillRect/>
          </a:stretch>
        </p:blipFill>
        <p:spPr>
          <a:xfrm>
            <a:off x="960120" y="3840480"/>
            <a:ext cx="320040" cy="320040"/>
          </a:xfrm>
          <a:prstGeom prst="rect">
            <a:avLst/>
          </a:prstGeom>
        </p:spPr>
      </p:pic>
      <p:sp>
        <p:nvSpPr>
          <p:cNvPr id="22" name="Text 15"/>
          <p:cNvSpPr/>
          <p:nvPr/>
        </p:nvSpPr>
        <p:spPr>
          <a:xfrm>
            <a:off x="1417320" y="37490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Gestion de dependencias: actualizaciones prioritarias de seguridad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Clasificacion de la Informacion</a:t>
            </a:r>
            <a:endParaRPr lang="en-US" sz="2200" dirty="0"/>
          </a:p>
        </p:txBody>
      </p:sp>
      <p:sp>
        <p:nvSpPr>
          <p:cNvPr id="3" name="Shape 1"/>
          <p:cNvSpPr/>
          <p:nvPr/>
        </p:nvSpPr>
        <p:spPr>
          <a:xfrm>
            <a:off x="914400" y="109728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097280"/>
            <a:ext cx="73152" cy="731520"/>
          </a:xfrm>
          <a:prstGeom prst="rect">
            <a:avLst>
              <a:gd name="adj" fmla="val 37500"/>
            </a:avLst>
          </a:prstGeom>
          <a:solidFill>
            <a:srgbClr val="38A169"/>
          </a:solidFill>
          <a:ln/>
        </p:spPr>
      </p:sp>
      <p:sp>
        <p:nvSpPr>
          <p:cNvPr id="5" name="Shape 3"/>
          <p:cNvSpPr/>
          <p:nvPr/>
        </p:nvSpPr>
        <p:spPr>
          <a:xfrm>
            <a:off x="1188720" y="1348740"/>
            <a:ext cx="228600" cy="228600"/>
          </a:xfrm>
          <a:prstGeom prst="ellipse">
            <a:avLst/>
          </a:prstGeom>
          <a:solidFill>
            <a:srgbClr val="38A169"/>
          </a:solidFill>
          <a:ln/>
        </p:spPr>
      </p:sp>
      <p:sp>
        <p:nvSpPr>
          <p:cNvPr id="6" name="Text 4"/>
          <p:cNvSpPr/>
          <p:nvPr/>
        </p:nvSpPr>
        <p:spPr>
          <a:xfrm>
            <a:off x="1554480" y="114300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PUBLICO</a:t>
            </a:r>
            <a:endParaRPr lang="en-US" sz="1400" dirty="0"/>
          </a:p>
        </p:txBody>
      </p:sp>
      <p:sp>
        <p:nvSpPr>
          <p:cNvPr id="7" name="Text 5"/>
          <p:cNvSpPr/>
          <p:nvPr/>
        </p:nvSpPr>
        <p:spPr>
          <a:xfrm>
            <a:off x="3931920" y="114300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libre. Sin proteccion especial.</a:t>
            </a:r>
            <a:endParaRPr lang="en-US" sz="1200" dirty="0"/>
          </a:p>
        </p:txBody>
      </p:sp>
      <p:sp>
        <p:nvSpPr>
          <p:cNvPr id="8" name="Shape 6"/>
          <p:cNvSpPr/>
          <p:nvPr/>
        </p:nvSpPr>
        <p:spPr>
          <a:xfrm>
            <a:off x="914400" y="192024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914400" y="1920240"/>
            <a:ext cx="73152" cy="731520"/>
          </a:xfrm>
          <a:prstGeom prst="rect">
            <a:avLst>
              <a:gd name="adj" fmla="val 37500"/>
            </a:avLst>
          </a:prstGeom>
          <a:solidFill>
            <a:srgbClr val="2E74B5"/>
          </a:solidFill>
          <a:ln/>
        </p:spPr>
      </p:sp>
      <p:sp>
        <p:nvSpPr>
          <p:cNvPr id="10" name="Shape 8"/>
          <p:cNvSpPr/>
          <p:nvPr/>
        </p:nvSpPr>
        <p:spPr>
          <a:xfrm>
            <a:off x="1188720" y="2171700"/>
            <a:ext cx="228600" cy="228600"/>
          </a:xfrm>
          <a:prstGeom prst="ellipse">
            <a:avLst/>
          </a:prstGeom>
          <a:solidFill>
            <a:srgbClr val="2E74B5"/>
          </a:solidFill>
          <a:ln/>
        </p:spPr>
      </p:sp>
      <p:sp>
        <p:nvSpPr>
          <p:cNvPr id="11" name="Text 9"/>
          <p:cNvSpPr/>
          <p:nvPr/>
        </p:nvSpPr>
        <p:spPr>
          <a:xfrm>
            <a:off x="1554480" y="196596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USO INTERNO (por defecto)</a:t>
            </a:r>
            <a:endParaRPr lang="en-US" sz="1400" dirty="0"/>
          </a:p>
        </p:txBody>
      </p:sp>
      <p:sp>
        <p:nvSpPr>
          <p:cNvPr id="12" name="Text 10"/>
          <p:cNvSpPr/>
          <p:nvPr/>
        </p:nvSpPr>
        <p:spPr>
          <a:xfrm>
            <a:off x="3931920" y="196596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Solo empleados. Etiquetado en cabecera.</a:t>
            </a:r>
            <a:endParaRPr lang="en-US" sz="1200" dirty="0"/>
          </a:p>
        </p:txBody>
      </p:sp>
      <p:sp>
        <p:nvSpPr>
          <p:cNvPr id="13" name="Shape 11"/>
          <p:cNvSpPr/>
          <p:nvPr/>
        </p:nvSpPr>
        <p:spPr>
          <a:xfrm>
            <a:off x="914400" y="274320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914400" y="2743200"/>
            <a:ext cx="73152" cy="731520"/>
          </a:xfrm>
          <a:prstGeom prst="rect">
            <a:avLst>
              <a:gd name="adj" fmla="val 37500"/>
            </a:avLst>
          </a:prstGeom>
          <a:solidFill>
            <a:srgbClr val="DD6B20"/>
          </a:solidFill>
          <a:ln/>
        </p:spPr>
      </p:sp>
      <p:sp>
        <p:nvSpPr>
          <p:cNvPr id="15" name="Shape 13"/>
          <p:cNvSpPr/>
          <p:nvPr/>
        </p:nvSpPr>
        <p:spPr>
          <a:xfrm>
            <a:off x="1188720" y="2994660"/>
            <a:ext cx="228600" cy="228600"/>
          </a:xfrm>
          <a:prstGeom prst="ellipse">
            <a:avLst/>
          </a:prstGeom>
          <a:solidFill>
            <a:srgbClr val="DD6B20"/>
          </a:solidFill>
          <a:ln/>
        </p:spPr>
      </p:sp>
      <p:sp>
        <p:nvSpPr>
          <p:cNvPr id="16" name="Text 14"/>
          <p:cNvSpPr/>
          <p:nvPr/>
        </p:nvSpPr>
        <p:spPr>
          <a:xfrm>
            <a:off x="1554480" y="278892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CONFIDENCIAL</a:t>
            </a:r>
            <a:endParaRPr lang="en-US" sz="1400" dirty="0"/>
          </a:p>
        </p:txBody>
      </p:sp>
      <p:sp>
        <p:nvSpPr>
          <p:cNvPr id="17" name="Text 15"/>
          <p:cNvSpPr/>
          <p:nvPr/>
        </p:nvSpPr>
        <p:spPr>
          <a:xfrm>
            <a:off x="3931920" y="278892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restringido. Cifrado en transmision.</a:t>
            </a:r>
            <a:endParaRPr lang="en-US" sz="1200" dirty="0"/>
          </a:p>
        </p:txBody>
      </p:sp>
      <p:sp>
        <p:nvSpPr>
          <p:cNvPr id="18" name="Shape 16"/>
          <p:cNvSpPr/>
          <p:nvPr/>
        </p:nvSpPr>
        <p:spPr>
          <a:xfrm>
            <a:off x="914400" y="356616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914400" y="3566160"/>
            <a:ext cx="73152" cy="731520"/>
          </a:xfrm>
          <a:prstGeom prst="rect">
            <a:avLst>
              <a:gd name="adj" fmla="val 37500"/>
            </a:avLst>
          </a:prstGeom>
          <a:solidFill>
            <a:srgbClr val="E53E3E"/>
          </a:solidFill>
          <a:ln/>
        </p:spPr>
      </p:sp>
      <p:sp>
        <p:nvSpPr>
          <p:cNvPr id="20" name="Shape 18"/>
          <p:cNvSpPr/>
          <p:nvPr/>
        </p:nvSpPr>
        <p:spPr>
          <a:xfrm>
            <a:off x="1188720" y="3817620"/>
            <a:ext cx="228600" cy="228600"/>
          </a:xfrm>
          <a:prstGeom prst="ellipse">
            <a:avLst/>
          </a:prstGeom>
          <a:solidFill>
            <a:srgbClr val="E53E3E"/>
          </a:solidFill>
          <a:ln/>
        </p:spPr>
      </p:sp>
      <p:sp>
        <p:nvSpPr>
          <p:cNvPr id="21" name="Text 19"/>
          <p:cNvSpPr/>
          <p:nvPr/>
        </p:nvSpPr>
        <p:spPr>
          <a:xfrm>
            <a:off x="1554480" y="361188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SECRETO</a:t>
            </a:r>
            <a:endParaRPr lang="en-US" sz="1400" dirty="0"/>
          </a:p>
        </p:txBody>
      </p:sp>
      <p:sp>
        <p:nvSpPr>
          <p:cNvPr id="22" name="Text 20"/>
          <p:cNvSpPr/>
          <p:nvPr/>
        </p:nvSpPr>
        <p:spPr>
          <a:xfrm>
            <a:off x="3931920" y="361188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nominal. Cifrado obligatorio.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Proteccion de Datos (RGPD)</a:t>
            </a:r>
            <a:endParaRPr lang="en-US" sz="2200" dirty="0"/>
          </a:p>
        </p:txBody>
      </p:sp>
      <p:sp>
        <p:nvSpPr>
          <p:cNvPr id="3" name="Shape 1"/>
          <p:cNvSpPr/>
          <p:nvPr/>
        </p:nvSpPr>
        <p:spPr>
          <a:xfrm>
            <a:off x="64008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47472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Derechos de los interesados</a:t>
            </a:r>
            <a:endParaRPr lang="en-US" sz="1400" dirty="0"/>
          </a:p>
        </p:txBody>
      </p:sp>
      <p:sp>
        <p:nvSpPr>
          <p:cNvPr id="6" name="Text 4"/>
          <p:cNvSpPr/>
          <p:nvPr/>
        </p:nvSpPr>
        <p:spPr>
          <a:xfrm>
            <a:off x="822960" y="1463040"/>
            <a:ext cx="3291840" cy="27432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Acceso</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Rectificacion</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Supresion (derecho al olvido)</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Portabilidad</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Oposicion</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Limitacion del tratamiento</a:t>
            </a:r>
            <a:endParaRPr lang="en-US" sz="1200" dirty="0"/>
          </a:p>
        </p:txBody>
      </p:sp>
      <p:sp>
        <p:nvSpPr>
          <p:cNvPr id="7" name="Shape 5"/>
          <p:cNvSpPr/>
          <p:nvPr/>
        </p:nvSpPr>
        <p:spPr>
          <a:xfrm>
            <a:off x="484632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8" name="Shape 6"/>
          <p:cNvSpPr/>
          <p:nvPr/>
        </p:nvSpPr>
        <p:spPr>
          <a:xfrm>
            <a:off x="4846320" y="914400"/>
            <a:ext cx="54864" cy="3474720"/>
          </a:xfrm>
          <a:prstGeom prst="rect">
            <a:avLst>
              <a:gd name="adj" fmla="val 50000"/>
            </a:avLst>
          </a:prstGeom>
          <a:solidFill>
            <a:srgbClr val="0D9A76"/>
          </a:solidFill>
          <a:ln/>
        </p:spPr>
      </p:sp>
      <p:sp>
        <p:nvSpPr>
          <p:cNvPr id="9" name="Text 7"/>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Proceso ante brecha de datos</a:t>
            </a:r>
            <a:endParaRPr lang="en-US" sz="1400" dirty="0"/>
          </a:p>
        </p:txBody>
      </p:sp>
      <p:sp>
        <p:nvSpPr>
          <p:cNvPr id="10" name="Text 8"/>
          <p:cNvSpPr/>
          <p:nvPr/>
        </p:nvSpPr>
        <p:spPr>
          <a:xfrm>
            <a:off x="5029200" y="1463040"/>
            <a:ext cx="3291840" cy="2743200"/>
          </a:xfrm>
          <a:prstGeom prst="rect">
            <a:avLst/>
          </a:prstGeom>
          <a:noFill/>
          <a:ln/>
        </p:spPr>
        <p:txBody>
          <a:bodyPr wrap="square" lIns="0" tIns="0" rIns="0" bIns="0" rtlCol="0" anchor="ctr"/>
          <a:lstStyle/>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1. Detectar el incidente</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2. Notificar al DPO y al CISO</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3. Documentar los hechos</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4. Comunicar a la AEPD en 72h si procede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Que Hago Si...?</a:t>
            </a:r>
            <a:endParaRPr lang="en-US" sz="2200" dirty="0"/>
          </a:p>
        </p:txBody>
      </p:sp>
      <p:sp>
        <p:nvSpPr>
          <p:cNvPr id="3" name="Shape 1"/>
          <p:cNvSpPr/>
          <p:nvPr/>
        </p:nvSpPr>
        <p:spPr>
          <a:xfrm>
            <a:off x="640080" y="91440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3749040" cy="411480"/>
          </a:xfrm>
          <a:prstGeom prst="rect">
            <a:avLst/>
          </a:prstGeom>
          <a:solidFill>
            <a:srgbClr val="DD6B20"/>
          </a:solidFill>
          <a:ln/>
        </p:spPr>
      </p:sp>
      <p:sp>
        <p:nvSpPr>
          <p:cNvPr id="5" name="Shape 3"/>
          <p:cNvSpPr/>
          <p:nvPr/>
        </p:nvSpPr>
        <p:spPr>
          <a:xfrm>
            <a:off x="640080" y="914400"/>
            <a:ext cx="3749040" cy="457200"/>
          </a:xfrm>
          <a:prstGeom prst="roundRect">
            <a:avLst>
              <a:gd name="adj" fmla="val 16000"/>
            </a:avLst>
          </a:prstGeom>
          <a:solidFill>
            <a:srgbClr val="DD6B20"/>
          </a:solidFill>
          <a:ln/>
        </p:spPr>
      </p:sp>
      <p:sp>
        <p:nvSpPr>
          <p:cNvPr id="6" name="Shape 4"/>
          <p:cNvSpPr/>
          <p:nvPr/>
        </p:nvSpPr>
        <p:spPr>
          <a:xfrm>
            <a:off x="640080" y="1097280"/>
            <a:ext cx="3749040" cy="274320"/>
          </a:xfrm>
          <a:prstGeom prst="rect">
            <a:avLst/>
          </a:prstGeom>
          <a:solidFill>
            <a:srgbClr val="DD6B20"/>
          </a:solidFill>
          <a:ln/>
        </p:spPr>
      </p:sp>
      <p:pic>
        <p:nvPicPr>
          <p:cNvPr id="7" name="Image 0" descr="preencoded.png">    </p:cNvPr>
          <p:cNvPicPr>
            <a:picLocks noChangeAspect="1"/>
          </p:cNvPicPr>
          <p:nvPr/>
        </p:nvPicPr>
        <p:blipFill>
          <a:blip r:embed="rId1"/>
          <a:stretch>
            <a:fillRect/>
          </a:stretch>
        </p:blipFill>
        <p:spPr>
          <a:xfrm>
            <a:off x="777240" y="978408"/>
            <a:ext cx="274320" cy="274320"/>
          </a:xfrm>
          <a:prstGeom prst="rect">
            <a:avLst/>
          </a:prstGeom>
        </p:spPr>
      </p:pic>
      <p:sp>
        <p:nvSpPr>
          <p:cNvPr id="8" name="Text 5"/>
          <p:cNvSpPr/>
          <p:nvPr/>
        </p:nvSpPr>
        <p:spPr>
          <a:xfrm>
            <a:off x="1097280" y="93268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Email sospechoso</a:t>
            </a:r>
            <a:endParaRPr lang="en-US" sz="1300" dirty="0"/>
          </a:p>
        </p:txBody>
      </p:sp>
      <p:sp>
        <p:nvSpPr>
          <p:cNvPr id="9" name="Text 6"/>
          <p:cNvSpPr/>
          <p:nvPr/>
        </p:nvSpPr>
        <p:spPr>
          <a:xfrm>
            <a:off x="822960" y="146304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 clicar. Reportar al CISO.</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Marcar como spam.</a:t>
            </a:r>
            <a:endParaRPr lang="en-US" sz="1200" dirty="0"/>
          </a:p>
        </p:txBody>
      </p:sp>
      <p:sp>
        <p:nvSpPr>
          <p:cNvPr id="10" name="Shape 7"/>
          <p:cNvSpPr/>
          <p:nvPr/>
        </p:nvSpPr>
        <p:spPr>
          <a:xfrm>
            <a:off x="4754880" y="91440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11" name="Shape 8"/>
          <p:cNvSpPr/>
          <p:nvPr/>
        </p:nvSpPr>
        <p:spPr>
          <a:xfrm>
            <a:off x="4754880" y="914400"/>
            <a:ext cx="3749040" cy="411480"/>
          </a:xfrm>
          <a:prstGeom prst="rect">
            <a:avLst/>
          </a:prstGeom>
          <a:solidFill>
            <a:srgbClr val="E53E3E"/>
          </a:solidFill>
          <a:ln/>
        </p:spPr>
      </p:sp>
      <p:sp>
        <p:nvSpPr>
          <p:cNvPr id="12" name="Shape 9"/>
          <p:cNvSpPr/>
          <p:nvPr/>
        </p:nvSpPr>
        <p:spPr>
          <a:xfrm>
            <a:off x="4754880" y="914400"/>
            <a:ext cx="3749040" cy="457200"/>
          </a:xfrm>
          <a:prstGeom prst="roundRect">
            <a:avLst>
              <a:gd name="adj" fmla="val 16000"/>
            </a:avLst>
          </a:prstGeom>
          <a:solidFill>
            <a:srgbClr val="E53E3E"/>
          </a:solidFill>
          <a:ln/>
        </p:spPr>
      </p:sp>
      <p:sp>
        <p:nvSpPr>
          <p:cNvPr id="13" name="Shape 10"/>
          <p:cNvSpPr/>
          <p:nvPr/>
        </p:nvSpPr>
        <p:spPr>
          <a:xfrm>
            <a:off x="4754880" y="1097280"/>
            <a:ext cx="3749040" cy="274320"/>
          </a:xfrm>
          <a:prstGeom prst="rect">
            <a:avLst/>
          </a:prstGeom>
          <a:solidFill>
            <a:srgbClr val="E53E3E"/>
          </a:solidFill>
          <a:ln/>
        </p:spPr>
      </p:sp>
      <p:pic>
        <p:nvPicPr>
          <p:cNvPr id="14" name="Image 1" descr="preencoded.png">    </p:cNvPr>
          <p:cNvPicPr>
            <a:picLocks noChangeAspect="1"/>
          </p:cNvPicPr>
          <p:nvPr/>
        </p:nvPicPr>
        <p:blipFill>
          <a:blip r:embed="rId2"/>
          <a:stretch>
            <a:fillRect/>
          </a:stretch>
        </p:blipFill>
        <p:spPr>
          <a:xfrm>
            <a:off x="4892040" y="978408"/>
            <a:ext cx="274320" cy="274320"/>
          </a:xfrm>
          <a:prstGeom prst="rect">
            <a:avLst/>
          </a:prstGeom>
        </p:spPr>
      </p:pic>
      <p:sp>
        <p:nvSpPr>
          <p:cNvPr id="15" name="Text 11"/>
          <p:cNvSpPr/>
          <p:nvPr/>
        </p:nvSpPr>
        <p:spPr>
          <a:xfrm>
            <a:off x="5212080" y="93268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Dispositivo perdido/robado</a:t>
            </a:r>
            <a:endParaRPr lang="en-US" sz="1300" dirty="0"/>
          </a:p>
        </p:txBody>
      </p:sp>
      <p:sp>
        <p:nvSpPr>
          <p:cNvPr id="16" name="Text 12"/>
          <p:cNvSpPr/>
          <p:nvPr/>
        </p:nvSpPr>
        <p:spPr>
          <a:xfrm>
            <a:off x="4937760" y="146304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Notificar al CISO &lt;24h.</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Cambiar contrasenas.</a:t>
            </a:r>
            <a:endParaRPr lang="en-US" sz="1200" dirty="0"/>
          </a:p>
        </p:txBody>
      </p:sp>
      <p:sp>
        <p:nvSpPr>
          <p:cNvPr id="17" name="Shape 13"/>
          <p:cNvSpPr/>
          <p:nvPr/>
        </p:nvSpPr>
        <p:spPr>
          <a:xfrm>
            <a:off x="640080" y="310896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18" name="Shape 14"/>
          <p:cNvSpPr/>
          <p:nvPr/>
        </p:nvSpPr>
        <p:spPr>
          <a:xfrm>
            <a:off x="640080" y="3108960"/>
            <a:ext cx="3749040" cy="411480"/>
          </a:xfrm>
          <a:prstGeom prst="rect">
            <a:avLst/>
          </a:prstGeom>
          <a:solidFill>
            <a:srgbClr val="6B46C1"/>
          </a:solidFill>
          <a:ln/>
        </p:spPr>
      </p:sp>
      <p:sp>
        <p:nvSpPr>
          <p:cNvPr id="19" name="Shape 15"/>
          <p:cNvSpPr/>
          <p:nvPr/>
        </p:nvSpPr>
        <p:spPr>
          <a:xfrm>
            <a:off x="640080" y="3108960"/>
            <a:ext cx="3749040" cy="457200"/>
          </a:xfrm>
          <a:prstGeom prst="roundRect">
            <a:avLst>
              <a:gd name="adj" fmla="val 16000"/>
            </a:avLst>
          </a:prstGeom>
          <a:solidFill>
            <a:srgbClr val="6B46C1"/>
          </a:solidFill>
          <a:ln/>
        </p:spPr>
      </p:sp>
      <p:sp>
        <p:nvSpPr>
          <p:cNvPr id="20" name="Shape 16"/>
          <p:cNvSpPr/>
          <p:nvPr/>
        </p:nvSpPr>
        <p:spPr>
          <a:xfrm>
            <a:off x="640080" y="3291840"/>
            <a:ext cx="3749040" cy="274320"/>
          </a:xfrm>
          <a:prstGeom prst="rect">
            <a:avLst/>
          </a:prstGeom>
          <a:solidFill>
            <a:srgbClr val="6B46C1"/>
          </a:solidFill>
          <a:ln/>
        </p:spPr>
      </p:sp>
      <p:pic>
        <p:nvPicPr>
          <p:cNvPr id="21" name="Image 2" descr="preencoded.png">    </p:cNvPr>
          <p:cNvPicPr>
            <a:picLocks noChangeAspect="1"/>
          </p:cNvPicPr>
          <p:nvPr/>
        </p:nvPicPr>
        <p:blipFill>
          <a:blip r:embed="rId3"/>
          <a:stretch>
            <a:fillRect/>
          </a:stretch>
        </p:blipFill>
        <p:spPr>
          <a:xfrm>
            <a:off x="777240" y="3172968"/>
            <a:ext cx="274320" cy="274320"/>
          </a:xfrm>
          <a:prstGeom prst="rect">
            <a:avLst/>
          </a:prstGeom>
        </p:spPr>
      </p:pic>
      <p:sp>
        <p:nvSpPr>
          <p:cNvPr id="22" name="Text 17"/>
          <p:cNvSpPr/>
          <p:nvPr/>
        </p:nvSpPr>
        <p:spPr>
          <a:xfrm>
            <a:off x="1097280" y="312724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Sospecha de brecha</a:t>
            </a:r>
            <a:endParaRPr lang="en-US" sz="1300" dirty="0"/>
          </a:p>
        </p:txBody>
      </p:sp>
      <p:sp>
        <p:nvSpPr>
          <p:cNvPr id="23" name="Text 18"/>
          <p:cNvSpPr/>
          <p:nvPr/>
        </p:nvSpPr>
        <p:spPr>
          <a:xfrm>
            <a:off x="822960" y="365760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Notificar DPO+CISO.</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Documentar. No investigar solo.</a:t>
            </a:r>
            <a:endParaRPr lang="en-US" sz="1200" dirty="0"/>
          </a:p>
        </p:txBody>
      </p:sp>
      <p:sp>
        <p:nvSpPr>
          <p:cNvPr id="24" name="Shape 19"/>
          <p:cNvSpPr/>
          <p:nvPr/>
        </p:nvSpPr>
        <p:spPr>
          <a:xfrm>
            <a:off x="4754880" y="310896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25" name="Shape 20"/>
          <p:cNvSpPr/>
          <p:nvPr/>
        </p:nvSpPr>
        <p:spPr>
          <a:xfrm>
            <a:off x="4754880" y="3108960"/>
            <a:ext cx="3749040" cy="411480"/>
          </a:xfrm>
          <a:prstGeom prst="rect">
            <a:avLst/>
          </a:prstGeom>
          <a:solidFill>
            <a:srgbClr val="2E74B5"/>
          </a:solidFill>
          <a:ln/>
        </p:spPr>
      </p:sp>
      <p:sp>
        <p:nvSpPr>
          <p:cNvPr id="26" name="Shape 21"/>
          <p:cNvSpPr/>
          <p:nvPr/>
        </p:nvSpPr>
        <p:spPr>
          <a:xfrm>
            <a:off x="4754880" y="3108960"/>
            <a:ext cx="3749040" cy="457200"/>
          </a:xfrm>
          <a:prstGeom prst="roundRect">
            <a:avLst>
              <a:gd name="adj" fmla="val 16000"/>
            </a:avLst>
          </a:prstGeom>
          <a:solidFill>
            <a:srgbClr val="2E74B5"/>
          </a:solidFill>
          <a:ln/>
        </p:spPr>
      </p:sp>
      <p:sp>
        <p:nvSpPr>
          <p:cNvPr id="27" name="Shape 22"/>
          <p:cNvSpPr/>
          <p:nvPr/>
        </p:nvSpPr>
        <p:spPr>
          <a:xfrm>
            <a:off x="4754880" y="3291840"/>
            <a:ext cx="3749040" cy="274320"/>
          </a:xfrm>
          <a:prstGeom prst="rect">
            <a:avLst/>
          </a:prstGeom>
          <a:solidFill>
            <a:srgbClr val="2E74B5"/>
          </a:solidFill>
          <a:ln/>
        </p:spPr>
      </p:sp>
      <p:pic>
        <p:nvPicPr>
          <p:cNvPr id="28" name="Image 3" descr="preencoded.png">    </p:cNvPr>
          <p:cNvPicPr>
            <a:picLocks noChangeAspect="1"/>
          </p:cNvPicPr>
          <p:nvPr/>
        </p:nvPicPr>
        <p:blipFill>
          <a:blip r:embed="rId4"/>
          <a:stretch>
            <a:fillRect/>
          </a:stretch>
        </p:blipFill>
        <p:spPr>
          <a:xfrm>
            <a:off x="4892040" y="3172968"/>
            <a:ext cx="274320" cy="274320"/>
          </a:xfrm>
          <a:prstGeom prst="rect">
            <a:avLst/>
          </a:prstGeom>
        </p:spPr>
      </p:pic>
      <p:sp>
        <p:nvSpPr>
          <p:cNvPr id="29" name="Text 23"/>
          <p:cNvSpPr/>
          <p:nvPr/>
        </p:nvSpPr>
        <p:spPr>
          <a:xfrm>
            <a:off x="5212080" y="312724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Nuevo proveedor/herramienta</a:t>
            </a:r>
            <a:endParaRPr lang="en-US" sz="1300" dirty="0"/>
          </a:p>
        </p:txBody>
      </p:sp>
      <p:sp>
        <p:nvSpPr>
          <p:cNvPr id="30" name="Text 24"/>
          <p:cNvSpPr/>
          <p:nvPr/>
        </p:nvSpPr>
        <p:spPr>
          <a:xfrm>
            <a:off x="4937760" y="365760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Seguir P02. Verificar</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certificaciones. No usar sin aprobacion.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Tus Obligaciones como Empleado</a:t>
            </a:r>
            <a:endParaRPr lang="en-US" sz="2200" dirty="0"/>
          </a:p>
        </p:txBody>
      </p:sp>
      <p:pic>
        <p:nvPicPr>
          <p:cNvPr id="3" name="Image 0" descr="preencoded.png">    </p:cNvPr>
          <p:cNvPicPr>
            <a:picLocks noChangeAspect="1"/>
          </p:cNvPicPr>
          <p:nvPr/>
        </p:nvPicPr>
        <p:blipFill>
          <a:blip r:embed="rId1"/>
          <a:stretch>
            <a:fillRect/>
          </a:stretch>
        </p:blipFill>
        <p:spPr>
          <a:xfrm>
            <a:off x="731520" y="969264"/>
            <a:ext cx="274320" cy="274320"/>
          </a:xfrm>
          <a:prstGeom prst="rect">
            <a:avLst/>
          </a:prstGeom>
        </p:spPr>
      </p:pic>
      <p:sp>
        <p:nvSpPr>
          <p:cNvPr id="4" name="Text 1"/>
          <p:cNvSpPr/>
          <p:nvPr/>
        </p:nvSpPr>
        <p:spPr>
          <a:xfrm>
            <a:off x="1143000" y="914400"/>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Contrasenas 12+ caracteres con MFA activado</a:t>
            </a:r>
            <a:endParaRPr lang="en-US" sz="1300" dirty="0"/>
          </a:p>
        </p:txBody>
      </p:sp>
      <p:pic>
        <p:nvPicPr>
          <p:cNvPr id="5" name="Image 1" descr="preencoded.png">    </p:cNvPr>
          <p:cNvPicPr>
            <a:picLocks noChangeAspect="1"/>
          </p:cNvPicPr>
          <p:nvPr/>
        </p:nvPicPr>
        <p:blipFill>
          <a:blip r:embed="rId2"/>
          <a:stretch>
            <a:fillRect/>
          </a:stretch>
        </p:blipFill>
        <p:spPr>
          <a:xfrm>
            <a:off x="731520" y="1444752"/>
            <a:ext cx="274320" cy="274320"/>
          </a:xfrm>
          <a:prstGeom prst="rect">
            <a:avLst/>
          </a:prstGeom>
        </p:spPr>
      </p:pic>
      <p:sp>
        <p:nvSpPr>
          <p:cNvPr id="6" name="Text 2"/>
          <p:cNvSpPr/>
          <p:nvPr/>
        </p:nvSpPr>
        <p:spPr>
          <a:xfrm>
            <a:off x="1143000" y="1389888"/>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Bloquear pantalla al levantarte del puesto</a:t>
            </a:r>
            <a:endParaRPr lang="en-US" sz="1300" dirty="0"/>
          </a:p>
        </p:txBody>
      </p:sp>
      <p:pic>
        <p:nvPicPr>
          <p:cNvPr id="7" name="Image 2" descr="preencoded.png">    </p:cNvPr>
          <p:cNvPicPr>
            <a:picLocks noChangeAspect="1"/>
          </p:cNvPicPr>
          <p:nvPr/>
        </p:nvPicPr>
        <p:blipFill>
          <a:blip r:embed="rId3"/>
          <a:stretch>
            <a:fillRect/>
          </a:stretch>
        </p:blipFill>
        <p:spPr>
          <a:xfrm>
            <a:off x="731520" y="1920240"/>
            <a:ext cx="274320" cy="274320"/>
          </a:xfrm>
          <a:prstGeom prst="rect">
            <a:avLst/>
          </a:prstGeom>
        </p:spPr>
      </p:pic>
      <p:sp>
        <p:nvSpPr>
          <p:cNvPr id="8" name="Text 3"/>
          <p:cNvSpPr/>
          <p:nvPr/>
        </p:nvSpPr>
        <p:spPr>
          <a:xfrm>
            <a:off x="1143000" y="1865376"/>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Reportar incidentes de seguridad en menos de 24h</a:t>
            </a:r>
            <a:endParaRPr lang="en-US" sz="1300" dirty="0"/>
          </a:p>
        </p:txBody>
      </p:sp>
      <p:pic>
        <p:nvPicPr>
          <p:cNvPr id="9" name="Image 3" descr="preencoded.png">    </p:cNvPr>
          <p:cNvPicPr>
            <a:picLocks noChangeAspect="1"/>
          </p:cNvPicPr>
          <p:nvPr/>
        </p:nvPicPr>
        <p:blipFill>
          <a:blip r:embed="rId4"/>
          <a:stretch>
            <a:fillRect/>
          </a:stretch>
        </p:blipFill>
        <p:spPr>
          <a:xfrm>
            <a:off x="731520" y="2395728"/>
            <a:ext cx="274320" cy="274320"/>
          </a:xfrm>
          <a:prstGeom prst="rect">
            <a:avLst/>
          </a:prstGeom>
        </p:spPr>
      </p:pic>
      <p:sp>
        <p:nvSpPr>
          <p:cNvPr id="10" name="Text 4"/>
          <p:cNvSpPr/>
          <p:nvPr/>
        </p:nvSpPr>
        <p:spPr>
          <a:xfrm>
            <a:off x="1143000" y="2340864"/>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Usar VPN para trabajo remoto siempre</a:t>
            </a:r>
            <a:endParaRPr lang="en-US" sz="1300" dirty="0"/>
          </a:p>
        </p:txBody>
      </p:sp>
      <p:pic>
        <p:nvPicPr>
          <p:cNvPr id="11" name="Image 4" descr="preencoded.png">    </p:cNvPr>
          <p:cNvPicPr>
            <a:picLocks noChangeAspect="1"/>
          </p:cNvPicPr>
          <p:nvPr/>
        </p:nvPicPr>
        <p:blipFill>
          <a:blip r:embed="rId5"/>
          <a:stretch>
            <a:fillRect/>
          </a:stretch>
        </p:blipFill>
        <p:spPr>
          <a:xfrm>
            <a:off x="731520" y="2871216"/>
            <a:ext cx="274320" cy="274320"/>
          </a:xfrm>
          <a:prstGeom prst="rect">
            <a:avLst/>
          </a:prstGeom>
        </p:spPr>
      </p:pic>
      <p:sp>
        <p:nvSpPr>
          <p:cNvPr id="12" name="Text 5"/>
          <p:cNvSpPr/>
          <p:nvPr/>
        </p:nvSpPr>
        <p:spPr>
          <a:xfrm>
            <a:off x="1143000" y="2816352"/>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No instalar software no autorizado</a:t>
            </a:r>
            <a:endParaRPr lang="en-US" sz="1300" dirty="0"/>
          </a:p>
        </p:txBody>
      </p:sp>
      <p:pic>
        <p:nvPicPr>
          <p:cNvPr id="13" name="Image 5" descr="preencoded.png">    </p:cNvPr>
          <p:cNvPicPr>
            <a:picLocks noChangeAspect="1"/>
          </p:cNvPicPr>
          <p:nvPr/>
        </p:nvPicPr>
        <p:blipFill>
          <a:blip r:embed="rId6"/>
          <a:stretch>
            <a:fillRect/>
          </a:stretch>
        </p:blipFill>
        <p:spPr>
          <a:xfrm>
            <a:off x="731520" y="3346704"/>
            <a:ext cx="274320" cy="274320"/>
          </a:xfrm>
          <a:prstGeom prst="rect">
            <a:avLst/>
          </a:prstGeom>
        </p:spPr>
      </p:pic>
      <p:sp>
        <p:nvSpPr>
          <p:cNvPr id="14" name="Text 6"/>
          <p:cNvSpPr/>
          <p:nvPr/>
        </p:nvSpPr>
        <p:spPr>
          <a:xfrm>
            <a:off x="1143000" y="3291840"/>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Mesa limpia: sin documentos sensibles visibles</a:t>
            </a:r>
            <a:endParaRPr lang="en-US" sz="1300" dirty="0"/>
          </a:p>
        </p:txBody>
      </p:sp>
      <p:pic>
        <p:nvPicPr>
          <p:cNvPr id="15" name="Image 6" descr="preencoded.png">    </p:cNvPr>
          <p:cNvPicPr>
            <a:picLocks noChangeAspect="1"/>
          </p:cNvPicPr>
          <p:nvPr/>
        </p:nvPicPr>
        <p:blipFill>
          <a:blip r:embed="rId7"/>
          <a:stretch>
            <a:fillRect/>
          </a:stretch>
        </p:blipFill>
        <p:spPr>
          <a:xfrm>
            <a:off x="731520" y="3822192"/>
            <a:ext cx="274320" cy="274320"/>
          </a:xfrm>
          <a:prstGeom prst="rect">
            <a:avLst/>
          </a:prstGeom>
        </p:spPr>
      </p:pic>
      <p:sp>
        <p:nvSpPr>
          <p:cNvPr id="16" name="Text 7"/>
          <p:cNvSpPr/>
          <p:nvPr/>
        </p:nvSpPr>
        <p:spPr>
          <a:xfrm>
            <a:off x="1143000" y="3767328"/>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Firmar normativa I01 y anexo I02</a:t>
            </a:r>
            <a:endParaRPr lang="en-US" sz="1300" dirty="0"/>
          </a:p>
        </p:txBody>
      </p:sp>
      <p:pic>
        <p:nvPicPr>
          <p:cNvPr id="17" name="Image 7" descr="preencoded.png">    </p:cNvPr>
          <p:cNvPicPr>
            <a:picLocks noChangeAspect="1"/>
          </p:cNvPicPr>
          <p:nvPr/>
        </p:nvPicPr>
        <p:blipFill>
          <a:blip r:embed="rId8"/>
          <a:stretch>
            <a:fillRect/>
          </a:stretch>
        </p:blipFill>
        <p:spPr>
          <a:xfrm>
            <a:off x="731520" y="4297680"/>
            <a:ext cx="274320" cy="274320"/>
          </a:xfrm>
          <a:prstGeom prst="rect">
            <a:avLst/>
          </a:prstGeom>
        </p:spPr>
      </p:pic>
      <p:sp>
        <p:nvSpPr>
          <p:cNvPr id="18" name="Text 8"/>
          <p:cNvSpPr/>
          <p:nvPr/>
        </p:nvSpPr>
        <p:spPr>
          <a:xfrm>
            <a:off x="1143000" y="4242816"/>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Autorizacion BYOD (I05) si usas equipo personal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Evidencias y Auditoria</a:t>
            </a:r>
            <a:endParaRPr lang="en-US" sz="2200" dirty="0"/>
          </a:p>
        </p:txBody>
      </p:sp>
      <p:sp>
        <p:nvSpPr>
          <p:cNvPr id="3" name="Shape 1"/>
          <p:cNvSpPr/>
          <p:nvPr/>
        </p:nvSpPr>
        <p:spPr>
          <a:xfrm>
            <a:off x="640080" y="914400"/>
            <a:ext cx="3657600" cy="3291840"/>
          </a:xfrm>
          <a:prstGeom prst="roundRect">
            <a:avLst>
              <a:gd name="adj" fmla="val 2222"/>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29184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Tipos de Evidencias</a:t>
            </a:r>
            <a:endParaRPr lang="en-US" sz="1400" dirty="0"/>
          </a:p>
        </p:txBody>
      </p:sp>
      <p:pic>
        <p:nvPicPr>
          <p:cNvPr id="6" name="Image 0" descr="preencoded.png">    </p:cNvPr>
          <p:cNvPicPr>
            <a:picLocks noChangeAspect="1"/>
          </p:cNvPicPr>
          <p:nvPr/>
        </p:nvPicPr>
        <p:blipFill>
          <a:blip r:embed="rId1"/>
          <a:stretch>
            <a:fillRect/>
          </a:stretch>
        </p:blipFill>
        <p:spPr>
          <a:xfrm>
            <a:off x="868680" y="1554480"/>
            <a:ext cx="274320" cy="274320"/>
          </a:xfrm>
          <a:prstGeom prst="rect">
            <a:avLst/>
          </a:prstGeom>
        </p:spPr>
      </p:pic>
      <p:sp>
        <p:nvSpPr>
          <p:cNvPr id="7" name="Text 4"/>
          <p:cNvSpPr/>
          <p:nvPr/>
        </p:nvSpPr>
        <p:spPr>
          <a:xfrm>
            <a:off x="1280160" y="150876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Documentos firmados (normativas, politicas)</a:t>
            </a:r>
            <a:endParaRPr lang="en-US" sz="1200" dirty="0"/>
          </a:p>
        </p:txBody>
      </p:sp>
      <p:pic>
        <p:nvPicPr>
          <p:cNvPr id="8" name="Image 1" descr="preencoded.png">    </p:cNvPr>
          <p:cNvPicPr>
            <a:picLocks noChangeAspect="1"/>
          </p:cNvPicPr>
          <p:nvPr/>
        </p:nvPicPr>
        <p:blipFill>
          <a:blip r:embed="rId2"/>
          <a:stretch>
            <a:fillRect/>
          </a:stretch>
        </p:blipFill>
        <p:spPr>
          <a:xfrm>
            <a:off x="868680" y="2286000"/>
            <a:ext cx="274320" cy="274320"/>
          </a:xfrm>
          <a:prstGeom prst="rect">
            <a:avLst/>
          </a:prstGeom>
        </p:spPr>
      </p:pic>
      <p:sp>
        <p:nvSpPr>
          <p:cNvPr id="9" name="Text 5"/>
          <p:cNvSpPr/>
          <p:nvPr/>
        </p:nvSpPr>
        <p:spPr>
          <a:xfrm>
            <a:off x="1280160" y="224028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Capturas de configuracion de seguridad</a:t>
            </a:r>
            <a:endParaRPr lang="en-US" sz="1200" dirty="0"/>
          </a:p>
        </p:txBody>
      </p:sp>
      <p:pic>
        <p:nvPicPr>
          <p:cNvPr id="10" name="Image 2" descr="preencoded.png">    </p:cNvPr>
          <p:cNvPicPr>
            <a:picLocks noChangeAspect="1"/>
          </p:cNvPicPr>
          <p:nvPr/>
        </p:nvPicPr>
        <p:blipFill>
          <a:blip r:embed="rId3"/>
          <a:stretch>
            <a:fillRect/>
          </a:stretch>
        </p:blipFill>
        <p:spPr>
          <a:xfrm>
            <a:off x="868680" y="3017520"/>
            <a:ext cx="274320" cy="274320"/>
          </a:xfrm>
          <a:prstGeom prst="rect">
            <a:avLst/>
          </a:prstGeom>
        </p:spPr>
      </p:pic>
      <p:sp>
        <p:nvSpPr>
          <p:cNvPr id="11" name="Text 6"/>
          <p:cNvSpPr/>
          <p:nvPr/>
        </p:nvSpPr>
        <p:spPr>
          <a:xfrm>
            <a:off x="1280160" y="297180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Certificados de proveedores (Azure, GCP)</a:t>
            </a:r>
            <a:endParaRPr lang="en-US" sz="1200" dirty="0"/>
          </a:p>
        </p:txBody>
      </p:sp>
      <p:sp>
        <p:nvSpPr>
          <p:cNvPr id="12" name="Shape 7"/>
          <p:cNvSpPr/>
          <p:nvPr/>
        </p:nvSpPr>
        <p:spPr>
          <a:xfrm>
            <a:off x="4846320" y="914400"/>
            <a:ext cx="3657600" cy="3291840"/>
          </a:xfrm>
          <a:prstGeom prst="roundRect">
            <a:avLst>
              <a:gd name="adj" fmla="val 2222"/>
            </a:avLst>
          </a:prstGeom>
          <a:solidFill>
            <a:srgbClr val="FFFFFF"/>
          </a:solidFill>
          <a:ln/>
          <a:effectLst>
            <a:outerShdw sx="100000" sy="100000" kx="0" ky="0" algn="bl" rotWithShape="0" blurRad="50800" dist="25400" dir="8100000">
              <a:srgbClr val="000000">
                <a:alpha val="10000"/>
              </a:srgbClr>
            </a:outerShdw>
          </a:effectLst>
        </p:spPr>
      </p:sp>
      <p:sp>
        <p:nvSpPr>
          <p:cNvPr id="13" name="Shape 8"/>
          <p:cNvSpPr/>
          <p:nvPr/>
        </p:nvSpPr>
        <p:spPr>
          <a:xfrm>
            <a:off x="4846320" y="914400"/>
            <a:ext cx="54864" cy="3291840"/>
          </a:xfrm>
          <a:prstGeom prst="rect">
            <a:avLst>
              <a:gd name="adj" fmla="val 50000"/>
            </a:avLst>
          </a:prstGeom>
          <a:solidFill>
            <a:srgbClr val="0D9A76"/>
          </a:solidFill>
          <a:ln/>
        </p:spPr>
      </p:sp>
      <p:sp>
        <p:nvSpPr>
          <p:cNvPr id="14" name="Text 9"/>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Auditoria 2025</a:t>
            </a:r>
            <a:endParaRPr lang="en-US" sz="1400" dirty="0"/>
          </a:p>
        </p:txBody>
      </p:sp>
      <p:sp>
        <p:nvSpPr>
          <p:cNvPr id="15" name="Text 10"/>
          <p:cNvSpPr/>
          <p:nvPr/>
        </p:nvSpPr>
        <p:spPr>
          <a:xfrm>
            <a:off x="5029200" y="1463040"/>
            <a:ext cx="3291840" cy="256032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Noviembre 2025</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Auditor acreditado SGSI-ENS</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Areas de mejora identificadas</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Plan de accion en marcha</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Plan de Concienciacion 2026</a:t>
            </a:r>
            <a:endParaRPr lang="en-US" sz="2200" dirty="0"/>
          </a:p>
        </p:txBody>
      </p:sp>
      <p:sp>
        <p:nvSpPr>
          <p:cNvPr id="3" name="Shape 1"/>
          <p:cNvSpPr/>
          <p:nvPr/>
        </p:nvSpPr>
        <p:spPr>
          <a:xfrm>
            <a:off x="1161288" y="1371600"/>
            <a:ext cx="54864" cy="548640"/>
          </a:xfrm>
          <a:prstGeom prst="rect">
            <a:avLst/>
          </a:prstGeom>
          <a:solidFill>
            <a:srgbClr val="D1FBF0"/>
          </a:solidFill>
          <a:ln/>
        </p:spPr>
      </p:sp>
      <p:sp>
        <p:nvSpPr>
          <p:cNvPr id="4" name="Shape 2"/>
          <p:cNvSpPr/>
          <p:nvPr/>
        </p:nvSpPr>
        <p:spPr>
          <a:xfrm>
            <a:off x="1005840" y="1005840"/>
            <a:ext cx="365760" cy="365760"/>
          </a:xfrm>
          <a:prstGeom prst="ellipse">
            <a:avLst/>
          </a:prstGeom>
          <a:solidFill>
            <a:srgbClr val="0D9A76"/>
          </a:solidFill>
          <a:ln/>
        </p:spPr>
      </p:sp>
      <p:sp>
        <p:nvSpPr>
          <p:cNvPr id="5" name="Text 3"/>
          <p:cNvSpPr/>
          <p:nvPr/>
        </p:nvSpPr>
        <p:spPr>
          <a:xfrm>
            <a:off x="1005840" y="10058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554480" y="93268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Formacion anual obligatoria</a:t>
            </a:r>
            <a:endParaRPr lang="en-US" sz="1400" dirty="0"/>
          </a:p>
        </p:txBody>
      </p:sp>
      <p:sp>
        <p:nvSpPr>
          <p:cNvPr id="7" name="Text 5"/>
          <p:cNvSpPr/>
          <p:nvPr/>
        </p:nvSpPr>
        <p:spPr>
          <a:xfrm>
            <a:off x="1554480" y="123444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Sesiones presenciales y online para todo el equipo</a:t>
            </a:r>
            <a:endParaRPr lang="en-US" sz="1100" dirty="0"/>
          </a:p>
        </p:txBody>
      </p:sp>
      <p:sp>
        <p:nvSpPr>
          <p:cNvPr id="8" name="Shape 6"/>
          <p:cNvSpPr/>
          <p:nvPr/>
        </p:nvSpPr>
        <p:spPr>
          <a:xfrm>
            <a:off x="1161288" y="2103120"/>
            <a:ext cx="54864" cy="548640"/>
          </a:xfrm>
          <a:prstGeom prst="rect">
            <a:avLst/>
          </a:prstGeom>
          <a:solidFill>
            <a:srgbClr val="D1FBF0"/>
          </a:solidFill>
          <a:ln/>
        </p:spPr>
      </p:sp>
      <p:sp>
        <p:nvSpPr>
          <p:cNvPr id="9" name="Shape 7"/>
          <p:cNvSpPr/>
          <p:nvPr/>
        </p:nvSpPr>
        <p:spPr>
          <a:xfrm>
            <a:off x="1005840" y="1737360"/>
            <a:ext cx="365760" cy="365760"/>
          </a:xfrm>
          <a:prstGeom prst="ellipse">
            <a:avLst/>
          </a:prstGeom>
          <a:solidFill>
            <a:srgbClr val="0D9A76"/>
          </a:solidFill>
          <a:ln/>
        </p:spPr>
      </p:sp>
      <p:sp>
        <p:nvSpPr>
          <p:cNvPr id="10" name="Text 8"/>
          <p:cNvSpPr/>
          <p:nvPr/>
        </p:nvSpPr>
        <p:spPr>
          <a:xfrm>
            <a:off x="1005840" y="1737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554480" y="166420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Simulacros de phishing periodicos</a:t>
            </a:r>
            <a:endParaRPr lang="en-US" sz="1400" dirty="0"/>
          </a:p>
        </p:txBody>
      </p:sp>
      <p:sp>
        <p:nvSpPr>
          <p:cNvPr id="12" name="Text 10"/>
          <p:cNvSpPr/>
          <p:nvPr/>
        </p:nvSpPr>
        <p:spPr>
          <a:xfrm>
            <a:off x="1554480" y="196596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Ejercicios practicos para detectar ataques</a:t>
            </a:r>
            <a:endParaRPr lang="en-US" sz="1100" dirty="0"/>
          </a:p>
        </p:txBody>
      </p:sp>
      <p:sp>
        <p:nvSpPr>
          <p:cNvPr id="13" name="Shape 11"/>
          <p:cNvSpPr/>
          <p:nvPr/>
        </p:nvSpPr>
        <p:spPr>
          <a:xfrm>
            <a:off x="1161288" y="2834640"/>
            <a:ext cx="54864" cy="548640"/>
          </a:xfrm>
          <a:prstGeom prst="rect">
            <a:avLst/>
          </a:prstGeom>
          <a:solidFill>
            <a:srgbClr val="D1FBF0"/>
          </a:solidFill>
          <a:ln/>
        </p:spPr>
      </p:sp>
      <p:sp>
        <p:nvSpPr>
          <p:cNvPr id="14" name="Shape 12"/>
          <p:cNvSpPr/>
          <p:nvPr/>
        </p:nvSpPr>
        <p:spPr>
          <a:xfrm>
            <a:off x="1005840" y="2468880"/>
            <a:ext cx="365760" cy="365760"/>
          </a:xfrm>
          <a:prstGeom prst="ellipse">
            <a:avLst/>
          </a:prstGeom>
          <a:solidFill>
            <a:srgbClr val="0D9A76"/>
          </a:solidFill>
          <a:ln/>
        </p:spPr>
      </p:sp>
      <p:sp>
        <p:nvSpPr>
          <p:cNvPr id="15" name="Text 13"/>
          <p:cNvSpPr/>
          <p:nvPr/>
        </p:nvSpPr>
        <p:spPr>
          <a:xfrm>
            <a:off x="1005840" y="2468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1554480" y="239572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Actualizaciones trimestrales del Comite</a:t>
            </a:r>
            <a:endParaRPr lang="en-US" sz="1400" dirty="0"/>
          </a:p>
        </p:txBody>
      </p:sp>
      <p:sp>
        <p:nvSpPr>
          <p:cNvPr id="17" name="Text 15"/>
          <p:cNvSpPr/>
          <p:nvPr/>
        </p:nvSpPr>
        <p:spPr>
          <a:xfrm>
            <a:off x="1554480" y="269748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Revision del estado del SGSI cada trimestre</a:t>
            </a:r>
            <a:endParaRPr lang="en-US" sz="1100" dirty="0"/>
          </a:p>
        </p:txBody>
      </p:sp>
      <p:sp>
        <p:nvSpPr>
          <p:cNvPr id="18" name="Shape 16"/>
          <p:cNvSpPr/>
          <p:nvPr/>
        </p:nvSpPr>
        <p:spPr>
          <a:xfrm>
            <a:off x="1161288" y="3566160"/>
            <a:ext cx="54864" cy="548640"/>
          </a:xfrm>
          <a:prstGeom prst="rect">
            <a:avLst/>
          </a:prstGeom>
          <a:solidFill>
            <a:srgbClr val="D1FBF0"/>
          </a:solidFill>
          <a:ln/>
        </p:spPr>
      </p:sp>
      <p:sp>
        <p:nvSpPr>
          <p:cNvPr id="19" name="Shape 17"/>
          <p:cNvSpPr/>
          <p:nvPr/>
        </p:nvSpPr>
        <p:spPr>
          <a:xfrm>
            <a:off x="1005840" y="3200400"/>
            <a:ext cx="365760" cy="365760"/>
          </a:xfrm>
          <a:prstGeom prst="ellipse">
            <a:avLst/>
          </a:prstGeom>
          <a:solidFill>
            <a:srgbClr val="0D9A76"/>
          </a:solidFill>
          <a:ln/>
        </p:spPr>
      </p:sp>
      <p:sp>
        <p:nvSpPr>
          <p:cNvPr id="20" name="Text 18"/>
          <p:cNvSpPr/>
          <p:nvPr/>
        </p:nvSpPr>
        <p:spPr>
          <a:xfrm>
            <a:off x="1005840" y="3200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p:nvPr/>
        </p:nvSpPr>
        <p:spPr>
          <a:xfrm>
            <a:off x="1554480" y="312724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Certificaciones tecnicas (roadmap)</a:t>
            </a:r>
            <a:endParaRPr lang="en-US" sz="1400" dirty="0"/>
          </a:p>
        </p:txBody>
      </p:sp>
      <p:sp>
        <p:nvSpPr>
          <p:cNvPr id="22" name="Text 20"/>
          <p:cNvSpPr/>
          <p:nvPr/>
        </p:nvSpPr>
        <p:spPr>
          <a:xfrm>
            <a:off x="1554480" y="342900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Formacion especializada para el equipo tecnico</a:t>
            </a:r>
            <a:endParaRPr lang="en-US" sz="1100" dirty="0"/>
          </a:p>
        </p:txBody>
      </p:sp>
      <p:sp>
        <p:nvSpPr>
          <p:cNvPr id="23" name="Shape 21"/>
          <p:cNvSpPr/>
          <p:nvPr/>
        </p:nvSpPr>
        <p:spPr>
          <a:xfrm>
            <a:off x="1005840" y="3931920"/>
            <a:ext cx="365760" cy="365760"/>
          </a:xfrm>
          <a:prstGeom prst="ellipse">
            <a:avLst/>
          </a:prstGeom>
          <a:solidFill>
            <a:srgbClr val="0D9A76"/>
          </a:solidFill>
          <a:ln/>
        </p:spPr>
      </p:sp>
      <p:sp>
        <p:nvSpPr>
          <p:cNvPr id="24" name="Text 22"/>
          <p:cNvSpPr/>
          <p:nvPr/>
        </p:nvSpPr>
        <p:spPr>
          <a:xfrm>
            <a:off x="1005840" y="39319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5" name="Text 23"/>
          <p:cNvSpPr/>
          <p:nvPr/>
        </p:nvSpPr>
        <p:spPr>
          <a:xfrm>
            <a:off x="1554480" y="385876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Revision de politicas y procedimientos</a:t>
            </a:r>
            <a:endParaRPr lang="en-US" sz="1400" dirty="0"/>
          </a:p>
        </p:txBody>
      </p:sp>
      <p:sp>
        <p:nvSpPr>
          <p:cNvPr id="26" name="Text 24"/>
          <p:cNvSpPr/>
          <p:nvPr/>
        </p:nvSpPr>
        <p:spPr>
          <a:xfrm>
            <a:off x="1554480" y="416052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Actualizacion anual de toda la documentacion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Recursos y Contactos</a:t>
            </a:r>
            <a:endParaRPr lang="en-US" sz="2200" dirty="0"/>
          </a:p>
        </p:txBody>
      </p:sp>
      <p:sp>
        <p:nvSpPr>
          <p:cNvPr id="3" name="Shape 1"/>
          <p:cNvSpPr/>
          <p:nvPr/>
        </p:nvSpPr>
        <p:spPr>
          <a:xfrm>
            <a:off x="731520" y="91440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914400"/>
            <a:ext cx="54864" cy="1645920"/>
          </a:xfrm>
          <a:prstGeom prst="rect">
            <a:avLst>
              <a:gd name="adj" fmla="val 50000"/>
            </a:avLst>
          </a:prstGeom>
          <a:solidFill>
            <a:srgbClr val="0D9A76"/>
          </a:solidFill>
          <a:ln/>
        </p:spPr>
      </p:sp>
      <p:sp>
        <p:nvSpPr>
          <p:cNvPr id="5" name="Shape 3"/>
          <p:cNvSpPr/>
          <p:nvPr/>
        </p:nvSpPr>
        <p:spPr>
          <a:xfrm>
            <a:off x="960120" y="1371600"/>
            <a:ext cx="457200" cy="457200"/>
          </a:xfrm>
          <a:prstGeom prst="ellipse">
            <a:avLst/>
          </a:prstGeom>
          <a:solidFill>
            <a:srgbClr val="D1FBF0"/>
          </a:solidFill>
          <a:ln/>
        </p:spPr>
      </p:sp>
      <p:pic>
        <p:nvPicPr>
          <p:cNvPr id="6" name="Image 0" descr="preencoded.png">    </p:cNvPr>
          <p:cNvPicPr>
            <a:picLocks noChangeAspect="1"/>
          </p:cNvPicPr>
          <p:nvPr/>
        </p:nvPicPr>
        <p:blipFill>
          <a:blip r:embed="rId1"/>
          <a:stretch>
            <a:fillRect/>
          </a:stretch>
        </p:blipFill>
        <p:spPr>
          <a:xfrm>
            <a:off x="1051560" y="1463040"/>
            <a:ext cx="274320" cy="274320"/>
          </a:xfrm>
          <a:prstGeom prst="rect">
            <a:avLst/>
          </a:prstGeom>
        </p:spPr>
      </p:pic>
      <p:sp>
        <p:nvSpPr>
          <p:cNvPr id="7" name="Text 4"/>
          <p:cNvSpPr/>
          <p:nvPr/>
        </p:nvSpPr>
        <p:spPr>
          <a:xfrm>
            <a:off x="1554480" y="114300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Confluence ENSCORP</a:t>
            </a:r>
            <a:endParaRPr lang="en-US" sz="1500" dirty="0"/>
          </a:p>
        </p:txBody>
      </p:sp>
      <p:sp>
        <p:nvSpPr>
          <p:cNvPr id="8" name="Text 5"/>
          <p:cNvSpPr/>
          <p:nvPr/>
        </p:nvSpPr>
        <p:spPr>
          <a:xfrm>
            <a:off x="1554480" y="150876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Base de conocimiento viva con toda la documentacion ENS</a:t>
            </a:r>
            <a:endParaRPr lang="en-US" sz="1100" dirty="0"/>
          </a:p>
        </p:txBody>
      </p:sp>
      <p:sp>
        <p:nvSpPr>
          <p:cNvPr id="9" name="Shape 6"/>
          <p:cNvSpPr/>
          <p:nvPr/>
        </p:nvSpPr>
        <p:spPr>
          <a:xfrm>
            <a:off x="4754880" y="91440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10" name="Shape 7"/>
          <p:cNvSpPr/>
          <p:nvPr/>
        </p:nvSpPr>
        <p:spPr>
          <a:xfrm>
            <a:off x="4754880" y="914400"/>
            <a:ext cx="54864" cy="1645920"/>
          </a:xfrm>
          <a:prstGeom prst="rect">
            <a:avLst>
              <a:gd name="adj" fmla="val 50000"/>
            </a:avLst>
          </a:prstGeom>
          <a:solidFill>
            <a:srgbClr val="0D9A76"/>
          </a:solidFill>
          <a:ln/>
        </p:spPr>
      </p:sp>
      <p:sp>
        <p:nvSpPr>
          <p:cNvPr id="11" name="Shape 8"/>
          <p:cNvSpPr/>
          <p:nvPr/>
        </p:nvSpPr>
        <p:spPr>
          <a:xfrm>
            <a:off x="4983480" y="1371600"/>
            <a:ext cx="457200" cy="457200"/>
          </a:xfrm>
          <a:prstGeom prst="ellipse">
            <a:avLst/>
          </a:prstGeom>
          <a:solidFill>
            <a:srgbClr val="D1FBF0"/>
          </a:solidFill>
          <a:ln/>
        </p:spPr>
      </p:sp>
      <p:pic>
        <p:nvPicPr>
          <p:cNvPr id="12" name="Image 1" descr="preencoded.png">    </p:cNvPr>
          <p:cNvPicPr>
            <a:picLocks noChangeAspect="1"/>
          </p:cNvPicPr>
          <p:nvPr/>
        </p:nvPicPr>
        <p:blipFill>
          <a:blip r:embed="rId2"/>
          <a:stretch>
            <a:fillRect/>
          </a:stretch>
        </p:blipFill>
        <p:spPr>
          <a:xfrm>
            <a:off x="5074920" y="1463040"/>
            <a:ext cx="274320" cy="274320"/>
          </a:xfrm>
          <a:prstGeom prst="rect">
            <a:avLst/>
          </a:prstGeom>
        </p:spPr>
      </p:pic>
      <p:sp>
        <p:nvSpPr>
          <p:cNvPr id="13" name="Text 9"/>
          <p:cNvSpPr/>
          <p:nvPr/>
        </p:nvSpPr>
        <p:spPr>
          <a:xfrm>
            <a:off x="5577840" y="114300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CISO</a:t>
            </a:r>
            <a:endParaRPr lang="en-US" sz="1500" dirty="0"/>
          </a:p>
        </p:txBody>
      </p:sp>
      <p:sp>
        <p:nvSpPr>
          <p:cNvPr id="14" name="Text 10"/>
          <p:cNvSpPr/>
          <p:nvPr/>
        </p:nvSpPr>
        <p:spPr>
          <a:xfrm>
            <a:off x="5577840" y="150876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Incidentes de seguridad y consultas tecnicas</a:t>
            </a:r>
            <a:endParaRPr lang="en-US" sz="1100" dirty="0"/>
          </a:p>
        </p:txBody>
      </p:sp>
      <p:sp>
        <p:nvSpPr>
          <p:cNvPr id="15" name="Shape 11"/>
          <p:cNvSpPr/>
          <p:nvPr/>
        </p:nvSpPr>
        <p:spPr>
          <a:xfrm>
            <a:off x="731520" y="283464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16" name="Shape 12"/>
          <p:cNvSpPr/>
          <p:nvPr/>
        </p:nvSpPr>
        <p:spPr>
          <a:xfrm>
            <a:off x="731520" y="2834640"/>
            <a:ext cx="54864" cy="1645920"/>
          </a:xfrm>
          <a:prstGeom prst="rect">
            <a:avLst>
              <a:gd name="adj" fmla="val 50000"/>
            </a:avLst>
          </a:prstGeom>
          <a:solidFill>
            <a:srgbClr val="0D9A76"/>
          </a:solidFill>
          <a:ln/>
        </p:spPr>
      </p:sp>
      <p:sp>
        <p:nvSpPr>
          <p:cNvPr id="17" name="Shape 13"/>
          <p:cNvSpPr/>
          <p:nvPr/>
        </p:nvSpPr>
        <p:spPr>
          <a:xfrm>
            <a:off x="960120" y="3291840"/>
            <a:ext cx="457200" cy="457200"/>
          </a:xfrm>
          <a:prstGeom prst="ellipse">
            <a:avLst/>
          </a:prstGeom>
          <a:solidFill>
            <a:srgbClr val="D1FBF0"/>
          </a:solidFill>
          <a:ln/>
        </p:spPr>
      </p:sp>
      <p:pic>
        <p:nvPicPr>
          <p:cNvPr id="18" name="Image 2" descr="preencoded.png">    </p:cNvPr>
          <p:cNvPicPr>
            <a:picLocks noChangeAspect="1"/>
          </p:cNvPicPr>
          <p:nvPr/>
        </p:nvPicPr>
        <p:blipFill>
          <a:blip r:embed="rId3"/>
          <a:stretch>
            <a:fillRect/>
          </a:stretch>
        </p:blipFill>
        <p:spPr>
          <a:xfrm>
            <a:off x="1051560" y="3383280"/>
            <a:ext cx="274320" cy="274320"/>
          </a:xfrm>
          <a:prstGeom prst="rect">
            <a:avLst/>
          </a:prstGeom>
        </p:spPr>
      </p:pic>
      <p:sp>
        <p:nvSpPr>
          <p:cNvPr id="19" name="Text 14"/>
          <p:cNvSpPr/>
          <p:nvPr/>
        </p:nvSpPr>
        <p:spPr>
          <a:xfrm>
            <a:off x="1554480" y="306324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DPO</a:t>
            </a:r>
            <a:endParaRPr lang="en-US" sz="1500" dirty="0"/>
          </a:p>
        </p:txBody>
      </p:sp>
      <p:sp>
        <p:nvSpPr>
          <p:cNvPr id="20" name="Text 15"/>
          <p:cNvSpPr/>
          <p:nvPr/>
        </p:nvSpPr>
        <p:spPr>
          <a:xfrm>
            <a:off x="1554480" y="342900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Proteccion de datos personales y derechos RGPD</a:t>
            </a:r>
            <a:endParaRPr lang="en-US" sz="1100" dirty="0"/>
          </a:p>
        </p:txBody>
      </p:sp>
      <p:sp>
        <p:nvSpPr>
          <p:cNvPr id="21" name="Shape 16"/>
          <p:cNvSpPr/>
          <p:nvPr/>
        </p:nvSpPr>
        <p:spPr>
          <a:xfrm>
            <a:off x="4754880" y="283464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22" name="Shape 17"/>
          <p:cNvSpPr/>
          <p:nvPr/>
        </p:nvSpPr>
        <p:spPr>
          <a:xfrm>
            <a:off x="4754880" y="2834640"/>
            <a:ext cx="54864" cy="1645920"/>
          </a:xfrm>
          <a:prstGeom prst="rect">
            <a:avLst>
              <a:gd name="adj" fmla="val 50000"/>
            </a:avLst>
          </a:prstGeom>
          <a:solidFill>
            <a:srgbClr val="0D9A76"/>
          </a:solidFill>
          <a:ln/>
        </p:spPr>
      </p:sp>
      <p:sp>
        <p:nvSpPr>
          <p:cNvPr id="23" name="Shape 18"/>
          <p:cNvSpPr/>
          <p:nvPr/>
        </p:nvSpPr>
        <p:spPr>
          <a:xfrm>
            <a:off x="4983480" y="3291840"/>
            <a:ext cx="457200" cy="457200"/>
          </a:xfrm>
          <a:prstGeom prst="ellipse">
            <a:avLst/>
          </a:prstGeom>
          <a:solidFill>
            <a:srgbClr val="D1FBF0"/>
          </a:solidFill>
          <a:ln/>
        </p:spPr>
      </p:sp>
      <p:pic>
        <p:nvPicPr>
          <p:cNvPr id="24" name="Image 3" descr="preencoded.png">    </p:cNvPr>
          <p:cNvPicPr>
            <a:picLocks noChangeAspect="1"/>
          </p:cNvPicPr>
          <p:nvPr/>
        </p:nvPicPr>
        <p:blipFill>
          <a:blip r:embed="rId4"/>
          <a:stretch>
            <a:fillRect/>
          </a:stretch>
        </p:blipFill>
        <p:spPr>
          <a:xfrm>
            <a:off x="5074920" y="3383280"/>
            <a:ext cx="274320" cy="274320"/>
          </a:xfrm>
          <a:prstGeom prst="rect">
            <a:avLst/>
          </a:prstGeom>
        </p:spPr>
      </p:pic>
      <p:sp>
        <p:nvSpPr>
          <p:cNvPr id="25" name="Text 19"/>
          <p:cNvSpPr/>
          <p:nvPr/>
        </p:nvSpPr>
        <p:spPr>
          <a:xfrm>
            <a:off x="5577840" y="306324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Comite de Seguridad</a:t>
            </a:r>
            <a:endParaRPr lang="en-US" sz="1500" dirty="0"/>
          </a:p>
        </p:txBody>
      </p:sp>
      <p:sp>
        <p:nvSpPr>
          <p:cNvPr id="26" name="Text 20"/>
          <p:cNvSpPr/>
          <p:nvPr/>
        </p:nvSpPr>
        <p:spPr>
          <a:xfrm>
            <a:off x="5577840" y="342900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Supervision general del SGSI y toma de decisiones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457200" y="914400"/>
            <a:ext cx="8229600" cy="914400"/>
          </a:xfrm>
          <a:prstGeom prst="rect">
            <a:avLst/>
          </a:prstGeom>
          <a:noFill/>
          <a:ln/>
        </p:spPr>
        <p:txBody>
          <a:bodyPr wrap="square"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Preguntas?</a:t>
            </a:r>
            <a:endParaRPr lang="en-US" sz="4400" dirty="0"/>
          </a:p>
        </p:txBody>
      </p:sp>
      <p:sp>
        <p:nvSpPr>
          <p:cNvPr id="3" name="Text 1"/>
          <p:cNvSpPr/>
          <p:nvPr/>
        </p:nvSpPr>
        <p:spPr>
          <a:xfrm>
            <a:off x="1828800" y="2286000"/>
            <a:ext cx="5486400" cy="182880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La seguridad es responsabilidad de todos</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Es mejor una falsa alarma que un incidente no reportado</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Gracias por vuestro compromiso</a:t>
            </a:r>
            <a:endParaRPr lang="en-US" sz="1400" dirty="0"/>
          </a:p>
        </p:txBody>
      </p:sp>
      <p:pic>
        <p:nvPicPr>
          <p:cNvPr id="4" name="Image 0" descr="preencoded.png">    </p:cNvPr>
          <p:cNvPicPr>
            <a:picLocks noChangeAspect="1"/>
          </p:cNvPicPr>
          <p:nvPr/>
        </p:nvPicPr>
        <p:blipFill>
          <a:blip r:embed="rId1"/>
          <a:stretch>
            <a:fillRect/>
          </a:stretch>
        </p:blipFill>
        <p:spPr>
          <a:xfrm>
            <a:off x="3886200" y="4114800"/>
            <a:ext cx="1371600" cy="558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ENS en optimTech</dc:title>
  <dc:subject>PptxGenJS Presentation</dc:subject>
  <dc:creator>optimTech</dc:creator>
  <cp:lastModifiedBy>optimTech</cp:lastModifiedBy>
  <cp:revision>1</cp:revision>
  <dcterms:created xsi:type="dcterms:W3CDTF">2026-03-06T15:06:20Z</dcterms:created>
  <dcterms:modified xsi:type="dcterms:W3CDTF">2026-03-06T15:06:20Z</dcterms:modified>
</cp:coreProperties>
</file>