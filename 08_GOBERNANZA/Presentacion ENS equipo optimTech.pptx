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Types>
</file>

<file path=_rels/.rels><?xml version="1.0" encoding="utf-8"?>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27"/>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notesMaster" Target="notesMasters/notesMaster1.xml"/>
  <Relationship Id="rId23" Type="http://schemas.openxmlformats.org/officeDocument/2006/relationships/presProps" Target="presProps.xml"/>
  <Relationship Id="rId24" Type="http://schemas.openxmlformats.org/officeDocument/2006/relationships/viewProps" Target="viewProps.xml"/>
  <Relationship Id="rId25" Type="http://schemas.openxmlformats.org/officeDocument/2006/relationships/theme" Target="theme/theme1.xml"/>
  <Relationship Id="rId26" Type="http://schemas.openxmlformats.org/officeDocument/2006/relationships/tableStyles" Target="tableStyles.xml"/>
  <Relationship Id="rId27" Type="http://schemas.openxmlformats.org/officeDocument/2006/relationships/slide" Target="slides/slide21.xml"/>
</Relationships>

</file>

<file path=ppt/notesMasters/_rels/notesMaster1.xml.rels><?xml version="1.0" encoding="utf-8"?>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al equipo. Presentarse brevemente como CTO. Agradecer la asistencia y explicar el objetivo de la sesion.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tono personal. Transmitir orgullo por la certificacion. Explicar que la seguridad no es solo del equipo 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ENS no es voluntario: es una obligacion legal para cualquier empresa que trabaje con el sector publico. optimTech presta servicios a la administracion, por lo que estamos obligados a cumplirlo.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la certificacion ENS no es solo un requisito legal, sino una ventaja competitiva que nos diferencia. Nuestros clientes del sector publico lo exigen.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brevemente cada fase. Destacar que TonniNova nos ayudo con el gap analysis inicial. La auditoria interna se realizo en noviembre 2025. Ahora estamos en fase de mejora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10 principios basicos del ENS. No es necesario entrar en detalle de todos, pero si destacar que cubren desde la prevencion hasta la mejora continua. Son la base de todo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los roles clave del SGSI. El CEO es el responsable ultimo. El CISO lidera la estrategia de seguridad. El Comite de Seguridad se reune periodicamente para supervisar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nuestra infraestructura esta en proveedores certificados. Azure tiene ENS Alto e ISO 27001. Google Cloud tambien esta certificado ENS. Esto facilita nuestro cumplimiento.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politicas son los documentos de mas alto nivel. La D01 es la politica marco. La D02 define como clasificamos la informacion. La D03 son las directrices que todos debemos cumplir.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normativa I01 que todos debeis firmar. Repasar cada punto brevemente. Insistir en MFA y en reportar correos sospechosos. Recordar que el bloqueo de pantalla es obligatorio.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procedimientos operativos definen como hacemos las cosas. El P05 de incidentes es especialmente importante: todos debeis saber como reportar un incidente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desarrollo seguro es obligatorio segun las medidas mp.sw.1 y mp.sw.2 del ENS. Todo codigo debe pasar por revision. Las dependencias deben mantenerse actualizadas.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clasificacion por defecto es USO INTERNO. Todo documento debe llevar su clasificacion en la cabecera. Los documentos CONFIDENCIAL y SECRETO requieren cifrado.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RGPD es complementario al ENS. Los derechos de los interesados deben atenderse en plazo. Ante una brecha, la notificacion a la AEPD debe hacerse en menos de 72 horas si hay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escenarios mas comunes. Insistir en que es mejor una falsa alarma que no reportar. Ante la duda, contactar al CISO. Nunca intentar investigar por cuenta propia.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cada obligacion. Recordar que el incumplimiento puede tener consecuencias disciplinarias. La firma de la I01 es obligatoria para todos los empleados.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evidencias son la prueba de que cumplimos. Sin evidencias, no hay cumplimiento demostrable. La auditoria de noviembre 2025 identifico areas de mejora que ya estamos abordando.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 de concienciacion es continuo. La formacion anual es obligatoria. Los simulacros de phishing nos ayudan a mantenernos alerta. El Comite revisara el progreso trimestralmente.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texto completo del RD 311/2022 (ENS) esta disponible en boe.es. Para incidentes, contactar al CISO. Para temas de datos personales, al DPO.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turno de preguntas. Agradecer la asistencia y el compromiso del equipo. Recordar que la seguridad es un esfuerzo continuo y colectivo.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Marketing va a incorporar herramientas como HubSpot, LinkedIn y plataformas de email marketing. Todas estas herramientas tratan datos personales y requieren actualizar el RAT (D11). Es importante que ANTES de empezar a usar cualquier herramienta nueva, se notifique para evaluar el impacto en proteccion de datos y actualizar la documentacion ENS.</a:t>
            </a:r>
            <a:endParaRPr lang="en-US" dirty="0"/>
          </a:p>
        </p:txBody>
      </p:sp>
      <p:sp>
        <p:nvSpPr>
          <p:cNvPr id="4" name="Slide Number Placeholder 3"/>
          <p:cNvSpPr>
            <a:spLocks noGrp="1"/>
          </p:cNvSpPr>
          <p:nvPr>
            <p:ph type="sldNum" sz="quarter" idx="10"/>
          </p:nvPr>
        </p:nvSpPr>
        <p:spPr/>
        <p:txBody>
          <a:bodyPr/>
          <a:lstStyle/>
          <a:p>
            <a:fld id="{A1B2C3D4-E5F6-7890-ABCD-EF1234567890}" type="slidenum">
              <a:rPr lang="en-US"/>
              <a:t>15</a:t>
            </a:fld>
            <a:endParaRPr lang="en-US"/>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image" Target="../media/image-1-1.png"/>
  <Relationship Id="rId2" Type="http://schemas.openxmlformats.org/officeDocument/2006/relationships/slideLayout" Target="../slideLayouts/slideLayout1.xml"/>
  <Relationship Id="rId3"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image" Target="../media/image-2-1.png"/>
  <Relationship Id="rId2" Type="http://schemas.openxmlformats.org/officeDocument/2006/relationships/image" Target="../media/image-2-2.png"/>
  <Relationship Id="rId3" Type="http://schemas.openxmlformats.org/officeDocument/2006/relationships/image" Target="../media/image-2-3.png"/>
  <Relationship Id="rId4" Type="http://schemas.openxmlformats.org/officeDocument/2006/relationships/image" Target="../media/image-2-4.png"/>
  <Relationship Id="rId5" Type="http://schemas.openxmlformats.org/officeDocument/2006/relationships/image" Target="../media/image-2-5.png"/>
  <Relationship Id="rId6" Type="http://schemas.openxmlformats.org/officeDocument/2006/relationships/image" Target="../media/image-2-6.png"/>
  <Relationship Id="rId7" Type="http://schemas.openxmlformats.org/officeDocument/2006/relationships/slideLayout" Target="../slideLayouts/slideLayout1.xml"/>
  <Relationship Id="rId8"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image" Target="../media/image-4-1.png"/>
  <Relationship Id="rId2" Type="http://schemas.openxmlformats.org/officeDocument/2006/relationships/image" Target="../media/image-4-2.png"/>
  <Relationship Id="rId3" Type="http://schemas.openxmlformats.org/officeDocument/2006/relationships/image" Target="../media/image-4-3.png"/>
  <Relationship Id="rId4" Type="http://schemas.openxmlformats.org/officeDocument/2006/relationships/slideLayout" Target="../slideLayouts/slideLayout1.xml"/>
  <Relationship Id="rId5"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image" Target="../media/image-7-1.png"/>
  <Relationship Id="rId2" Type="http://schemas.openxmlformats.org/officeDocument/2006/relationships/image" Target="../media/image-7-2.png"/>
  <Relationship Id="rId3" Type="http://schemas.openxmlformats.org/officeDocument/2006/relationships/image" Target="../media/image-7-3.png"/>
  <Relationship Id="rId4" Type="http://schemas.openxmlformats.org/officeDocument/2006/relationships/image" Target="../media/image-7-4.png"/>
  <Relationship Id="rId5" Type="http://schemas.openxmlformats.org/officeDocument/2006/relationships/image" Target="../media/image-7-5.png"/>
  <Relationship Id="rId6" Type="http://schemas.openxmlformats.org/officeDocument/2006/relationships/slideLayout" Target="../slideLayouts/slideLayout1.xml"/>
  <Relationship Id="rId7"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image" Target="../media/image-8-1.png"/>
  <Relationship Id="rId2" Type="http://schemas.openxmlformats.org/officeDocument/2006/relationships/image" Target="../media/image-8-2.png"/>
  <Relationship Id="rId3" Type="http://schemas.openxmlformats.org/officeDocument/2006/relationships/image" Target="../media/image-8-3.png"/>
  <Relationship Id="rId4" Type="http://schemas.openxmlformats.org/officeDocument/2006/relationships/image" Target="../media/image-8-4.png"/>
  <Relationship Id="rId5" Type="http://schemas.openxmlformats.org/officeDocument/2006/relationships/slideLayout" Target="../slideLayouts/slideLayout1.xml"/>
  <Relationship Id="rId6"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image" Target="../media/image-10-1.png"/>
  <Relationship Id="rId2" Type="http://schemas.openxmlformats.org/officeDocument/2006/relationships/image" Target="../media/image-10-2.png"/>
  <Relationship Id="rId3" Type="http://schemas.openxmlformats.org/officeDocument/2006/relationships/image" Target="../media/image-10-3.png"/>
  <Relationship Id="rId4" Type="http://schemas.openxmlformats.org/officeDocument/2006/relationships/image" Target="../media/image-10-4.png"/>
  <Relationship Id="rId5" Type="http://schemas.openxmlformats.org/officeDocument/2006/relationships/image" Target="../media/image-10-5.png"/>
  <Relationship Id="rId6" Type="http://schemas.openxmlformats.org/officeDocument/2006/relationships/image" Target="../media/image-10-6.png"/>
  <Relationship Id="rId7" Type="http://schemas.openxmlformats.org/officeDocument/2006/relationships/image" Target="../media/image-10-7.png"/>
  <Relationship Id="rId8" Type="http://schemas.openxmlformats.org/officeDocument/2006/relationships/slideLayout" Target="../slideLayouts/slideLayout1.xml"/>
  <Relationship Id="rId9" Type="http://schemas.openxmlformats.org/officeDocument/2006/relationships/notesSlide" Target="../notesSlides/notesSlide10.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
  <Relationship Id="rId1" Type="http://schemas.openxmlformats.org/officeDocument/2006/relationships/image" Target="../media/image-12-1.png"/>
  <Relationship Id="rId2" Type="http://schemas.openxmlformats.org/officeDocument/2006/relationships/image" Target="../media/image-12-2.png"/>
  <Relationship Id="rId3" Type="http://schemas.openxmlformats.org/officeDocument/2006/relationships/image" Target="../media/image-12-3.png"/>
  <Relationship Id="rId4" Type="http://schemas.openxmlformats.org/officeDocument/2006/relationships/image" Target="../media/image-12-4.png"/>
  <Relationship Id="rId5" Type="http://schemas.openxmlformats.org/officeDocument/2006/relationships/image" Target="../media/image-12-5.png"/>
  <Relationship Id="rId6" Type="http://schemas.openxmlformats.org/officeDocument/2006/relationships/slideLayout" Target="../slideLayouts/slideLayout1.xml"/>
  <Relationship Id="rId7" Type="http://schemas.openxmlformats.org/officeDocument/2006/relationships/notesSlide" Target="../notesSlides/notesSlide12.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
  <Relationship Id="rId1" Type="http://schemas.openxmlformats.org/officeDocument/2006/relationships/image" Target="../media/image-15-1.png"/>
  <Relationship Id="rId2" Type="http://schemas.openxmlformats.org/officeDocument/2006/relationships/image" Target="../media/image-15-2.png"/>
  <Relationship Id="rId3" Type="http://schemas.openxmlformats.org/officeDocument/2006/relationships/image" Target="../media/image-15-3.png"/>
  <Relationship Id="rId4" Type="http://schemas.openxmlformats.org/officeDocument/2006/relationships/image" Target="../media/image-15-4.png"/>
  <Relationship Id="rId5" Type="http://schemas.openxmlformats.org/officeDocument/2006/relationships/slideLayout" Target="../slideLayouts/slideLayout1.xml"/>
  <Relationship Id="rId6" Type="http://schemas.openxmlformats.org/officeDocument/2006/relationships/notesSlide" Target="../notesSlides/notesSlide15.xml"/>
</Relationships>

</file>

<file path=ppt/slides/_rels/slide16.xml.rels><?xml version="1.0" encoding="utf-8"?>
<Relationships xmlns="http://schemas.openxmlformats.org/package/2006/relationships">
  <Relationship Id="rId1" Type="http://schemas.openxmlformats.org/officeDocument/2006/relationships/image" Target="../media/image-16-1.png"/>
  <Relationship Id="rId2" Type="http://schemas.openxmlformats.org/officeDocument/2006/relationships/image" Target="../media/image-16-2.png"/>
  <Relationship Id="rId3" Type="http://schemas.openxmlformats.org/officeDocument/2006/relationships/image" Target="../media/image-16-3.png"/>
  <Relationship Id="rId4" Type="http://schemas.openxmlformats.org/officeDocument/2006/relationships/image" Target="../media/image-16-4.png"/>
  <Relationship Id="rId5" Type="http://schemas.openxmlformats.org/officeDocument/2006/relationships/image" Target="../media/image-16-5.png"/>
  <Relationship Id="rId6" Type="http://schemas.openxmlformats.org/officeDocument/2006/relationships/image" Target="../media/image-16-6.png"/>
  <Relationship Id="rId7" Type="http://schemas.openxmlformats.org/officeDocument/2006/relationships/image" Target="../media/image-16-7.png"/>
  <Relationship Id="rId8" Type="http://schemas.openxmlformats.org/officeDocument/2006/relationships/image" Target="../media/image-16-8.png"/>
  <Relationship Id="rId9" Type="http://schemas.openxmlformats.org/officeDocument/2006/relationships/slideLayout" Target="../slideLayouts/slideLayout1.xml"/>
  <Relationship Id="rId10" Type="http://schemas.openxmlformats.org/officeDocument/2006/relationships/notesSlide" Target="../notesSlides/notesSlide16.xml"/>
</Relationships>

</file>

<file path=ppt/slides/_rels/slide17.xml.rels><?xml version="1.0" encoding="utf-8"?>
<Relationships xmlns="http://schemas.openxmlformats.org/package/2006/relationships">
  <Relationship Id="rId1" Type="http://schemas.openxmlformats.org/officeDocument/2006/relationships/image" Target="../media/image-17-1.png"/>
  <Relationship Id="rId2" Type="http://schemas.openxmlformats.org/officeDocument/2006/relationships/image" Target="../media/image-17-2.png"/>
  <Relationship Id="rId3" Type="http://schemas.openxmlformats.org/officeDocument/2006/relationships/image" Target="../media/image-17-3.png"/>
  <Relationship Id="rId4" Type="http://schemas.openxmlformats.org/officeDocument/2006/relationships/slideLayout" Target="../slideLayouts/slideLayout1.xml"/>
  <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
  <Relationship Id="rId1" Type="http://schemas.openxmlformats.org/officeDocument/2006/relationships/image" Target="../media/image-19-1.png"/>
  <Relationship Id="rId2" Type="http://schemas.openxmlformats.org/officeDocument/2006/relationships/image" Target="../media/image-19-2.png"/>
  <Relationship Id="rId3" Type="http://schemas.openxmlformats.org/officeDocument/2006/relationships/image" Target="../media/image-19-3.png"/>
  <Relationship Id="rId4" Type="http://schemas.openxmlformats.org/officeDocument/2006/relationships/image" Target="../media/image-19-4.png"/>
  <Relationship Id="rId5" Type="http://schemas.openxmlformats.org/officeDocument/2006/relationships/slideLayout" Target="../slideLayouts/slideLayout1.xml"/>
  <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
  <Relationship Id="rId1" Type="http://schemas.openxmlformats.org/officeDocument/2006/relationships/image" Target="../media/image-20-1.png"/>
  <Relationship Id="rId2" Type="http://schemas.openxmlformats.org/officeDocument/2006/relationships/slideLayout" Target="../slideLayouts/slideLayout1.xml"/>
  <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3429000" y="548640"/>
            <a:ext cx="2286000" cy="930704"/>
          </a:xfrm>
          <a:prstGeom prst="rect">
            <a:avLst/>
          </a:prstGeom>
        </p:spPr>
      </p:pic>
      <p:sp>
        <p:nvSpPr>
          <p:cNvPr id="3" name="Text 0"/>
          <p:cNvSpPr/>
          <p:nvPr/>
        </p:nvSpPr>
        <p:spPr>
          <a:xfrm>
            <a:off x="457200" y="1828800"/>
            <a:ext cx="8229600" cy="73152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ENS en optimTech</a:t>
            </a:r>
            <a:endParaRPr lang="en-US" sz="4000" dirty="0"/>
          </a:p>
        </p:txBody>
      </p:sp>
      <p:sp>
        <p:nvSpPr>
          <p:cNvPr id="4" name="Text 1"/>
          <p:cNvSpPr/>
          <p:nvPr/>
        </p:nvSpPr>
        <p:spPr>
          <a:xfrm>
            <a:off x="457200" y="2560320"/>
            <a:ext cx="82296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Esquema Nacional de Seguridad — Presentacion al Equipo</a:t>
            </a:r>
            <a:endParaRPr lang="en-US" sz="1600" dirty="0"/>
          </a:p>
        </p:txBody>
      </p:sp>
      <p:sp>
        <p:nvSpPr>
          <p:cNvPr id="5" name="Text 2"/>
          <p:cNvSpPr/>
          <p:nvPr/>
        </p:nvSpPr>
        <p:spPr>
          <a:xfrm>
            <a:off x="457200" y="3291840"/>
            <a:ext cx="8229600" cy="365760"/>
          </a:xfrm>
          <a:prstGeom prst="rect">
            <a:avLst/>
          </a:prstGeom>
          <a:noFill/>
          <a:ln/>
        </p:spPr>
        <p:txBody>
          <a:bodyPr wrap="square"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Marzo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548640" y="365760"/>
            <a:ext cx="45720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Mensaje del CTO</a:t>
            </a:r>
            <a:endParaRPr lang="en-US" sz="2800" dirty="0"/>
          </a:p>
        </p:txBody>
      </p:sp>
      <p:sp>
        <p:nvSpPr>
          <p:cNvPr id="3" name="Shape 1"/>
          <p:cNvSpPr/>
          <p:nvPr/>
        </p:nvSpPr>
        <p:spPr>
          <a:xfrm>
            <a:off x="594360" y="1463040"/>
            <a:ext cx="2468880" cy="2560320"/>
          </a:xfrm>
          <a:prstGeom prst="roundRect">
            <a:avLst>
              <a:gd name="adj" fmla="val 3704"/>
            </a:avLst>
          </a:prstGeom>
          <a:solidFill>
            <a:srgbClr val="FFFFFF">
              <a:alpha val="10000"/>
            </a:srgbClr>
          </a:solidFill>
          <a:ln w="6350">
            <a:solidFill>
              <a:srgbClr val="FFFFFF">
                <a:alpha val="20000"/>
              </a:srgbClr>
            </a:solidFill>
            <a:prstDash val="solid"/>
          </a:ln>
        </p:spPr>
      </p:sp>
      <p:pic>
        <p:nvPicPr>
          <p:cNvPr id="4" name="Image 0" descr="preencoded.png"/>
          <p:cNvPicPr>
            <a:picLocks noChangeAspect="1"/>
          </p:cNvPicPr>
          <p:nvPr/>
        </p:nvPicPr>
        <p:blipFill>
          <a:blip r:embed="rId1"/>
          <a:stretch>
            <a:fillRect/>
          </a:stretch>
        </p:blipFill>
        <p:spPr>
          <a:xfrm>
            <a:off x="1554480" y="1920240"/>
            <a:ext cx="548640" cy="548640"/>
          </a:xfrm>
          <a:prstGeom prst="rect">
            <a:avLst/>
          </a:prstGeom>
        </p:spPr>
      </p:pic>
      <p:sp>
        <p:nvSpPr>
          <p:cNvPr id="5" name="Shape 2"/>
          <p:cNvSpPr/>
          <p:nvPr/>
        </p:nvSpPr>
        <p:spPr>
          <a:xfrm>
            <a:off x="1417320" y="1783080"/>
            <a:ext cx="822960" cy="822960"/>
          </a:xfrm>
          <a:prstGeom prst="ellipse">
            <a:avLst/>
          </a:prstGeom>
          <a:solidFill>
            <a:srgbClr val="0D9A76">
              <a:alpha val="30000"/>
            </a:srgbClr>
          </a:solidFill>
          <a:ln/>
        </p:spPr>
      </p:sp>
      <p:pic>
        <p:nvPicPr>
          <p:cNvPr id="6" name="Image 1" descr="preencoded.png"/>
          <p:cNvPicPr>
            <a:picLocks noChangeAspect="1"/>
          </p:cNvPicPr>
          <p:nvPr/>
        </p:nvPicPr>
        <p:blipFill>
          <a:blip r:embed="rId2"/>
          <a:stretch>
            <a:fillRect/>
          </a:stretch>
        </p:blipFill>
        <p:spPr>
          <a:xfrm>
            <a:off x="1600200" y="1965960"/>
            <a:ext cx="457200" cy="457200"/>
          </a:xfrm>
          <a:prstGeom prst="rect">
            <a:avLst/>
          </a:prstGeom>
        </p:spPr>
      </p:pic>
      <p:sp>
        <p:nvSpPr>
          <p:cNvPr id="7" name="Text 3"/>
          <p:cNvSpPr/>
          <p:nvPr/>
        </p:nvSpPr>
        <p:spPr>
          <a:xfrm>
            <a:off x="777240" y="2834640"/>
            <a:ext cx="2103120" cy="914400"/>
          </a:xfrm>
          <a:prstGeom prst="rect">
            <a:avLst/>
          </a:prstGeom>
          <a:noFill/>
          <a:ln/>
        </p:spPr>
        <p:txBody>
          <a:bodyPr wrap="square"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La seguridad es responsabilidad de TODOS</a:t>
            </a:r>
            <a:endParaRPr lang="en-US" sz="1400" dirty="0"/>
          </a:p>
        </p:txBody>
      </p:sp>
      <p:sp>
        <p:nvSpPr>
          <p:cNvPr id="8" name="Shape 4"/>
          <p:cNvSpPr/>
          <p:nvPr/>
        </p:nvSpPr>
        <p:spPr>
          <a:xfrm>
            <a:off x="3337560" y="1463040"/>
            <a:ext cx="2468880" cy="2560320"/>
          </a:xfrm>
          <a:prstGeom prst="roundRect">
            <a:avLst>
              <a:gd name="adj" fmla="val 3704"/>
            </a:avLst>
          </a:prstGeom>
          <a:solidFill>
            <a:srgbClr val="FFFFFF">
              <a:alpha val="10000"/>
            </a:srgbClr>
          </a:solidFill>
          <a:ln w="6350">
            <a:solidFill>
              <a:srgbClr val="FFFFFF">
                <a:alpha val="20000"/>
              </a:srgbClr>
            </a:solidFill>
            <a:prstDash val="solid"/>
          </a:ln>
        </p:spPr>
      </p:sp>
      <p:pic>
        <p:nvPicPr>
          <p:cNvPr id="9" name="Image 2" descr="preencoded.png"/>
          <p:cNvPicPr>
            <a:picLocks noChangeAspect="1"/>
          </p:cNvPicPr>
          <p:nvPr/>
        </p:nvPicPr>
        <p:blipFill>
          <a:blip r:embed="rId3"/>
          <a:stretch>
            <a:fillRect/>
          </a:stretch>
        </p:blipFill>
        <p:spPr>
          <a:xfrm>
            <a:off x="4297680" y="1920240"/>
            <a:ext cx="548640" cy="548640"/>
          </a:xfrm>
          <a:prstGeom prst="rect">
            <a:avLst/>
          </a:prstGeom>
        </p:spPr>
      </p:pic>
      <p:sp>
        <p:nvSpPr>
          <p:cNvPr id="10" name="Shape 5"/>
          <p:cNvSpPr/>
          <p:nvPr/>
        </p:nvSpPr>
        <p:spPr>
          <a:xfrm>
            <a:off x="4160520" y="1783080"/>
            <a:ext cx="822960" cy="822960"/>
          </a:xfrm>
          <a:prstGeom prst="ellipse">
            <a:avLst/>
          </a:prstGeom>
          <a:solidFill>
            <a:srgbClr val="0D9A76">
              <a:alpha val="30000"/>
            </a:srgbClr>
          </a:solidFill>
          <a:ln/>
        </p:spPr>
      </p:sp>
      <p:pic>
        <p:nvPicPr>
          <p:cNvPr id="11" name="Image 3" descr="preencoded.png"/>
          <p:cNvPicPr>
            <a:picLocks noChangeAspect="1"/>
          </p:cNvPicPr>
          <p:nvPr/>
        </p:nvPicPr>
        <p:blipFill>
          <a:blip r:embed="rId4"/>
          <a:stretch>
            <a:fillRect/>
          </a:stretch>
        </p:blipFill>
        <p:spPr>
          <a:xfrm>
            <a:off x="4343400" y="1965960"/>
            <a:ext cx="457200" cy="457200"/>
          </a:xfrm>
          <a:prstGeom prst="rect">
            <a:avLst/>
          </a:prstGeom>
        </p:spPr>
      </p:pic>
      <p:sp>
        <p:nvSpPr>
          <p:cNvPr id="12" name="Text 6"/>
          <p:cNvSpPr/>
          <p:nvPr/>
        </p:nvSpPr>
        <p:spPr>
          <a:xfrm>
            <a:off x="3520440" y="2834640"/>
            <a:ext cx="2103120" cy="914400"/>
          </a:xfrm>
          <a:prstGeom prst="rect">
            <a:avLst/>
          </a:prstGeom>
          <a:noFill/>
          <a:ln/>
        </p:spPr>
        <p:txBody>
          <a:bodyPr wrap="square"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Estamos certificados y debemos mantenerlo</a:t>
            </a:r>
            <a:endParaRPr lang="en-US" sz="1400" dirty="0"/>
          </a:p>
        </p:txBody>
      </p:sp>
      <p:sp>
        <p:nvSpPr>
          <p:cNvPr id="13" name="Shape 7"/>
          <p:cNvSpPr/>
          <p:nvPr/>
        </p:nvSpPr>
        <p:spPr>
          <a:xfrm>
            <a:off x="6080760" y="1463040"/>
            <a:ext cx="2468880" cy="2560320"/>
          </a:xfrm>
          <a:prstGeom prst="roundRect">
            <a:avLst>
              <a:gd name="adj" fmla="val 3704"/>
            </a:avLst>
          </a:prstGeom>
          <a:solidFill>
            <a:srgbClr val="FFFFFF">
              <a:alpha val="10000"/>
            </a:srgbClr>
          </a:solidFill>
          <a:ln w="6350">
            <a:solidFill>
              <a:srgbClr val="FFFFFF">
                <a:alpha val="20000"/>
              </a:srgbClr>
            </a:solidFill>
            <a:prstDash val="solid"/>
          </a:ln>
        </p:spPr>
      </p:sp>
      <p:pic>
        <p:nvPicPr>
          <p:cNvPr id="14" name="Image 4" descr="preencoded.png"/>
          <p:cNvPicPr>
            <a:picLocks noChangeAspect="1"/>
          </p:cNvPicPr>
          <p:nvPr/>
        </p:nvPicPr>
        <p:blipFill>
          <a:blip r:embed="rId5"/>
          <a:stretch>
            <a:fillRect/>
          </a:stretch>
        </p:blipFill>
        <p:spPr>
          <a:xfrm>
            <a:off x="7040880" y="1920240"/>
            <a:ext cx="548640" cy="548640"/>
          </a:xfrm>
          <a:prstGeom prst="rect">
            <a:avLst/>
          </a:prstGeom>
        </p:spPr>
      </p:pic>
      <p:sp>
        <p:nvSpPr>
          <p:cNvPr id="15" name="Shape 8"/>
          <p:cNvSpPr/>
          <p:nvPr/>
        </p:nvSpPr>
        <p:spPr>
          <a:xfrm>
            <a:off x="6903720" y="1783080"/>
            <a:ext cx="822960" cy="822960"/>
          </a:xfrm>
          <a:prstGeom prst="ellipse">
            <a:avLst/>
          </a:prstGeom>
          <a:solidFill>
            <a:srgbClr val="0D9A76">
              <a:alpha val="30000"/>
            </a:srgbClr>
          </a:solidFill>
          <a:ln/>
        </p:spPr>
      </p:sp>
      <p:pic>
        <p:nvPicPr>
          <p:cNvPr id="16" name="Image 5" descr="preencoded.png"/>
          <p:cNvPicPr>
            <a:picLocks noChangeAspect="1"/>
          </p:cNvPicPr>
          <p:nvPr/>
        </p:nvPicPr>
        <p:blipFill>
          <a:blip r:embed="rId6"/>
          <a:stretch>
            <a:fillRect/>
          </a:stretch>
        </p:blipFill>
        <p:spPr>
          <a:xfrm>
            <a:off x="7086600" y="1965960"/>
            <a:ext cx="457200" cy="457200"/>
          </a:xfrm>
          <a:prstGeom prst="rect">
            <a:avLst/>
          </a:prstGeom>
        </p:spPr>
      </p:pic>
      <p:sp>
        <p:nvSpPr>
          <p:cNvPr id="17" name="Text 9"/>
          <p:cNvSpPr/>
          <p:nvPr/>
        </p:nvSpPr>
        <p:spPr>
          <a:xfrm>
            <a:off x="6263640" y="2834640"/>
            <a:ext cx="2103120" cy="914400"/>
          </a:xfrm>
          <a:prstGeom prst="rect">
            <a:avLst/>
          </a:prstGeom>
          <a:noFill/>
          <a:ln/>
        </p:spPr>
        <p:txBody>
          <a:bodyPr wrap="square"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Protegemos a nuestros clientes y a nosotros mismos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Que es el ENS?</a:t>
            </a:r>
            <a:endParaRPr lang="en-US" sz="2200" dirty="0"/>
          </a:p>
        </p:txBody>
      </p:sp>
      <p:sp>
        <p:nvSpPr>
          <p:cNvPr id="3" name="Text 1"/>
          <p:cNvSpPr/>
          <p:nvPr/>
        </p:nvSpPr>
        <p:spPr>
          <a:xfrm>
            <a:off x="548640" y="914400"/>
            <a:ext cx="475488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Real Decreto 311/2022 — Marco legal obligatorio</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Garantiza la seguridad de la informacion en el sector publico</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Aplica a la administracion publica y a sus proveedores tecnologicos</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Define 3 categorias de sistemas: Basica, Media y Alta</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Se complementa con las guias CCN-STIC del CCN</a:t>
            </a:r>
            <a:endParaRPr lang="en-US" sz="1300" dirty="0"/>
          </a:p>
        </p:txBody>
      </p:sp>
      <p:sp>
        <p:nvSpPr>
          <p:cNvPr id="4" name="Shape 2"/>
          <p:cNvSpPr/>
          <p:nvPr/>
        </p:nvSpPr>
        <p:spPr>
          <a:xfrm>
            <a:off x="5760720" y="914400"/>
            <a:ext cx="2926080" cy="1371600"/>
          </a:xfrm>
          <a:prstGeom prst="roundRect">
            <a:avLst>
              <a:gd name="adj" fmla="val 5333"/>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5760720" y="914400"/>
            <a:ext cx="54864" cy="1371600"/>
          </a:xfrm>
          <a:prstGeom prst="rect">
            <a:avLst>
              <a:gd name="adj" fmla="val 50000"/>
            </a:avLst>
          </a:prstGeom>
          <a:solidFill>
            <a:srgbClr val="0D9A76"/>
          </a:solidFill>
          <a:ln/>
        </p:spPr>
      </p:sp>
      <p:sp>
        <p:nvSpPr>
          <p:cNvPr id="6" name="Text 4"/>
          <p:cNvSpPr/>
          <p:nvPr/>
        </p:nvSpPr>
        <p:spPr>
          <a:xfrm>
            <a:off x="5943600" y="1005840"/>
            <a:ext cx="2560320" cy="548640"/>
          </a:xfrm>
          <a:prstGeom prst="rect">
            <a:avLst/>
          </a:prstGeom>
          <a:noFill/>
          <a:ln/>
        </p:spPr>
        <p:txBody>
          <a:bodyPr wrap="square" lIns="0" tIns="0" rIns="0" bIns="0" rtlCol="0" anchor="ctr"/>
          <a:lstStyle/>
          <a:p>
            <a:pPr algn="ctr" indent="0" marL="0">
              <a:buNone/>
            </a:pPr>
            <a:r>
              <a:rPr lang="en-US" sz="2400" b="1" dirty="0">
                <a:solidFill>
                  <a:srgbClr val="0D9A76"/>
                </a:solidFill>
                <a:latin typeface="Calibri" pitchFamily="34" charset="0"/>
                <a:ea typeface="Calibri" pitchFamily="34" charset="-122"/>
                <a:cs typeface="Calibri" pitchFamily="34" charset="-120"/>
              </a:rPr>
              <a:t>RD 311/2022</a:t>
            </a:r>
            <a:endParaRPr lang="en-US" sz="2400" dirty="0"/>
          </a:p>
        </p:txBody>
      </p:sp>
      <p:sp>
        <p:nvSpPr>
          <p:cNvPr id="7" name="Text 5"/>
          <p:cNvSpPr/>
          <p:nvPr/>
        </p:nvSpPr>
        <p:spPr>
          <a:xfrm>
            <a:off x="5943600" y="1554480"/>
            <a:ext cx="2560320" cy="365760"/>
          </a:xfrm>
          <a:prstGeom prst="rect">
            <a:avLst/>
          </a:prstGeom>
          <a:noFill/>
          <a:ln/>
        </p:spPr>
        <p:txBody>
          <a:bodyPr wrap="square" lIns="0" tIns="0" rIns="0" bIns="0"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Marco legal de seguridad</a:t>
            </a:r>
            <a:endParaRPr lang="en-US" sz="1200" dirty="0"/>
          </a:p>
        </p:txBody>
      </p:sp>
      <p:sp>
        <p:nvSpPr>
          <p:cNvPr id="8" name="Shape 6"/>
          <p:cNvSpPr/>
          <p:nvPr/>
        </p:nvSpPr>
        <p:spPr>
          <a:xfrm>
            <a:off x="5760720" y="2560320"/>
            <a:ext cx="2926080" cy="1371600"/>
          </a:xfrm>
          <a:prstGeom prst="roundRect">
            <a:avLst>
              <a:gd name="adj" fmla="val 5333"/>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5760720" y="2560320"/>
            <a:ext cx="54864" cy="1371600"/>
          </a:xfrm>
          <a:prstGeom prst="rect">
            <a:avLst>
              <a:gd name="adj" fmla="val 50000"/>
            </a:avLst>
          </a:prstGeom>
          <a:solidFill>
            <a:srgbClr val="0D9A76"/>
          </a:solidFill>
          <a:ln/>
        </p:spPr>
      </p:sp>
      <p:sp>
        <p:nvSpPr>
          <p:cNvPr id="10" name="Text 8"/>
          <p:cNvSpPr/>
          <p:nvPr/>
        </p:nvSpPr>
        <p:spPr>
          <a:xfrm>
            <a:off x="5943600" y="2651760"/>
            <a:ext cx="2560320" cy="548640"/>
          </a:xfrm>
          <a:prstGeom prst="rect">
            <a:avLst/>
          </a:prstGeom>
          <a:noFill/>
          <a:ln/>
        </p:spPr>
        <p:txBody>
          <a:bodyPr wrap="square" lIns="0" tIns="0" rIns="0" bIns="0" rtlCol="0" anchor="ctr"/>
          <a:lstStyle/>
          <a:p>
            <a:pPr algn="ctr" indent="0" marL="0">
              <a:buNone/>
            </a:pPr>
            <a:r>
              <a:rPr lang="en-US" sz="2000" b="1" dirty="0">
                <a:solidFill>
                  <a:srgbClr val="0D9A76"/>
                </a:solidFill>
                <a:latin typeface="Calibri" pitchFamily="34" charset="0"/>
                <a:ea typeface="Calibri" pitchFamily="34" charset="-122"/>
                <a:cs typeface="Calibri" pitchFamily="34" charset="-120"/>
              </a:rPr>
              <a:t>3 Categorias</a:t>
            </a:r>
            <a:endParaRPr lang="en-US" sz="2000" dirty="0"/>
          </a:p>
        </p:txBody>
      </p:sp>
      <p:sp>
        <p:nvSpPr>
          <p:cNvPr id="11" name="Text 9"/>
          <p:cNvSpPr/>
          <p:nvPr/>
        </p:nvSpPr>
        <p:spPr>
          <a:xfrm>
            <a:off x="5943600" y="3200400"/>
            <a:ext cx="2560320" cy="365760"/>
          </a:xfrm>
          <a:prstGeom prst="rect">
            <a:avLst/>
          </a:prstGeom>
          <a:noFill/>
          <a:ln/>
        </p:spPr>
        <p:txBody>
          <a:bodyPr wrap="square" lIns="0" tIns="0" rIns="0" bIns="0" rtlCol="0" anchor="ctr"/>
          <a:lstStyle/>
          <a:p>
            <a:pPr algn="ctr" indent="0" marL="0">
              <a:buNone/>
            </a:pPr>
            <a:r>
              <a:rPr lang="en-US" sz="1200" dirty="0">
                <a:solidFill>
                  <a:srgbClr val="6B7B8D"/>
                </a:solidFill>
                <a:latin typeface="Calibri" pitchFamily="34" charset="0"/>
                <a:ea typeface="Calibri" pitchFamily="34" charset="-122"/>
                <a:cs typeface="Calibri" pitchFamily="34" charset="-120"/>
              </a:rPr>
              <a:t>Basica | Media | Alta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Por que optimTech esta certificado?</a:t>
            </a:r>
            <a:endParaRPr lang="en-US" sz="2200" dirty="0"/>
          </a:p>
        </p:txBody>
      </p:sp>
      <p:sp>
        <p:nvSpPr>
          <p:cNvPr id="3" name="Shape 1"/>
          <p:cNvSpPr/>
          <p:nvPr/>
        </p:nvSpPr>
        <p:spPr>
          <a:xfrm>
            <a:off x="548640" y="1097280"/>
            <a:ext cx="2468880" cy="2926080"/>
          </a:xfrm>
          <a:prstGeom prst="roundRect">
            <a:avLst>
              <a:gd name="adj" fmla="val 2963"/>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548640" y="1097280"/>
            <a:ext cx="54864" cy="2926080"/>
          </a:xfrm>
          <a:prstGeom prst="rect">
            <a:avLst>
              <a:gd name="adj" fmla="val 50000"/>
            </a:avLst>
          </a:prstGeom>
          <a:solidFill>
            <a:srgbClr val="0D9A76"/>
          </a:solidFill>
          <a:ln/>
        </p:spPr>
      </p:sp>
      <p:sp>
        <p:nvSpPr>
          <p:cNvPr id="5" name="Shape 3"/>
          <p:cNvSpPr/>
          <p:nvPr/>
        </p:nvSpPr>
        <p:spPr>
          <a:xfrm>
            <a:off x="1463040" y="1371600"/>
            <a:ext cx="640080" cy="640080"/>
          </a:xfrm>
          <a:prstGeom prst="ellipse">
            <a:avLst/>
          </a:prstGeom>
          <a:solidFill>
            <a:srgbClr val="D1FBF0"/>
          </a:solidFill>
          <a:ln/>
        </p:spPr>
      </p:sp>
      <p:pic>
        <p:nvPicPr>
          <p:cNvPr id="6" name="Image 0" descr="preencoded.png"/>
          <p:cNvPicPr>
            <a:picLocks noChangeAspect="1"/>
          </p:cNvPicPr>
          <p:nvPr/>
        </p:nvPicPr>
        <p:blipFill>
          <a:blip r:embed="rId1"/>
          <a:stretch>
            <a:fillRect/>
          </a:stretch>
        </p:blipFill>
        <p:spPr>
          <a:xfrm>
            <a:off x="1600200" y="1508760"/>
            <a:ext cx="365760" cy="365760"/>
          </a:xfrm>
          <a:prstGeom prst="rect">
            <a:avLst/>
          </a:prstGeom>
        </p:spPr>
      </p:pic>
      <p:sp>
        <p:nvSpPr>
          <p:cNvPr id="7" name="Text 4"/>
          <p:cNvSpPr/>
          <p:nvPr/>
        </p:nvSpPr>
        <p:spPr>
          <a:xfrm>
            <a:off x="685800" y="2194560"/>
            <a:ext cx="2194560" cy="365760"/>
          </a:xfrm>
          <a:prstGeom prst="rect">
            <a:avLst/>
          </a:prstGeom>
          <a:noFill/>
          <a:ln/>
        </p:spPr>
        <p:txBody>
          <a:bodyPr wrap="square" lIns="0" tIns="0" rIns="0" bIns="0" rtlCol="0" anchor="ctr"/>
          <a:lstStyle/>
          <a:p>
            <a:pPr algn="ctr" indent="0" marL="0">
              <a:buNone/>
            </a:pPr>
            <a:r>
              <a:rPr lang="en-US" sz="1500" b="1" dirty="0">
                <a:solidFill>
                  <a:srgbClr val="2D3748"/>
                </a:solidFill>
                <a:latin typeface="Calibri" pitchFamily="34" charset="0"/>
                <a:ea typeface="Calibri" pitchFamily="34" charset="-122"/>
                <a:cs typeface="Calibri" pitchFamily="34" charset="-120"/>
              </a:rPr>
              <a:t>Sector Publico</a:t>
            </a:r>
            <a:endParaRPr lang="en-US" sz="1500" dirty="0"/>
          </a:p>
        </p:txBody>
      </p:sp>
      <p:sp>
        <p:nvSpPr>
          <p:cNvPr id="8" name="Text 5"/>
          <p:cNvSpPr/>
          <p:nvPr/>
        </p:nvSpPr>
        <p:spPr>
          <a:xfrm>
            <a:off x="731520" y="2651760"/>
            <a:ext cx="2103120" cy="1097280"/>
          </a:xfrm>
          <a:prstGeom prst="rect">
            <a:avLst/>
          </a:prstGeom>
          <a:noFill/>
          <a:ln/>
        </p:spPr>
        <p:txBody>
          <a:bodyPr wrap="square" lIns="0" tIns="0" rIns="0" bIns="0" rtlCol="0" anchor="t"/>
          <a:lstStyle/>
          <a:p>
            <a:pPr algn="ctr" indent="0" marL="0">
              <a:buNone/>
            </a:pPr>
            <a:r>
              <a:rPr lang="en-US" sz="1200" dirty="0">
                <a:solidFill>
                  <a:srgbClr val="6B7B8D"/>
                </a:solidFill>
                <a:latin typeface="Calibri" pitchFamily="34" charset="0"/>
                <a:ea typeface="Calibri" pitchFamily="34" charset="-122"/>
                <a:cs typeface="Calibri" pitchFamily="34" charset="-120"/>
              </a:rPr>
              <a:t>Prestamos servicios a la administracion publica y sectores regulados</a:t>
            </a:r>
            <a:endParaRPr lang="en-US" sz="1200" dirty="0"/>
          </a:p>
        </p:txBody>
      </p:sp>
      <p:sp>
        <p:nvSpPr>
          <p:cNvPr id="9" name="Shape 6"/>
          <p:cNvSpPr/>
          <p:nvPr/>
        </p:nvSpPr>
        <p:spPr>
          <a:xfrm>
            <a:off x="3337560" y="1097280"/>
            <a:ext cx="2468880" cy="2926080"/>
          </a:xfrm>
          <a:prstGeom prst="roundRect">
            <a:avLst>
              <a:gd name="adj" fmla="val 2963"/>
            </a:avLst>
          </a:prstGeom>
          <a:solidFill>
            <a:srgbClr val="FFFFFF"/>
          </a:solidFill>
          <a:ln/>
          <a:effectLst>
            <a:outerShdw sx="100000" sy="100000" kx="0" ky="0" algn="bl" rotWithShape="0" blurRad="50800" dist="25400" dir="8100000">
              <a:srgbClr val="000000">
                <a:alpha val="10000"/>
              </a:srgbClr>
            </a:outerShdw>
          </a:effectLst>
        </p:spPr>
      </p:sp>
      <p:sp>
        <p:nvSpPr>
          <p:cNvPr id="10" name="Shape 7"/>
          <p:cNvSpPr/>
          <p:nvPr/>
        </p:nvSpPr>
        <p:spPr>
          <a:xfrm>
            <a:off x="3337560" y="1097280"/>
            <a:ext cx="54864" cy="2926080"/>
          </a:xfrm>
          <a:prstGeom prst="rect">
            <a:avLst>
              <a:gd name="adj" fmla="val 50000"/>
            </a:avLst>
          </a:prstGeom>
          <a:solidFill>
            <a:srgbClr val="0D9A76"/>
          </a:solidFill>
          <a:ln/>
        </p:spPr>
      </p:sp>
      <p:sp>
        <p:nvSpPr>
          <p:cNvPr id="11" name="Shape 8"/>
          <p:cNvSpPr/>
          <p:nvPr/>
        </p:nvSpPr>
        <p:spPr>
          <a:xfrm>
            <a:off x="4251960" y="1371600"/>
            <a:ext cx="640080" cy="640080"/>
          </a:xfrm>
          <a:prstGeom prst="ellipse">
            <a:avLst/>
          </a:prstGeom>
          <a:solidFill>
            <a:srgbClr val="D1FBF0"/>
          </a:solidFill>
          <a:ln/>
        </p:spPr>
      </p:sp>
      <p:pic>
        <p:nvPicPr>
          <p:cNvPr id="12" name="Image 1" descr="preencoded.png"/>
          <p:cNvPicPr>
            <a:picLocks noChangeAspect="1"/>
          </p:cNvPicPr>
          <p:nvPr/>
        </p:nvPicPr>
        <p:blipFill>
          <a:blip r:embed="rId2"/>
          <a:stretch>
            <a:fillRect/>
          </a:stretch>
        </p:blipFill>
        <p:spPr>
          <a:xfrm>
            <a:off x="4389120" y="1508760"/>
            <a:ext cx="365760" cy="365760"/>
          </a:xfrm>
          <a:prstGeom prst="rect">
            <a:avLst/>
          </a:prstGeom>
        </p:spPr>
      </p:pic>
      <p:sp>
        <p:nvSpPr>
          <p:cNvPr id="13" name="Text 9"/>
          <p:cNvSpPr/>
          <p:nvPr/>
        </p:nvSpPr>
        <p:spPr>
          <a:xfrm>
            <a:off x="3474720" y="2194560"/>
            <a:ext cx="2194560" cy="365760"/>
          </a:xfrm>
          <a:prstGeom prst="rect">
            <a:avLst/>
          </a:prstGeom>
          <a:noFill/>
          <a:ln/>
        </p:spPr>
        <p:txBody>
          <a:bodyPr wrap="square" lIns="0" tIns="0" rIns="0" bIns="0" rtlCol="0" anchor="ctr"/>
          <a:lstStyle/>
          <a:p>
            <a:pPr algn="ctr" indent="0" marL="0">
              <a:buNone/>
            </a:pPr>
            <a:r>
              <a:rPr lang="en-US" sz="1500" b="1" dirty="0">
                <a:solidFill>
                  <a:srgbClr val="2D3748"/>
                </a:solidFill>
                <a:latin typeface="Calibri" pitchFamily="34" charset="0"/>
                <a:ea typeface="Calibri" pitchFamily="34" charset="-122"/>
                <a:cs typeface="Calibri" pitchFamily="34" charset="-120"/>
              </a:rPr>
              <a:t>Ventaja Competitiva</a:t>
            </a:r>
            <a:endParaRPr lang="en-US" sz="1500" dirty="0"/>
          </a:p>
        </p:txBody>
      </p:sp>
      <p:sp>
        <p:nvSpPr>
          <p:cNvPr id="14" name="Text 10"/>
          <p:cNvSpPr/>
          <p:nvPr/>
        </p:nvSpPr>
        <p:spPr>
          <a:xfrm>
            <a:off x="3520440" y="2651760"/>
            <a:ext cx="2103120" cy="1097280"/>
          </a:xfrm>
          <a:prstGeom prst="rect">
            <a:avLst/>
          </a:prstGeom>
          <a:noFill/>
          <a:ln/>
        </p:spPr>
        <p:txBody>
          <a:bodyPr wrap="square" lIns="0" tIns="0" rIns="0" bIns="0" rtlCol="0" anchor="t"/>
          <a:lstStyle/>
          <a:p>
            <a:pPr algn="ctr" indent="0" marL="0">
              <a:buNone/>
            </a:pPr>
            <a:r>
              <a:rPr lang="en-US" sz="1200" dirty="0">
                <a:solidFill>
                  <a:srgbClr val="6B7B8D"/>
                </a:solidFill>
                <a:latin typeface="Calibri" pitchFamily="34" charset="0"/>
                <a:ea typeface="Calibri" pitchFamily="34" charset="-122"/>
                <a:cs typeface="Calibri" pitchFamily="34" charset="-120"/>
              </a:rPr>
              <a:t>Demuestra nuestro compromiso con la seguridad ante el mercado</a:t>
            </a:r>
            <a:endParaRPr lang="en-US" sz="1200" dirty="0"/>
          </a:p>
        </p:txBody>
      </p:sp>
      <p:sp>
        <p:nvSpPr>
          <p:cNvPr id="15" name="Shape 11"/>
          <p:cNvSpPr/>
          <p:nvPr/>
        </p:nvSpPr>
        <p:spPr>
          <a:xfrm>
            <a:off x="6126480" y="1097280"/>
            <a:ext cx="2468880" cy="2926080"/>
          </a:xfrm>
          <a:prstGeom prst="roundRect">
            <a:avLst>
              <a:gd name="adj" fmla="val 2963"/>
            </a:avLst>
          </a:prstGeom>
          <a:solidFill>
            <a:srgbClr val="FFFFFF"/>
          </a:solidFill>
          <a:ln/>
          <a:effectLst>
            <a:outerShdw sx="100000" sy="100000" kx="0" ky="0" algn="bl" rotWithShape="0" blurRad="50800" dist="25400" dir="8100000">
              <a:srgbClr val="000000">
                <a:alpha val="10000"/>
              </a:srgbClr>
            </a:outerShdw>
          </a:effectLst>
        </p:spPr>
      </p:sp>
      <p:sp>
        <p:nvSpPr>
          <p:cNvPr id="16" name="Shape 12"/>
          <p:cNvSpPr/>
          <p:nvPr/>
        </p:nvSpPr>
        <p:spPr>
          <a:xfrm>
            <a:off x="6126480" y="1097280"/>
            <a:ext cx="54864" cy="2926080"/>
          </a:xfrm>
          <a:prstGeom prst="rect">
            <a:avLst>
              <a:gd name="adj" fmla="val 50000"/>
            </a:avLst>
          </a:prstGeom>
          <a:solidFill>
            <a:srgbClr val="0D9A76"/>
          </a:solidFill>
          <a:ln/>
        </p:spPr>
      </p:sp>
      <p:sp>
        <p:nvSpPr>
          <p:cNvPr id="17" name="Shape 13"/>
          <p:cNvSpPr/>
          <p:nvPr/>
        </p:nvSpPr>
        <p:spPr>
          <a:xfrm>
            <a:off x="7040880" y="1371600"/>
            <a:ext cx="640080" cy="640080"/>
          </a:xfrm>
          <a:prstGeom prst="ellipse">
            <a:avLst/>
          </a:prstGeom>
          <a:solidFill>
            <a:srgbClr val="D1FBF0"/>
          </a:solidFill>
          <a:ln/>
        </p:spPr>
      </p:sp>
      <p:pic>
        <p:nvPicPr>
          <p:cNvPr id="18" name="Image 2" descr="preencoded.png"/>
          <p:cNvPicPr>
            <a:picLocks noChangeAspect="1"/>
          </p:cNvPicPr>
          <p:nvPr/>
        </p:nvPicPr>
        <p:blipFill>
          <a:blip r:embed="rId3"/>
          <a:stretch>
            <a:fillRect/>
          </a:stretch>
        </p:blipFill>
        <p:spPr>
          <a:xfrm>
            <a:off x="7178040" y="1508760"/>
            <a:ext cx="365760" cy="365760"/>
          </a:xfrm>
          <a:prstGeom prst="rect">
            <a:avLst/>
          </a:prstGeom>
        </p:spPr>
      </p:pic>
      <p:sp>
        <p:nvSpPr>
          <p:cNvPr id="19" name="Text 14"/>
          <p:cNvSpPr/>
          <p:nvPr/>
        </p:nvSpPr>
        <p:spPr>
          <a:xfrm>
            <a:off x="6263640" y="2194560"/>
            <a:ext cx="2194560" cy="365760"/>
          </a:xfrm>
          <a:prstGeom prst="rect">
            <a:avLst/>
          </a:prstGeom>
          <a:noFill/>
          <a:ln/>
        </p:spPr>
        <p:txBody>
          <a:bodyPr wrap="square" lIns="0" tIns="0" rIns="0" bIns="0" rtlCol="0" anchor="ctr"/>
          <a:lstStyle/>
          <a:p>
            <a:pPr algn="ctr" indent="0" marL="0">
              <a:buNone/>
            </a:pPr>
            <a:r>
              <a:rPr lang="en-US" sz="1500" b="1" dirty="0">
                <a:solidFill>
                  <a:srgbClr val="2D3748"/>
                </a:solidFill>
                <a:latin typeface="Calibri" pitchFamily="34" charset="0"/>
                <a:ea typeface="Calibri" pitchFamily="34" charset="-122"/>
                <a:cs typeface="Calibri" pitchFamily="34" charset="-120"/>
              </a:rPr>
              <a:t>Confianza</a:t>
            </a:r>
            <a:endParaRPr lang="en-US" sz="1500" dirty="0"/>
          </a:p>
        </p:txBody>
      </p:sp>
      <p:sp>
        <p:nvSpPr>
          <p:cNvPr id="20" name="Text 15"/>
          <p:cNvSpPr/>
          <p:nvPr/>
        </p:nvSpPr>
        <p:spPr>
          <a:xfrm>
            <a:off x="6309360" y="2651760"/>
            <a:ext cx="2103120" cy="1097280"/>
          </a:xfrm>
          <a:prstGeom prst="rect">
            <a:avLst/>
          </a:prstGeom>
          <a:noFill/>
          <a:ln/>
        </p:spPr>
        <p:txBody>
          <a:bodyPr wrap="square" lIns="0" tIns="0" rIns="0" bIns="0" rtlCol="0" anchor="t"/>
          <a:lstStyle/>
          <a:p>
            <a:pPr algn="ctr" indent="0" marL="0">
              <a:buNone/>
            </a:pPr>
            <a:r>
              <a:rPr lang="en-US" sz="1200" dirty="0">
                <a:solidFill>
                  <a:srgbClr val="6B7B8D"/>
                </a:solidFill>
                <a:latin typeface="Calibri" pitchFamily="34" charset="0"/>
                <a:ea typeface="Calibri" pitchFamily="34" charset="-122"/>
                <a:cs typeface="Calibri" pitchFamily="34" charset="-120"/>
              </a:rPr>
              <a:t>Garantia para clientes y partners de que protegemos su informacion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Nuestro Recorrido</a:t>
            </a:r>
            <a:endParaRPr lang="en-US" sz="2200" dirty="0"/>
          </a:p>
        </p:txBody>
      </p:sp>
      <p:sp>
        <p:nvSpPr>
          <p:cNvPr id="3" name="Shape 1"/>
          <p:cNvSpPr/>
          <p:nvPr/>
        </p:nvSpPr>
        <p:spPr>
          <a:xfrm>
            <a:off x="1234440" y="2487168"/>
            <a:ext cx="7315200" cy="54864"/>
          </a:xfrm>
          <a:prstGeom prst="rect">
            <a:avLst/>
          </a:prstGeom>
          <a:solidFill>
            <a:srgbClr val="D1FBF0"/>
          </a:solidFill>
          <a:ln/>
        </p:spPr>
      </p:sp>
      <p:sp>
        <p:nvSpPr>
          <p:cNvPr id="4" name="Shape 2"/>
          <p:cNvSpPr/>
          <p:nvPr/>
        </p:nvSpPr>
        <p:spPr>
          <a:xfrm>
            <a:off x="914400" y="2194560"/>
            <a:ext cx="640080" cy="640080"/>
          </a:xfrm>
          <a:prstGeom prst="ellipse">
            <a:avLst/>
          </a:prstGeom>
          <a:solidFill>
            <a:srgbClr val="0D9A76"/>
          </a:solidFill>
          <a:ln/>
        </p:spPr>
      </p:sp>
      <p:sp>
        <p:nvSpPr>
          <p:cNvPr id="5" name="Text 3"/>
          <p:cNvSpPr/>
          <p:nvPr/>
        </p:nvSpPr>
        <p:spPr>
          <a:xfrm>
            <a:off x="914400" y="21945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640080" y="1645920"/>
            <a:ext cx="1188720" cy="365760"/>
          </a:xfrm>
          <a:prstGeom prst="rect">
            <a:avLst/>
          </a:prstGeom>
          <a:noFill/>
          <a:ln/>
        </p:spPr>
        <p:txBody>
          <a:bodyPr wrap="square" lIns="0" tIns="0" rIns="0" bIns="0" rtlCol="0" anchor="ctr"/>
          <a:lstStyle/>
          <a:p>
            <a:pPr algn="ctr" indent="0" marL="0">
              <a:buNone/>
            </a:pPr>
            <a:r>
              <a:rPr lang="en-US" sz="1000" b="1" dirty="0">
                <a:solidFill>
                  <a:srgbClr val="0D9A76"/>
                </a:solidFill>
                <a:latin typeface="Calibri" pitchFamily="34" charset="0"/>
                <a:ea typeface="Calibri" pitchFamily="34" charset="-122"/>
                <a:cs typeface="Calibri" pitchFamily="34" charset="-120"/>
              </a:rPr>
              <a:t>Q1-Q2 2025</a:t>
            </a:r>
            <a:endParaRPr lang="en-US" sz="1000" dirty="0"/>
          </a:p>
        </p:txBody>
      </p:sp>
      <p:sp>
        <p:nvSpPr>
          <p:cNvPr id="7" name="Text 5"/>
          <p:cNvSpPr/>
          <p:nvPr/>
        </p:nvSpPr>
        <p:spPr>
          <a:xfrm>
            <a:off x="548640" y="2971800"/>
            <a:ext cx="1371600" cy="73152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Gap Analysis</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(TonniNova)</a:t>
            </a:r>
            <a:endParaRPr lang="en-US" sz="1100" dirty="0"/>
          </a:p>
        </p:txBody>
      </p:sp>
      <p:sp>
        <p:nvSpPr>
          <p:cNvPr id="8" name="Shape 6"/>
          <p:cNvSpPr/>
          <p:nvPr/>
        </p:nvSpPr>
        <p:spPr>
          <a:xfrm>
            <a:off x="2743200" y="2194560"/>
            <a:ext cx="640080" cy="640080"/>
          </a:xfrm>
          <a:prstGeom prst="ellipse">
            <a:avLst/>
          </a:prstGeom>
          <a:solidFill>
            <a:srgbClr val="0D9A76"/>
          </a:solidFill>
          <a:ln/>
        </p:spPr>
      </p:sp>
      <p:sp>
        <p:nvSpPr>
          <p:cNvPr id="9" name="Text 7"/>
          <p:cNvSpPr/>
          <p:nvPr/>
        </p:nvSpPr>
        <p:spPr>
          <a:xfrm>
            <a:off x="2743200" y="21945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2468880" y="1645920"/>
            <a:ext cx="1188720" cy="365760"/>
          </a:xfrm>
          <a:prstGeom prst="rect">
            <a:avLst/>
          </a:prstGeom>
          <a:noFill/>
          <a:ln/>
        </p:spPr>
        <p:txBody>
          <a:bodyPr wrap="square" lIns="0" tIns="0" rIns="0" bIns="0" rtlCol="0" anchor="ctr"/>
          <a:lstStyle/>
          <a:p>
            <a:pPr algn="ctr" indent="0" marL="0">
              <a:buNone/>
            </a:pPr>
            <a:r>
              <a:rPr lang="en-US" sz="1000" b="1" dirty="0">
                <a:solidFill>
                  <a:srgbClr val="0D9A76"/>
                </a:solidFill>
                <a:latin typeface="Calibri" pitchFamily="34" charset="0"/>
                <a:ea typeface="Calibri" pitchFamily="34" charset="-122"/>
                <a:cs typeface="Calibri" pitchFamily="34" charset="-120"/>
              </a:rPr>
              <a:t>Q2-Q3 2025</a:t>
            </a:r>
            <a:endParaRPr lang="en-US" sz="1000" dirty="0"/>
          </a:p>
        </p:txBody>
      </p:sp>
      <p:sp>
        <p:nvSpPr>
          <p:cNvPr id="11" name="Text 9"/>
          <p:cNvSpPr/>
          <p:nvPr/>
        </p:nvSpPr>
        <p:spPr>
          <a:xfrm>
            <a:off x="2377440" y="2971800"/>
            <a:ext cx="1371600" cy="73152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Documentacion</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SGSI</a:t>
            </a:r>
            <a:endParaRPr lang="en-US" sz="1100" dirty="0"/>
          </a:p>
        </p:txBody>
      </p:sp>
      <p:sp>
        <p:nvSpPr>
          <p:cNvPr id="12" name="Shape 10"/>
          <p:cNvSpPr/>
          <p:nvPr/>
        </p:nvSpPr>
        <p:spPr>
          <a:xfrm>
            <a:off x="4572000" y="2194560"/>
            <a:ext cx="640080" cy="640080"/>
          </a:xfrm>
          <a:prstGeom prst="ellipse">
            <a:avLst/>
          </a:prstGeom>
          <a:solidFill>
            <a:srgbClr val="0D9A76"/>
          </a:solidFill>
          <a:ln/>
        </p:spPr>
      </p:sp>
      <p:sp>
        <p:nvSpPr>
          <p:cNvPr id="13" name="Text 11"/>
          <p:cNvSpPr/>
          <p:nvPr/>
        </p:nvSpPr>
        <p:spPr>
          <a:xfrm>
            <a:off x="4572000" y="21945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4297680" y="1645920"/>
            <a:ext cx="1188720" cy="365760"/>
          </a:xfrm>
          <a:prstGeom prst="rect">
            <a:avLst/>
          </a:prstGeom>
          <a:noFill/>
          <a:ln/>
        </p:spPr>
        <p:txBody>
          <a:bodyPr wrap="square" lIns="0" tIns="0" rIns="0" bIns="0" rtlCol="0" anchor="ctr"/>
          <a:lstStyle/>
          <a:p>
            <a:pPr algn="ctr" indent="0" marL="0">
              <a:buNone/>
            </a:pPr>
            <a:r>
              <a:rPr lang="en-US" sz="1000" b="1" dirty="0">
                <a:solidFill>
                  <a:srgbClr val="0D9A76"/>
                </a:solidFill>
                <a:latin typeface="Calibri" pitchFamily="34" charset="0"/>
                <a:ea typeface="Calibri" pitchFamily="34" charset="-122"/>
                <a:cs typeface="Calibri" pitchFamily="34" charset="-120"/>
              </a:rPr>
              <a:t>Nov 2025</a:t>
            </a:r>
            <a:endParaRPr lang="en-US" sz="1000" dirty="0"/>
          </a:p>
        </p:txBody>
      </p:sp>
      <p:sp>
        <p:nvSpPr>
          <p:cNvPr id="15" name="Text 13"/>
          <p:cNvSpPr/>
          <p:nvPr/>
        </p:nvSpPr>
        <p:spPr>
          <a:xfrm>
            <a:off x="4206240" y="2971800"/>
            <a:ext cx="1371600" cy="73152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Auditoria</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Interna</a:t>
            </a:r>
            <a:endParaRPr lang="en-US" sz="1100" dirty="0"/>
          </a:p>
        </p:txBody>
      </p:sp>
      <p:sp>
        <p:nvSpPr>
          <p:cNvPr id="16" name="Shape 14"/>
          <p:cNvSpPr/>
          <p:nvPr/>
        </p:nvSpPr>
        <p:spPr>
          <a:xfrm>
            <a:off x="6400800" y="2194560"/>
            <a:ext cx="640080" cy="640080"/>
          </a:xfrm>
          <a:prstGeom prst="ellipse">
            <a:avLst/>
          </a:prstGeom>
          <a:solidFill>
            <a:srgbClr val="0D9A76"/>
          </a:solidFill>
          <a:ln/>
        </p:spPr>
      </p:sp>
      <p:sp>
        <p:nvSpPr>
          <p:cNvPr id="17" name="Text 15"/>
          <p:cNvSpPr/>
          <p:nvPr/>
        </p:nvSpPr>
        <p:spPr>
          <a:xfrm>
            <a:off x="6400800" y="21945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p:nvPr/>
        </p:nvSpPr>
        <p:spPr>
          <a:xfrm>
            <a:off x="6126480" y="1645920"/>
            <a:ext cx="1188720" cy="365760"/>
          </a:xfrm>
          <a:prstGeom prst="rect">
            <a:avLst/>
          </a:prstGeom>
          <a:noFill/>
          <a:ln/>
        </p:spPr>
        <p:txBody>
          <a:bodyPr wrap="square" lIns="0" tIns="0" rIns="0" bIns="0" rtlCol="0" anchor="ctr"/>
          <a:lstStyle/>
          <a:p>
            <a:pPr algn="ctr" indent="0" marL="0">
              <a:buNone/>
            </a:pPr>
            <a:r>
              <a:rPr lang="en-US" sz="1000" b="1" dirty="0">
                <a:solidFill>
                  <a:srgbClr val="0D9A76"/>
                </a:solidFill>
                <a:latin typeface="Calibri" pitchFamily="34" charset="0"/>
                <a:ea typeface="Calibri" pitchFamily="34" charset="-122"/>
                <a:cs typeface="Calibri" pitchFamily="34" charset="-120"/>
              </a:rPr>
              <a:t>2025-2026</a:t>
            </a:r>
            <a:endParaRPr lang="en-US" sz="1000" dirty="0"/>
          </a:p>
        </p:txBody>
      </p:sp>
      <p:sp>
        <p:nvSpPr>
          <p:cNvPr id="19" name="Text 17"/>
          <p:cNvSpPr/>
          <p:nvPr/>
        </p:nvSpPr>
        <p:spPr>
          <a:xfrm>
            <a:off x="6035040" y="2971800"/>
            <a:ext cx="1371600" cy="73152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Certificacion</a:t>
            </a:r>
            <a:endParaRPr lang="en-US" sz="1100" dirty="0"/>
          </a:p>
        </p:txBody>
      </p:sp>
      <p:sp>
        <p:nvSpPr>
          <p:cNvPr id="20" name="Shape 18"/>
          <p:cNvSpPr/>
          <p:nvPr/>
        </p:nvSpPr>
        <p:spPr>
          <a:xfrm>
            <a:off x="8229600" y="2194560"/>
            <a:ext cx="640080" cy="640080"/>
          </a:xfrm>
          <a:prstGeom prst="ellipse">
            <a:avLst/>
          </a:prstGeom>
          <a:solidFill>
            <a:srgbClr val="0D9A76"/>
          </a:solidFill>
          <a:ln/>
        </p:spPr>
      </p:sp>
      <p:sp>
        <p:nvSpPr>
          <p:cNvPr id="21" name="Text 19"/>
          <p:cNvSpPr/>
          <p:nvPr/>
        </p:nvSpPr>
        <p:spPr>
          <a:xfrm>
            <a:off x="8229600" y="21945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p:nvPr/>
        </p:nvSpPr>
        <p:spPr>
          <a:xfrm>
            <a:off x="7955280" y="1645920"/>
            <a:ext cx="1188720" cy="365760"/>
          </a:xfrm>
          <a:prstGeom prst="rect">
            <a:avLst/>
          </a:prstGeom>
          <a:noFill/>
          <a:ln/>
        </p:spPr>
        <p:txBody>
          <a:bodyPr wrap="square" lIns="0" tIns="0" rIns="0" bIns="0" rtlCol="0" anchor="ctr"/>
          <a:lstStyle/>
          <a:p>
            <a:pPr algn="ctr" indent="0" marL="0">
              <a:buNone/>
            </a:pPr>
            <a:r>
              <a:rPr lang="en-US" sz="1000" b="1" dirty="0">
                <a:solidFill>
                  <a:srgbClr val="0D9A76"/>
                </a:solidFill>
                <a:latin typeface="Calibri" pitchFamily="34" charset="0"/>
                <a:ea typeface="Calibri" pitchFamily="34" charset="-122"/>
                <a:cs typeface="Calibri" pitchFamily="34" charset="-120"/>
              </a:rPr>
              <a:t>2026</a:t>
            </a:r>
            <a:endParaRPr lang="en-US" sz="1000" dirty="0"/>
          </a:p>
        </p:txBody>
      </p:sp>
      <p:sp>
        <p:nvSpPr>
          <p:cNvPr id="23" name="Text 21"/>
          <p:cNvSpPr/>
          <p:nvPr/>
        </p:nvSpPr>
        <p:spPr>
          <a:xfrm>
            <a:off x="7863840" y="2971800"/>
            <a:ext cx="1371600" cy="73152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Mejora</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Continua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Los 10 Principios del ENS</a:t>
            </a:r>
            <a:endParaRPr lang="en-US" sz="2200" dirty="0"/>
          </a:p>
        </p:txBody>
      </p:sp>
      <p:sp>
        <p:nvSpPr>
          <p:cNvPr id="3" name="Shape 1"/>
          <p:cNvSpPr/>
          <p:nvPr/>
        </p:nvSpPr>
        <p:spPr>
          <a:xfrm>
            <a:off x="731520" y="1051560"/>
            <a:ext cx="365760" cy="365760"/>
          </a:xfrm>
          <a:prstGeom prst="ellipse">
            <a:avLst/>
          </a:prstGeom>
          <a:solidFill>
            <a:srgbClr val="0D9A76"/>
          </a:solidFill>
          <a:ln/>
        </p:spPr>
      </p:sp>
      <p:sp>
        <p:nvSpPr>
          <p:cNvPr id="4" name="Text 2"/>
          <p:cNvSpPr/>
          <p:nvPr/>
        </p:nvSpPr>
        <p:spPr>
          <a:xfrm>
            <a:off x="731520" y="1051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234440" y="100584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Seguridad integral</a:t>
            </a:r>
            <a:endParaRPr lang="en-US" sz="1300" dirty="0"/>
          </a:p>
        </p:txBody>
      </p:sp>
      <p:sp>
        <p:nvSpPr>
          <p:cNvPr id="6" name="Shape 4"/>
          <p:cNvSpPr/>
          <p:nvPr/>
        </p:nvSpPr>
        <p:spPr>
          <a:xfrm>
            <a:off x="731520" y="1691640"/>
            <a:ext cx="365760" cy="365760"/>
          </a:xfrm>
          <a:prstGeom prst="ellipse">
            <a:avLst/>
          </a:prstGeom>
          <a:solidFill>
            <a:srgbClr val="0D9A76"/>
          </a:solidFill>
          <a:ln/>
        </p:spPr>
      </p:sp>
      <p:sp>
        <p:nvSpPr>
          <p:cNvPr id="7" name="Text 5"/>
          <p:cNvSpPr/>
          <p:nvPr/>
        </p:nvSpPr>
        <p:spPr>
          <a:xfrm>
            <a:off x="731520" y="1691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1234440" y="164592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Gestion de riesgos</a:t>
            </a:r>
            <a:endParaRPr lang="en-US" sz="1300" dirty="0"/>
          </a:p>
        </p:txBody>
      </p:sp>
      <p:sp>
        <p:nvSpPr>
          <p:cNvPr id="9" name="Shape 7"/>
          <p:cNvSpPr/>
          <p:nvPr/>
        </p:nvSpPr>
        <p:spPr>
          <a:xfrm>
            <a:off x="731520" y="2331720"/>
            <a:ext cx="365760" cy="365760"/>
          </a:xfrm>
          <a:prstGeom prst="ellipse">
            <a:avLst/>
          </a:prstGeom>
          <a:solidFill>
            <a:srgbClr val="0D9A76"/>
          </a:solidFill>
          <a:ln/>
        </p:spPr>
      </p:sp>
      <p:sp>
        <p:nvSpPr>
          <p:cNvPr id="10" name="Text 8"/>
          <p:cNvSpPr/>
          <p:nvPr/>
        </p:nvSpPr>
        <p:spPr>
          <a:xfrm>
            <a:off x="731520" y="2331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p:nvPr/>
        </p:nvSpPr>
        <p:spPr>
          <a:xfrm>
            <a:off x="1234440" y="228600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Prevencion, deteccion y respuesta</a:t>
            </a:r>
            <a:endParaRPr lang="en-US" sz="1300" dirty="0"/>
          </a:p>
        </p:txBody>
      </p:sp>
      <p:sp>
        <p:nvSpPr>
          <p:cNvPr id="12" name="Shape 10"/>
          <p:cNvSpPr/>
          <p:nvPr/>
        </p:nvSpPr>
        <p:spPr>
          <a:xfrm>
            <a:off x="731520" y="2971800"/>
            <a:ext cx="365760" cy="365760"/>
          </a:xfrm>
          <a:prstGeom prst="ellipse">
            <a:avLst/>
          </a:prstGeom>
          <a:solidFill>
            <a:srgbClr val="0D9A76"/>
          </a:solidFill>
          <a:ln/>
        </p:spPr>
      </p:sp>
      <p:sp>
        <p:nvSpPr>
          <p:cNvPr id="13" name="Text 11"/>
          <p:cNvSpPr/>
          <p:nvPr/>
        </p:nvSpPr>
        <p:spPr>
          <a:xfrm>
            <a:off x="731520" y="2971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1234440" y="292608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Defensa en profundidad</a:t>
            </a:r>
            <a:endParaRPr lang="en-US" sz="1300" dirty="0"/>
          </a:p>
        </p:txBody>
      </p:sp>
      <p:sp>
        <p:nvSpPr>
          <p:cNvPr id="15" name="Shape 13"/>
          <p:cNvSpPr/>
          <p:nvPr/>
        </p:nvSpPr>
        <p:spPr>
          <a:xfrm>
            <a:off x="731520" y="3611880"/>
            <a:ext cx="365760" cy="365760"/>
          </a:xfrm>
          <a:prstGeom prst="ellipse">
            <a:avLst/>
          </a:prstGeom>
          <a:solidFill>
            <a:srgbClr val="0D9A76"/>
          </a:solidFill>
          <a:ln/>
        </p:spPr>
      </p:sp>
      <p:sp>
        <p:nvSpPr>
          <p:cNvPr id="16" name="Text 14"/>
          <p:cNvSpPr/>
          <p:nvPr/>
        </p:nvSpPr>
        <p:spPr>
          <a:xfrm>
            <a:off x="731520" y="3611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p:nvPr/>
        </p:nvSpPr>
        <p:spPr>
          <a:xfrm>
            <a:off x="1234440" y="356616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Vigilancia continua</a:t>
            </a:r>
            <a:endParaRPr lang="en-US" sz="1300" dirty="0"/>
          </a:p>
        </p:txBody>
      </p:sp>
      <p:sp>
        <p:nvSpPr>
          <p:cNvPr id="18" name="Shape 16"/>
          <p:cNvSpPr/>
          <p:nvPr/>
        </p:nvSpPr>
        <p:spPr>
          <a:xfrm>
            <a:off x="4754880" y="1051560"/>
            <a:ext cx="365760" cy="365760"/>
          </a:xfrm>
          <a:prstGeom prst="ellipse">
            <a:avLst/>
          </a:prstGeom>
          <a:solidFill>
            <a:srgbClr val="0D9A76"/>
          </a:solidFill>
          <a:ln/>
        </p:spPr>
      </p:sp>
      <p:sp>
        <p:nvSpPr>
          <p:cNvPr id="19" name="Text 17"/>
          <p:cNvSpPr/>
          <p:nvPr/>
        </p:nvSpPr>
        <p:spPr>
          <a:xfrm>
            <a:off x="4754880" y="10515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p:nvPr/>
        </p:nvSpPr>
        <p:spPr>
          <a:xfrm>
            <a:off x="5257800" y="100584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Diferenciacion de responsabilidades</a:t>
            </a:r>
            <a:endParaRPr lang="en-US" sz="1300" dirty="0"/>
          </a:p>
        </p:txBody>
      </p:sp>
      <p:sp>
        <p:nvSpPr>
          <p:cNvPr id="21" name="Shape 19"/>
          <p:cNvSpPr/>
          <p:nvPr/>
        </p:nvSpPr>
        <p:spPr>
          <a:xfrm>
            <a:off x="4754880" y="1691640"/>
            <a:ext cx="365760" cy="365760"/>
          </a:xfrm>
          <a:prstGeom prst="ellipse">
            <a:avLst/>
          </a:prstGeom>
          <a:solidFill>
            <a:srgbClr val="0D9A76"/>
          </a:solidFill>
          <a:ln/>
        </p:spPr>
      </p:sp>
      <p:sp>
        <p:nvSpPr>
          <p:cNvPr id="22" name="Text 20"/>
          <p:cNvSpPr/>
          <p:nvPr/>
        </p:nvSpPr>
        <p:spPr>
          <a:xfrm>
            <a:off x="4754880" y="1691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3" name="Text 21"/>
          <p:cNvSpPr/>
          <p:nvPr/>
        </p:nvSpPr>
        <p:spPr>
          <a:xfrm>
            <a:off x="5257800" y="164592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Proporcionalidad</a:t>
            </a:r>
            <a:endParaRPr lang="en-US" sz="1300" dirty="0"/>
          </a:p>
        </p:txBody>
      </p:sp>
      <p:sp>
        <p:nvSpPr>
          <p:cNvPr id="24" name="Shape 22"/>
          <p:cNvSpPr/>
          <p:nvPr/>
        </p:nvSpPr>
        <p:spPr>
          <a:xfrm>
            <a:off x="4754880" y="2331720"/>
            <a:ext cx="365760" cy="365760"/>
          </a:xfrm>
          <a:prstGeom prst="ellipse">
            <a:avLst/>
          </a:prstGeom>
          <a:solidFill>
            <a:srgbClr val="0D9A76"/>
          </a:solidFill>
          <a:ln/>
        </p:spPr>
      </p:sp>
      <p:sp>
        <p:nvSpPr>
          <p:cNvPr id="25" name="Text 23"/>
          <p:cNvSpPr/>
          <p:nvPr/>
        </p:nvSpPr>
        <p:spPr>
          <a:xfrm>
            <a:off x="4754880" y="2331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4"/>
          <p:cNvSpPr/>
          <p:nvPr/>
        </p:nvSpPr>
        <p:spPr>
          <a:xfrm>
            <a:off x="5257800" y="228600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Transparencia</a:t>
            </a:r>
            <a:endParaRPr lang="en-US" sz="1300" dirty="0"/>
          </a:p>
        </p:txBody>
      </p:sp>
      <p:sp>
        <p:nvSpPr>
          <p:cNvPr id="27" name="Shape 25"/>
          <p:cNvSpPr/>
          <p:nvPr/>
        </p:nvSpPr>
        <p:spPr>
          <a:xfrm>
            <a:off x="4754880" y="2971800"/>
            <a:ext cx="365760" cy="365760"/>
          </a:xfrm>
          <a:prstGeom prst="ellipse">
            <a:avLst/>
          </a:prstGeom>
          <a:solidFill>
            <a:srgbClr val="0D9A76"/>
          </a:solidFill>
          <a:ln/>
        </p:spPr>
      </p:sp>
      <p:sp>
        <p:nvSpPr>
          <p:cNvPr id="28" name="Text 26"/>
          <p:cNvSpPr/>
          <p:nvPr/>
        </p:nvSpPr>
        <p:spPr>
          <a:xfrm>
            <a:off x="4754880" y="2971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9" name="Text 27"/>
          <p:cNvSpPr/>
          <p:nvPr/>
        </p:nvSpPr>
        <p:spPr>
          <a:xfrm>
            <a:off x="5257800" y="292608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Profesionalidad</a:t>
            </a:r>
            <a:endParaRPr lang="en-US" sz="1300" dirty="0"/>
          </a:p>
        </p:txBody>
      </p:sp>
      <p:sp>
        <p:nvSpPr>
          <p:cNvPr id="30" name="Shape 28"/>
          <p:cNvSpPr/>
          <p:nvPr/>
        </p:nvSpPr>
        <p:spPr>
          <a:xfrm>
            <a:off x="4754880" y="3611880"/>
            <a:ext cx="365760" cy="365760"/>
          </a:xfrm>
          <a:prstGeom prst="ellipse">
            <a:avLst/>
          </a:prstGeom>
          <a:solidFill>
            <a:srgbClr val="0D9A76"/>
          </a:solidFill>
          <a:ln/>
        </p:spPr>
      </p:sp>
      <p:sp>
        <p:nvSpPr>
          <p:cNvPr id="31" name="Text 29"/>
          <p:cNvSpPr/>
          <p:nvPr/>
        </p:nvSpPr>
        <p:spPr>
          <a:xfrm>
            <a:off x="4754880" y="3611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2" name="Text 30"/>
          <p:cNvSpPr/>
          <p:nvPr/>
        </p:nvSpPr>
        <p:spPr>
          <a:xfrm>
            <a:off x="5257800" y="356616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Mejora continua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Gobernanza — Quien es Quien?</a:t>
            </a:r>
            <a:endParaRPr lang="en-US" sz="2200" dirty="0"/>
          </a:p>
        </p:txBody>
      </p:sp>
      <p:sp>
        <p:nvSpPr>
          <p:cNvPr id="3" name="Shape 1"/>
          <p:cNvSpPr/>
          <p:nvPr/>
        </p:nvSpPr>
        <p:spPr>
          <a:xfrm>
            <a:off x="868680" y="914400"/>
            <a:ext cx="2286000" cy="1828800"/>
          </a:xfrm>
          <a:prstGeom prst="roundRect">
            <a:avLst>
              <a:gd name="adj" fmla="val 4000"/>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1760220" y="1097280"/>
            <a:ext cx="502920" cy="502920"/>
          </a:xfrm>
          <a:prstGeom prst="ellipse">
            <a:avLst/>
          </a:prstGeom>
          <a:solidFill>
            <a:srgbClr val="0D9A76"/>
          </a:solidFill>
          <a:ln/>
        </p:spPr>
      </p:sp>
      <p:pic>
        <p:nvPicPr>
          <p:cNvPr id="5" name="Image 0" descr="preencoded.png"/>
          <p:cNvPicPr>
            <a:picLocks noChangeAspect="1"/>
          </p:cNvPicPr>
          <p:nvPr/>
        </p:nvPicPr>
        <p:blipFill>
          <a:blip r:embed="rId1"/>
          <a:stretch>
            <a:fillRect/>
          </a:stretch>
        </p:blipFill>
        <p:spPr>
          <a:xfrm>
            <a:off x="1874520" y="1216152"/>
            <a:ext cx="274320" cy="274320"/>
          </a:xfrm>
          <a:prstGeom prst="rect">
            <a:avLst/>
          </a:prstGeom>
        </p:spPr>
      </p:pic>
      <p:sp>
        <p:nvSpPr>
          <p:cNvPr id="6" name="Text 3"/>
          <p:cNvSpPr/>
          <p:nvPr/>
        </p:nvSpPr>
        <p:spPr>
          <a:xfrm>
            <a:off x="960120" y="1691640"/>
            <a:ext cx="2103120" cy="320040"/>
          </a:xfrm>
          <a:prstGeom prst="rect">
            <a:avLst/>
          </a:prstGeom>
          <a:noFill/>
          <a:ln/>
        </p:spPr>
        <p:txBody>
          <a:bodyPr wrap="square" lIns="0" tIns="0" rIns="0" bIns="0" rtlCol="0" anchor="ctr"/>
          <a:lstStyle/>
          <a:p>
            <a:pPr algn="ctr" indent="0" marL="0">
              <a:buNone/>
            </a:pPr>
            <a:r>
              <a:rPr lang="en-US" sz="1300" b="1" dirty="0">
                <a:solidFill>
                  <a:srgbClr val="2D3748"/>
                </a:solidFill>
                <a:latin typeface="Calibri" pitchFamily="34" charset="0"/>
                <a:ea typeface="Calibri" pitchFamily="34" charset="-122"/>
                <a:cs typeface="Calibri" pitchFamily="34" charset="-120"/>
              </a:rPr>
              <a:t>CEO (DPT04)</a:t>
            </a:r>
            <a:endParaRPr lang="en-US" sz="1300" dirty="0"/>
          </a:p>
        </p:txBody>
      </p:sp>
      <p:sp>
        <p:nvSpPr>
          <p:cNvPr id="7" name="Text 4"/>
          <p:cNvSpPr/>
          <p:nvPr/>
        </p:nvSpPr>
        <p:spPr>
          <a:xfrm>
            <a:off x="960120" y="2011680"/>
            <a:ext cx="2103120" cy="365760"/>
          </a:xfrm>
          <a:prstGeom prst="rect">
            <a:avLst/>
          </a:prstGeom>
          <a:noFill/>
          <a:ln/>
        </p:spPr>
        <p:txBody>
          <a:bodyPr wrap="square" lIns="0" tIns="0" rIns="0" bIns="0" rtlCol="0" anchor="ctr"/>
          <a:lstStyle/>
          <a:p>
            <a:pPr algn="ctr" indent="0" marL="0">
              <a:buNone/>
            </a:pPr>
            <a:r>
              <a:rPr lang="en-US" sz="1100" dirty="0">
                <a:solidFill>
                  <a:srgbClr val="6B7B8D"/>
                </a:solidFill>
                <a:latin typeface="Calibri" pitchFamily="34" charset="0"/>
                <a:ea typeface="Calibri" pitchFamily="34" charset="-122"/>
                <a:cs typeface="Calibri" pitchFamily="34" charset="-120"/>
              </a:rPr>
              <a:t>Responsable ultimo</a:t>
            </a:r>
            <a:endParaRPr lang="en-US" sz="1100" dirty="0"/>
          </a:p>
        </p:txBody>
      </p:sp>
      <p:sp>
        <p:nvSpPr>
          <p:cNvPr id="8" name="Shape 5"/>
          <p:cNvSpPr/>
          <p:nvPr/>
        </p:nvSpPr>
        <p:spPr>
          <a:xfrm>
            <a:off x="3429000" y="914400"/>
            <a:ext cx="2286000" cy="1828800"/>
          </a:xfrm>
          <a:prstGeom prst="roundRect">
            <a:avLst>
              <a:gd name="adj" fmla="val 4000"/>
            </a:avLst>
          </a:prstGeom>
          <a:solidFill>
            <a:srgbClr val="FFFFFF"/>
          </a:solidFill>
          <a:ln/>
          <a:effectLst>
            <a:outerShdw sx="100000" sy="100000" kx="0" ky="0" algn="bl" rotWithShape="0" blurRad="50800" dist="25400" dir="8100000">
              <a:srgbClr val="000000">
                <a:alpha val="10000"/>
              </a:srgbClr>
            </a:outerShdw>
          </a:effectLst>
        </p:spPr>
      </p:sp>
      <p:sp>
        <p:nvSpPr>
          <p:cNvPr id="9" name="Shape 6"/>
          <p:cNvSpPr/>
          <p:nvPr/>
        </p:nvSpPr>
        <p:spPr>
          <a:xfrm>
            <a:off x="4320540" y="1097280"/>
            <a:ext cx="502920" cy="502920"/>
          </a:xfrm>
          <a:prstGeom prst="ellipse">
            <a:avLst/>
          </a:prstGeom>
          <a:solidFill>
            <a:srgbClr val="0D9A76"/>
          </a:solidFill>
          <a:ln/>
        </p:spPr>
      </p:sp>
      <p:pic>
        <p:nvPicPr>
          <p:cNvPr id="10" name="Image 1" descr="preencoded.png"/>
          <p:cNvPicPr>
            <a:picLocks noChangeAspect="1"/>
          </p:cNvPicPr>
          <p:nvPr/>
        </p:nvPicPr>
        <p:blipFill>
          <a:blip r:embed="rId2"/>
          <a:stretch>
            <a:fillRect/>
          </a:stretch>
        </p:blipFill>
        <p:spPr>
          <a:xfrm>
            <a:off x="4434840" y="1216152"/>
            <a:ext cx="274320" cy="274320"/>
          </a:xfrm>
          <a:prstGeom prst="rect">
            <a:avLst/>
          </a:prstGeom>
        </p:spPr>
      </p:pic>
      <p:sp>
        <p:nvSpPr>
          <p:cNvPr id="11" name="Text 7"/>
          <p:cNvSpPr/>
          <p:nvPr/>
        </p:nvSpPr>
        <p:spPr>
          <a:xfrm>
            <a:off x="3520440" y="1691640"/>
            <a:ext cx="2103120" cy="320040"/>
          </a:xfrm>
          <a:prstGeom prst="rect">
            <a:avLst/>
          </a:prstGeom>
          <a:noFill/>
          <a:ln/>
        </p:spPr>
        <p:txBody>
          <a:bodyPr wrap="square" lIns="0" tIns="0" rIns="0" bIns="0" rtlCol="0" anchor="ctr"/>
          <a:lstStyle/>
          <a:p>
            <a:pPr algn="ctr" indent="0" marL="0">
              <a:buNone/>
            </a:pPr>
            <a:r>
              <a:rPr lang="en-US" sz="1300" b="1" dirty="0">
                <a:solidFill>
                  <a:srgbClr val="2D3748"/>
                </a:solidFill>
                <a:latin typeface="Calibri" pitchFamily="34" charset="0"/>
                <a:ea typeface="Calibri" pitchFamily="34" charset="-122"/>
                <a:cs typeface="Calibri" pitchFamily="34" charset="-120"/>
              </a:rPr>
              <a:t>CTO (DPT02)</a:t>
            </a:r>
            <a:endParaRPr lang="en-US" sz="1300" dirty="0"/>
          </a:p>
        </p:txBody>
      </p:sp>
      <p:sp>
        <p:nvSpPr>
          <p:cNvPr id="12" name="Text 8"/>
          <p:cNvSpPr/>
          <p:nvPr/>
        </p:nvSpPr>
        <p:spPr>
          <a:xfrm>
            <a:off x="3520440" y="2011680"/>
            <a:ext cx="2103120" cy="365760"/>
          </a:xfrm>
          <a:prstGeom prst="rect">
            <a:avLst/>
          </a:prstGeom>
          <a:noFill/>
          <a:ln/>
        </p:spPr>
        <p:txBody>
          <a:bodyPr wrap="square" lIns="0" tIns="0" rIns="0" bIns="0" rtlCol="0" anchor="ctr"/>
          <a:lstStyle/>
          <a:p>
            <a:pPr algn="ctr" indent="0" marL="0">
              <a:buNone/>
            </a:pPr>
            <a:r>
              <a:rPr lang="en-US" sz="1100" dirty="0">
                <a:solidFill>
                  <a:srgbClr val="6B7B8D"/>
                </a:solidFill>
                <a:latin typeface="Calibri" pitchFamily="34" charset="0"/>
                <a:ea typeface="Calibri" pitchFamily="34" charset="-122"/>
                <a:cs typeface="Calibri" pitchFamily="34" charset="-120"/>
              </a:rPr>
              <a:t>Implementacion tecnica</a:t>
            </a:r>
            <a:endParaRPr lang="en-US" sz="1100" dirty="0"/>
          </a:p>
        </p:txBody>
      </p:sp>
      <p:sp>
        <p:nvSpPr>
          <p:cNvPr id="13" name="Shape 9"/>
          <p:cNvSpPr/>
          <p:nvPr/>
        </p:nvSpPr>
        <p:spPr>
          <a:xfrm>
            <a:off x="5989320" y="914400"/>
            <a:ext cx="2286000" cy="1828800"/>
          </a:xfrm>
          <a:prstGeom prst="roundRect">
            <a:avLst>
              <a:gd name="adj" fmla="val 4000"/>
            </a:avLst>
          </a:prstGeom>
          <a:solidFill>
            <a:srgbClr val="FFFFFF"/>
          </a:solidFill>
          <a:ln/>
          <a:effectLst>
            <a:outerShdw sx="100000" sy="100000" kx="0" ky="0" algn="bl" rotWithShape="0" blurRad="50800" dist="25400" dir="8100000">
              <a:srgbClr val="000000">
                <a:alpha val="10000"/>
              </a:srgbClr>
            </a:outerShdw>
          </a:effectLst>
        </p:spPr>
      </p:sp>
      <p:sp>
        <p:nvSpPr>
          <p:cNvPr id="14" name="Shape 10"/>
          <p:cNvSpPr/>
          <p:nvPr/>
        </p:nvSpPr>
        <p:spPr>
          <a:xfrm>
            <a:off x="6880860" y="1097280"/>
            <a:ext cx="502920" cy="502920"/>
          </a:xfrm>
          <a:prstGeom prst="ellipse">
            <a:avLst/>
          </a:prstGeom>
          <a:solidFill>
            <a:srgbClr val="0D9A76"/>
          </a:solidFill>
          <a:ln/>
        </p:spPr>
      </p:sp>
      <p:pic>
        <p:nvPicPr>
          <p:cNvPr id="15" name="Image 2" descr="preencoded.png"/>
          <p:cNvPicPr>
            <a:picLocks noChangeAspect="1"/>
          </p:cNvPicPr>
          <p:nvPr/>
        </p:nvPicPr>
        <p:blipFill>
          <a:blip r:embed="rId3"/>
          <a:stretch>
            <a:fillRect/>
          </a:stretch>
        </p:blipFill>
        <p:spPr>
          <a:xfrm>
            <a:off x="6995160" y="1216152"/>
            <a:ext cx="274320" cy="274320"/>
          </a:xfrm>
          <a:prstGeom prst="rect">
            <a:avLst/>
          </a:prstGeom>
        </p:spPr>
      </p:pic>
      <p:sp>
        <p:nvSpPr>
          <p:cNvPr id="16" name="Text 11"/>
          <p:cNvSpPr/>
          <p:nvPr/>
        </p:nvSpPr>
        <p:spPr>
          <a:xfrm>
            <a:off x="6080760" y="1691640"/>
            <a:ext cx="2103120" cy="320040"/>
          </a:xfrm>
          <a:prstGeom prst="rect">
            <a:avLst/>
          </a:prstGeom>
          <a:noFill/>
          <a:ln/>
        </p:spPr>
        <p:txBody>
          <a:bodyPr wrap="square" lIns="0" tIns="0" rIns="0" bIns="0" rtlCol="0" anchor="ctr"/>
          <a:lstStyle/>
          <a:p>
            <a:pPr algn="ctr" indent="0" marL="0">
              <a:buNone/>
            </a:pPr>
            <a:r>
              <a:rPr lang="en-US" sz="1300" b="1" dirty="0">
                <a:solidFill>
                  <a:srgbClr val="2D3748"/>
                </a:solidFill>
                <a:latin typeface="Calibri" pitchFamily="34" charset="0"/>
                <a:ea typeface="Calibri" pitchFamily="34" charset="-122"/>
                <a:cs typeface="Calibri" pitchFamily="34" charset="-120"/>
              </a:rPr>
              <a:t>CISO (DPT01)</a:t>
            </a:r>
            <a:endParaRPr lang="en-US" sz="1300" dirty="0"/>
          </a:p>
        </p:txBody>
      </p:sp>
      <p:sp>
        <p:nvSpPr>
          <p:cNvPr id="17" name="Text 12"/>
          <p:cNvSpPr/>
          <p:nvPr/>
        </p:nvSpPr>
        <p:spPr>
          <a:xfrm>
            <a:off x="6080760" y="2011680"/>
            <a:ext cx="2103120" cy="365760"/>
          </a:xfrm>
          <a:prstGeom prst="rect">
            <a:avLst/>
          </a:prstGeom>
          <a:noFill/>
          <a:ln/>
        </p:spPr>
        <p:txBody>
          <a:bodyPr wrap="square" lIns="0" tIns="0" rIns="0" bIns="0" rtlCol="0" anchor="ctr"/>
          <a:lstStyle/>
          <a:p>
            <a:pPr algn="ctr" indent="0" marL="0">
              <a:buNone/>
            </a:pPr>
            <a:r>
              <a:rPr lang="en-US" sz="1100" dirty="0">
                <a:solidFill>
                  <a:srgbClr val="6B7B8D"/>
                </a:solidFill>
                <a:latin typeface="Calibri" pitchFamily="34" charset="0"/>
                <a:ea typeface="Calibri" pitchFamily="34" charset="-122"/>
                <a:cs typeface="Calibri" pitchFamily="34" charset="-120"/>
              </a:rPr>
              <a:t>Estrategia de seguridad</a:t>
            </a:r>
            <a:endParaRPr lang="en-US" sz="1100" dirty="0"/>
          </a:p>
        </p:txBody>
      </p:sp>
      <p:sp>
        <p:nvSpPr>
          <p:cNvPr id="18" name="Shape 13"/>
          <p:cNvSpPr/>
          <p:nvPr/>
        </p:nvSpPr>
        <p:spPr>
          <a:xfrm>
            <a:off x="2148840" y="2926080"/>
            <a:ext cx="2286000" cy="1828800"/>
          </a:xfrm>
          <a:prstGeom prst="roundRect">
            <a:avLst>
              <a:gd name="adj" fmla="val 4000"/>
            </a:avLst>
          </a:prstGeom>
          <a:solidFill>
            <a:srgbClr val="FFFFFF"/>
          </a:solidFill>
          <a:ln/>
          <a:effectLst>
            <a:outerShdw sx="100000" sy="100000" kx="0" ky="0" algn="bl" rotWithShape="0" blurRad="50800" dist="25400" dir="8100000">
              <a:srgbClr val="000000">
                <a:alpha val="10000"/>
              </a:srgbClr>
            </a:outerShdw>
          </a:effectLst>
        </p:spPr>
      </p:sp>
      <p:sp>
        <p:nvSpPr>
          <p:cNvPr id="19" name="Shape 14"/>
          <p:cNvSpPr/>
          <p:nvPr/>
        </p:nvSpPr>
        <p:spPr>
          <a:xfrm>
            <a:off x="3040380" y="3108960"/>
            <a:ext cx="502920" cy="502920"/>
          </a:xfrm>
          <a:prstGeom prst="ellipse">
            <a:avLst/>
          </a:prstGeom>
          <a:solidFill>
            <a:srgbClr val="0D9A76"/>
          </a:solidFill>
          <a:ln/>
        </p:spPr>
      </p:sp>
      <p:pic>
        <p:nvPicPr>
          <p:cNvPr id="20" name="Image 3" descr="preencoded.png"/>
          <p:cNvPicPr>
            <a:picLocks noChangeAspect="1"/>
          </p:cNvPicPr>
          <p:nvPr/>
        </p:nvPicPr>
        <p:blipFill>
          <a:blip r:embed="rId4"/>
          <a:stretch>
            <a:fillRect/>
          </a:stretch>
        </p:blipFill>
        <p:spPr>
          <a:xfrm>
            <a:off x="3154680" y="3227832"/>
            <a:ext cx="274320" cy="274320"/>
          </a:xfrm>
          <a:prstGeom prst="rect">
            <a:avLst/>
          </a:prstGeom>
        </p:spPr>
      </p:pic>
      <p:sp>
        <p:nvSpPr>
          <p:cNvPr id="21" name="Text 15"/>
          <p:cNvSpPr/>
          <p:nvPr/>
        </p:nvSpPr>
        <p:spPr>
          <a:xfrm>
            <a:off x="2240280" y="3703320"/>
            <a:ext cx="2103120" cy="320040"/>
          </a:xfrm>
          <a:prstGeom prst="rect">
            <a:avLst/>
          </a:prstGeom>
          <a:noFill/>
          <a:ln/>
        </p:spPr>
        <p:txBody>
          <a:bodyPr wrap="square" lIns="0" tIns="0" rIns="0" bIns="0" rtlCol="0" anchor="ctr"/>
          <a:lstStyle/>
          <a:p>
            <a:pPr algn="ctr" indent="0" marL="0">
              <a:buNone/>
            </a:pPr>
            <a:r>
              <a:rPr lang="en-US" sz="1300" b="1" dirty="0">
                <a:solidFill>
                  <a:srgbClr val="2D3748"/>
                </a:solidFill>
                <a:latin typeface="Calibri" pitchFamily="34" charset="0"/>
                <a:ea typeface="Calibri" pitchFamily="34" charset="-122"/>
                <a:cs typeface="Calibri" pitchFamily="34" charset="-120"/>
              </a:rPr>
              <a:t>DPO (DPT03)</a:t>
            </a:r>
            <a:endParaRPr lang="en-US" sz="1300" dirty="0"/>
          </a:p>
        </p:txBody>
      </p:sp>
      <p:sp>
        <p:nvSpPr>
          <p:cNvPr id="22" name="Text 16"/>
          <p:cNvSpPr/>
          <p:nvPr/>
        </p:nvSpPr>
        <p:spPr>
          <a:xfrm>
            <a:off x="2240280" y="4023360"/>
            <a:ext cx="2103120" cy="365760"/>
          </a:xfrm>
          <a:prstGeom prst="rect">
            <a:avLst/>
          </a:prstGeom>
          <a:noFill/>
          <a:ln/>
        </p:spPr>
        <p:txBody>
          <a:bodyPr wrap="square" lIns="0" tIns="0" rIns="0" bIns="0" rtlCol="0" anchor="ctr"/>
          <a:lstStyle/>
          <a:p>
            <a:pPr algn="ctr" indent="0" marL="0">
              <a:buNone/>
            </a:pPr>
            <a:r>
              <a:rPr lang="en-US" sz="1100" dirty="0">
                <a:solidFill>
                  <a:srgbClr val="6B7B8D"/>
                </a:solidFill>
                <a:latin typeface="Calibri" pitchFamily="34" charset="0"/>
                <a:ea typeface="Calibri" pitchFamily="34" charset="-122"/>
                <a:cs typeface="Calibri" pitchFamily="34" charset="-120"/>
              </a:rPr>
              <a:t>Proteccion de datos</a:t>
            </a:r>
            <a:endParaRPr lang="en-US" sz="1100" dirty="0"/>
          </a:p>
        </p:txBody>
      </p:sp>
      <p:sp>
        <p:nvSpPr>
          <p:cNvPr id="23" name="Shape 17"/>
          <p:cNvSpPr/>
          <p:nvPr/>
        </p:nvSpPr>
        <p:spPr>
          <a:xfrm>
            <a:off x="4709160" y="2926080"/>
            <a:ext cx="2286000" cy="1828800"/>
          </a:xfrm>
          <a:prstGeom prst="roundRect">
            <a:avLst>
              <a:gd name="adj" fmla="val 4000"/>
            </a:avLst>
          </a:prstGeom>
          <a:solidFill>
            <a:srgbClr val="FFFFFF"/>
          </a:solidFill>
          <a:ln/>
          <a:effectLst>
            <a:outerShdw sx="100000" sy="100000" kx="0" ky="0" algn="bl" rotWithShape="0" blurRad="50800" dist="25400" dir="8100000">
              <a:srgbClr val="000000">
                <a:alpha val="10000"/>
              </a:srgbClr>
            </a:outerShdw>
          </a:effectLst>
        </p:spPr>
      </p:sp>
      <p:sp>
        <p:nvSpPr>
          <p:cNvPr id="24" name="Shape 18"/>
          <p:cNvSpPr/>
          <p:nvPr/>
        </p:nvSpPr>
        <p:spPr>
          <a:xfrm>
            <a:off x="5600700" y="3108960"/>
            <a:ext cx="502920" cy="502920"/>
          </a:xfrm>
          <a:prstGeom prst="ellipse">
            <a:avLst/>
          </a:prstGeom>
          <a:solidFill>
            <a:srgbClr val="0D9A76"/>
          </a:solidFill>
          <a:ln/>
        </p:spPr>
      </p:sp>
      <p:pic>
        <p:nvPicPr>
          <p:cNvPr id="25" name="Image 4" descr="preencoded.png"/>
          <p:cNvPicPr>
            <a:picLocks noChangeAspect="1"/>
          </p:cNvPicPr>
          <p:nvPr/>
        </p:nvPicPr>
        <p:blipFill>
          <a:blip r:embed="rId5"/>
          <a:stretch>
            <a:fillRect/>
          </a:stretch>
        </p:blipFill>
        <p:spPr>
          <a:xfrm>
            <a:off x="5715000" y="3227832"/>
            <a:ext cx="274320" cy="274320"/>
          </a:xfrm>
          <a:prstGeom prst="rect">
            <a:avLst/>
          </a:prstGeom>
        </p:spPr>
      </p:pic>
      <p:sp>
        <p:nvSpPr>
          <p:cNvPr id="26" name="Text 19"/>
          <p:cNvSpPr/>
          <p:nvPr/>
        </p:nvSpPr>
        <p:spPr>
          <a:xfrm>
            <a:off x="4800600" y="3703320"/>
            <a:ext cx="2103120" cy="320040"/>
          </a:xfrm>
          <a:prstGeom prst="rect">
            <a:avLst/>
          </a:prstGeom>
          <a:noFill/>
          <a:ln/>
        </p:spPr>
        <p:txBody>
          <a:bodyPr wrap="square" lIns="0" tIns="0" rIns="0" bIns="0" rtlCol="0" anchor="ctr"/>
          <a:lstStyle/>
          <a:p>
            <a:pPr algn="ctr" indent="0" marL="0">
              <a:buNone/>
            </a:pPr>
            <a:r>
              <a:rPr lang="en-US" sz="1300" b="1" dirty="0">
                <a:solidFill>
                  <a:srgbClr val="2D3748"/>
                </a:solidFill>
                <a:latin typeface="Calibri" pitchFamily="34" charset="0"/>
                <a:ea typeface="Calibri" pitchFamily="34" charset="-122"/>
                <a:cs typeface="Calibri" pitchFamily="34" charset="-120"/>
              </a:rPr>
              <a:t>Auditor (DPT05)</a:t>
            </a:r>
            <a:endParaRPr lang="en-US" sz="1300" dirty="0"/>
          </a:p>
        </p:txBody>
      </p:sp>
      <p:sp>
        <p:nvSpPr>
          <p:cNvPr id="27" name="Text 20"/>
          <p:cNvSpPr/>
          <p:nvPr/>
        </p:nvSpPr>
        <p:spPr>
          <a:xfrm>
            <a:off x="4800600" y="4023360"/>
            <a:ext cx="2103120" cy="365760"/>
          </a:xfrm>
          <a:prstGeom prst="rect">
            <a:avLst/>
          </a:prstGeom>
          <a:noFill/>
          <a:ln/>
        </p:spPr>
        <p:txBody>
          <a:bodyPr wrap="square" lIns="0" tIns="0" rIns="0" bIns="0" rtlCol="0" anchor="ctr"/>
          <a:lstStyle/>
          <a:p>
            <a:pPr algn="ctr" indent="0" marL="0">
              <a:buNone/>
            </a:pPr>
            <a:r>
              <a:rPr lang="en-US" sz="1100" dirty="0">
                <a:solidFill>
                  <a:srgbClr val="6B7B8D"/>
                </a:solidFill>
                <a:latin typeface="Calibri" pitchFamily="34" charset="0"/>
                <a:ea typeface="Calibri" pitchFamily="34" charset="-122"/>
                <a:cs typeface="Calibri" pitchFamily="34" charset="-120"/>
              </a:rPr>
              <a:t>Verificacion independiente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Nuestra Infraestructura</a:t>
            </a:r>
            <a:endParaRPr lang="en-US" sz="2200" dirty="0"/>
          </a:p>
        </p:txBody>
      </p:sp>
      <p:sp>
        <p:nvSpPr>
          <p:cNvPr id="3" name="Shape 1"/>
          <p:cNvSpPr/>
          <p:nvPr/>
        </p:nvSpPr>
        <p:spPr>
          <a:xfrm>
            <a:off x="731520" y="1005840"/>
            <a:ext cx="3657600" cy="1463040"/>
          </a:xfrm>
          <a:prstGeom prst="roundRect">
            <a:avLst>
              <a:gd name="adj" fmla="val 5000"/>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731520" y="1005840"/>
            <a:ext cx="54864" cy="1463040"/>
          </a:xfrm>
          <a:prstGeom prst="rect">
            <a:avLst>
              <a:gd name="adj" fmla="val 50000"/>
            </a:avLst>
          </a:prstGeom>
          <a:solidFill>
            <a:srgbClr val="0D9A76"/>
          </a:solidFill>
          <a:ln/>
        </p:spPr>
      </p:sp>
      <p:pic>
        <p:nvPicPr>
          <p:cNvPr id="5" name="Image 0" descr="preencoded.png"/>
          <p:cNvPicPr>
            <a:picLocks noChangeAspect="1"/>
          </p:cNvPicPr>
          <p:nvPr/>
        </p:nvPicPr>
        <p:blipFill>
          <a:blip r:embed="rId1"/>
          <a:stretch>
            <a:fillRect/>
          </a:stretch>
        </p:blipFill>
        <p:spPr>
          <a:xfrm>
            <a:off x="1005840" y="1531620"/>
            <a:ext cx="411480" cy="411480"/>
          </a:xfrm>
          <a:prstGeom prst="rect">
            <a:avLst/>
          </a:prstGeom>
        </p:spPr>
      </p:pic>
      <p:sp>
        <p:nvSpPr>
          <p:cNvPr id="6" name="Text 3"/>
          <p:cNvSpPr/>
          <p:nvPr/>
        </p:nvSpPr>
        <p:spPr>
          <a:xfrm>
            <a:off x="1554480" y="1234440"/>
            <a:ext cx="2651760" cy="36576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Microsoft Azure</a:t>
            </a:r>
            <a:endParaRPr lang="en-US" sz="1500" dirty="0"/>
          </a:p>
        </p:txBody>
      </p:sp>
      <p:sp>
        <p:nvSpPr>
          <p:cNvPr id="7" name="Text 4"/>
          <p:cNvSpPr/>
          <p:nvPr/>
        </p:nvSpPr>
        <p:spPr>
          <a:xfrm>
            <a:off x="1554480" y="1645920"/>
            <a:ext cx="2651760" cy="36576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ENS Alto | ISO 27001</a:t>
            </a:r>
            <a:endParaRPr lang="en-US" sz="1200" dirty="0"/>
          </a:p>
        </p:txBody>
      </p:sp>
      <p:sp>
        <p:nvSpPr>
          <p:cNvPr id="8" name="Shape 5"/>
          <p:cNvSpPr/>
          <p:nvPr/>
        </p:nvSpPr>
        <p:spPr>
          <a:xfrm>
            <a:off x="4754880" y="1005840"/>
            <a:ext cx="3657600" cy="1463040"/>
          </a:xfrm>
          <a:prstGeom prst="roundRect">
            <a:avLst>
              <a:gd name="adj" fmla="val 5000"/>
            </a:avLst>
          </a:prstGeom>
          <a:solidFill>
            <a:srgbClr val="FFFFFF"/>
          </a:solidFill>
          <a:ln/>
          <a:effectLst>
            <a:outerShdw sx="100000" sy="100000" kx="0" ky="0" algn="bl" rotWithShape="0" blurRad="50800" dist="25400" dir="8100000">
              <a:srgbClr val="000000">
                <a:alpha val="10000"/>
              </a:srgbClr>
            </a:outerShdw>
          </a:effectLst>
        </p:spPr>
      </p:sp>
      <p:sp>
        <p:nvSpPr>
          <p:cNvPr id="9" name="Shape 6"/>
          <p:cNvSpPr/>
          <p:nvPr/>
        </p:nvSpPr>
        <p:spPr>
          <a:xfrm>
            <a:off x="4754880" y="1005840"/>
            <a:ext cx="54864" cy="1463040"/>
          </a:xfrm>
          <a:prstGeom prst="rect">
            <a:avLst>
              <a:gd name="adj" fmla="val 50000"/>
            </a:avLst>
          </a:prstGeom>
          <a:solidFill>
            <a:srgbClr val="0D9A76"/>
          </a:solidFill>
          <a:ln/>
        </p:spPr>
      </p:sp>
      <p:pic>
        <p:nvPicPr>
          <p:cNvPr id="10" name="Image 1" descr="preencoded.png"/>
          <p:cNvPicPr>
            <a:picLocks noChangeAspect="1"/>
          </p:cNvPicPr>
          <p:nvPr/>
        </p:nvPicPr>
        <p:blipFill>
          <a:blip r:embed="rId2"/>
          <a:stretch>
            <a:fillRect/>
          </a:stretch>
        </p:blipFill>
        <p:spPr>
          <a:xfrm>
            <a:off x="5029200" y="1531620"/>
            <a:ext cx="411480" cy="411480"/>
          </a:xfrm>
          <a:prstGeom prst="rect">
            <a:avLst/>
          </a:prstGeom>
        </p:spPr>
      </p:pic>
      <p:sp>
        <p:nvSpPr>
          <p:cNvPr id="11" name="Text 7"/>
          <p:cNvSpPr/>
          <p:nvPr/>
        </p:nvSpPr>
        <p:spPr>
          <a:xfrm>
            <a:off x="5577840" y="1234440"/>
            <a:ext cx="2651760" cy="36576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Google Cloud</a:t>
            </a:r>
            <a:endParaRPr lang="en-US" sz="1500" dirty="0"/>
          </a:p>
        </p:txBody>
      </p:sp>
      <p:sp>
        <p:nvSpPr>
          <p:cNvPr id="12" name="Text 8"/>
          <p:cNvSpPr/>
          <p:nvPr/>
        </p:nvSpPr>
        <p:spPr>
          <a:xfrm>
            <a:off x="5577840" y="1645920"/>
            <a:ext cx="2651760" cy="36576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ENS Certificado</a:t>
            </a:r>
            <a:endParaRPr lang="en-US" sz="1200" dirty="0"/>
          </a:p>
        </p:txBody>
      </p:sp>
      <p:sp>
        <p:nvSpPr>
          <p:cNvPr id="13" name="Shape 9"/>
          <p:cNvSpPr/>
          <p:nvPr/>
        </p:nvSpPr>
        <p:spPr>
          <a:xfrm>
            <a:off x="731520" y="2743200"/>
            <a:ext cx="3657600" cy="1463040"/>
          </a:xfrm>
          <a:prstGeom prst="roundRect">
            <a:avLst>
              <a:gd name="adj" fmla="val 5000"/>
            </a:avLst>
          </a:prstGeom>
          <a:solidFill>
            <a:srgbClr val="FFFFFF"/>
          </a:solidFill>
          <a:ln/>
          <a:effectLst>
            <a:outerShdw sx="100000" sy="100000" kx="0" ky="0" algn="bl" rotWithShape="0" blurRad="50800" dist="25400" dir="8100000">
              <a:srgbClr val="000000">
                <a:alpha val="10000"/>
              </a:srgbClr>
            </a:outerShdw>
          </a:effectLst>
        </p:spPr>
      </p:sp>
      <p:sp>
        <p:nvSpPr>
          <p:cNvPr id="14" name="Shape 10"/>
          <p:cNvSpPr/>
          <p:nvPr/>
        </p:nvSpPr>
        <p:spPr>
          <a:xfrm>
            <a:off x="731520" y="2743200"/>
            <a:ext cx="54864" cy="1463040"/>
          </a:xfrm>
          <a:prstGeom prst="rect">
            <a:avLst>
              <a:gd name="adj" fmla="val 50000"/>
            </a:avLst>
          </a:prstGeom>
          <a:solidFill>
            <a:srgbClr val="0D9A76"/>
          </a:solidFill>
          <a:ln/>
        </p:spPr>
      </p:sp>
      <p:pic>
        <p:nvPicPr>
          <p:cNvPr id="15" name="Image 2" descr="preencoded.png"/>
          <p:cNvPicPr>
            <a:picLocks noChangeAspect="1"/>
          </p:cNvPicPr>
          <p:nvPr/>
        </p:nvPicPr>
        <p:blipFill>
          <a:blip r:embed="rId3"/>
          <a:stretch>
            <a:fillRect/>
          </a:stretch>
        </p:blipFill>
        <p:spPr>
          <a:xfrm>
            <a:off x="1005840" y="3268980"/>
            <a:ext cx="411480" cy="411480"/>
          </a:xfrm>
          <a:prstGeom prst="rect">
            <a:avLst/>
          </a:prstGeom>
        </p:spPr>
      </p:pic>
      <p:sp>
        <p:nvSpPr>
          <p:cNvPr id="16" name="Text 11"/>
          <p:cNvSpPr/>
          <p:nvPr/>
        </p:nvSpPr>
        <p:spPr>
          <a:xfrm>
            <a:off x="1554480" y="2971800"/>
            <a:ext cx="2651760" cy="36576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Azure DevOps</a:t>
            </a:r>
            <a:endParaRPr lang="en-US" sz="1500" dirty="0"/>
          </a:p>
        </p:txBody>
      </p:sp>
      <p:sp>
        <p:nvSpPr>
          <p:cNvPr id="17" name="Text 12"/>
          <p:cNvSpPr/>
          <p:nvPr/>
        </p:nvSpPr>
        <p:spPr>
          <a:xfrm>
            <a:off x="1554480" y="3383280"/>
            <a:ext cx="2651760" cy="36576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ISO 27001</a:t>
            </a:r>
            <a:endParaRPr lang="en-US" sz="1200" dirty="0"/>
          </a:p>
        </p:txBody>
      </p:sp>
      <p:sp>
        <p:nvSpPr>
          <p:cNvPr id="18" name="Shape 13"/>
          <p:cNvSpPr/>
          <p:nvPr/>
        </p:nvSpPr>
        <p:spPr>
          <a:xfrm>
            <a:off x="4754880" y="2743200"/>
            <a:ext cx="3657600" cy="1463040"/>
          </a:xfrm>
          <a:prstGeom prst="roundRect">
            <a:avLst>
              <a:gd name="adj" fmla="val 5000"/>
            </a:avLst>
          </a:prstGeom>
          <a:solidFill>
            <a:srgbClr val="FFFFFF"/>
          </a:solidFill>
          <a:ln/>
          <a:effectLst>
            <a:outerShdw sx="100000" sy="100000" kx="0" ky="0" algn="bl" rotWithShape="0" blurRad="50800" dist="25400" dir="8100000">
              <a:srgbClr val="000000">
                <a:alpha val="10000"/>
              </a:srgbClr>
            </a:outerShdw>
          </a:effectLst>
        </p:spPr>
      </p:sp>
      <p:sp>
        <p:nvSpPr>
          <p:cNvPr id="19" name="Shape 14"/>
          <p:cNvSpPr/>
          <p:nvPr/>
        </p:nvSpPr>
        <p:spPr>
          <a:xfrm>
            <a:off x="4754880" y="2743200"/>
            <a:ext cx="54864" cy="1463040"/>
          </a:xfrm>
          <a:prstGeom prst="rect">
            <a:avLst>
              <a:gd name="adj" fmla="val 50000"/>
            </a:avLst>
          </a:prstGeom>
          <a:solidFill>
            <a:srgbClr val="0D9A76"/>
          </a:solidFill>
          <a:ln/>
        </p:spPr>
      </p:sp>
      <p:pic>
        <p:nvPicPr>
          <p:cNvPr id="20" name="Image 3" descr="preencoded.png"/>
          <p:cNvPicPr>
            <a:picLocks noChangeAspect="1"/>
          </p:cNvPicPr>
          <p:nvPr/>
        </p:nvPicPr>
        <p:blipFill>
          <a:blip r:embed="rId4"/>
          <a:stretch>
            <a:fillRect/>
          </a:stretch>
        </p:blipFill>
        <p:spPr>
          <a:xfrm>
            <a:off x="5029200" y="3268980"/>
            <a:ext cx="411480" cy="411480"/>
          </a:xfrm>
          <a:prstGeom prst="rect">
            <a:avLst/>
          </a:prstGeom>
        </p:spPr>
      </p:pic>
      <p:sp>
        <p:nvSpPr>
          <p:cNvPr id="21" name="Text 15"/>
          <p:cNvSpPr/>
          <p:nvPr/>
        </p:nvSpPr>
        <p:spPr>
          <a:xfrm>
            <a:off x="5577840" y="2971800"/>
            <a:ext cx="2651760" cy="36576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Atlassian (Jira + Confluence)</a:t>
            </a:r>
            <a:endParaRPr lang="en-US" sz="1500" dirty="0"/>
          </a:p>
        </p:txBody>
      </p:sp>
      <p:sp>
        <p:nvSpPr>
          <p:cNvPr id="22" name="Text 16"/>
          <p:cNvSpPr/>
          <p:nvPr/>
        </p:nvSpPr>
        <p:spPr>
          <a:xfrm>
            <a:off x="5577840" y="3383280"/>
            <a:ext cx="2651760" cy="36576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Gestion de proyectos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Politicas Clave</a:t>
            </a:r>
            <a:endParaRPr lang="en-US" sz="2200" dirty="0"/>
          </a:p>
        </p:txBody>
      </p:sp>
      <p:sp>
        <p:nvSpPr>
          <p:cNvPr id="3" name="Shape 1"/>
          <p:cNvSpPr/>
          <p:nvPr/>
        </p:nvSpPr>
        <p:spPr>
          <a:xfrm>
            <a:off x="731520" y="914400"/>
            <a:ext cx="3657600" cy="1280160"/>
          </a:xfrm>
          <a:prstGeom prst="roundRect">
            <a:avLst>
              <a:gd name="adj" fmla="val 5714"/>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731520" y="914400"/>
            <a:ext cx="54864" cy="1280160"/>
          </a:xfrm>
          <a:prstGeom prst="rect">
            <a:avLst>
              <a:gd name="adj" fmla="val 50000"/>
            </a:avLst>
          </a:prstGeom>
          <a:solidFill>
            <a:srgbClr val="0D9A76"/>
          </a:solidFill>
          <a:ln/>
        </p:spPr>
      </p:sp>
      <p:sp>
        <p:nvSpPr>
          <p:cNvPr id="5" name="Shape 3"/>
          <p:cNvSpPr/>
          <p:nvPr/>
        </p:nvSpPr>
        <p:spPr>
          <a:xfrm>
            <a:off x="914400" y="1097280"/>
            <a:ext cx="548640" cy="320040"/>
          </a:xfrm>
          <a:prstGeom prst="roundRect">
            <a:avLst>
              <a:gd name="adj" fmla="val 14286"/>
            </a:avLst>
          </a:prstGeom>
          <a:solidFill>
            <a:srgbClr val="0D9A76"/>
          </a:solidFill>
          <a:ln/>
        </p:spPr>
      </p:sp>
      <p:sp>
        <p:nvSpPr>
          <p:cNvPr id="6" name="Text 4"/>
          <p:cNvSpPr/>
          <p:nvPr/>
        </p:nvSpPr>
        <p:spPr>
          <a:xfrm>
            <a:off x="914400" y="1097280"/>
            <a:ext cx="5486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D01</a:t>
            </a:r>
            <a:endParaRPr lang="en-US" sz="1100" dirty="0"/>
          </a:p>
        </p:txBody>
      </p:sp>
      <p:sp>
        <p:nvSpPr>
          <p:cNvPr id="7" name="Text 5"/>
          <p:cNvSpPr/>
          <p:nvPr/>
        </p:nvSpPr>
        <p:spPr>
          <a:xfrm>
            <a:off x="1600200" y="1051560"/>
            <a:ext cx="2560320" cy="32004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Politica de Seguridad</a:t>
            </a:r>
            <a:endParaRPr lang="en-US" sz="1400" dirty="0"/>
          </a:p>
        </p:txBody>
      </p:sp>
      <p:sp>
        <p:nvSpPr>
          <p:cNvPr id="8" name="Text 6"/>
          <p:cNvSpPr/>
          <p:nvPr/>
        </p:nvSpPr>
        <p:spPr>
          <a:xfrm>
            <a:off x="914400" y="1508760"/>
            <a:ext cx="3291840" cy="54864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Marco general de seguridad de la informacion. Define objetivos y compromisos.</a:t>
            </a:r>
            <a:endParaRPr lang="en-US" sz="1100" dirty="0"/>
          </a:p>
        </p:txBody>
      </p:sp>
      <p:sp>
        <p:nvSpPr>
          <p:cNvPr id="9" name="Shape 7"/>
          <p:cNvSpPr/>
          <p:nvPr/>
        </p:nvSpPr>
        <p:spPr>
          <a:xfrm>
            <a:off x="4754880" y="914400"/>
            <a:ext cx="3657600" cy="1280160"/>
          </a:xfrm>
          <a:prstGeom prst="roundRect">
            <a:avLst>
              <a:gd name="adj" fmla="val 5714"/>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914400"/>
            <a:ext cx="54864" cy="1280160"/>
          </a:xfrm>
          <a:prstGeom prst="rect">
            <a:avLst>
              <a:gd name="adj" fmla="val 50000"/>
            </a:avLst>
          </a:prstGeom>
          <a:solidFill>
            <a:srgbClr val="0D9A76"/>
          </a:solidFill>
          <a:ln/>
        </p:spPr>
      </p:sp>
      <p:sp>
        <p:nvSpPr>
          <p:cNvPr id="11" name="Shape 9"/>
          <p:cNvSpPr/>
          <p:nvPr/>
        </p:nvSpPr>
        <p:spPr>
          <a:xfrm>
            <a:off x="4937760" y="1097280"/>
            <a:ext cx="548640" cy="320040"/>
          </a:xfrm>
          <a:prstGeom prst="roundRect">
            <a:avLst>
              <a:gd name="adj" fmla="val 14286"/>
            </a:avLst>
          </a:prstGeom>
          <a:solidFill>
            <a:srgbClr val="0D9A76"/>
          </a:solidFill>
          <a:ln/>
        </p:spPr>
      </p:sp>
      <p:sp>
        <p:nvSpPr>
          <p:cNvPr id="12" name="Text 10"/>
          <p:cNvSpPr/>
          <p:nvPr/>
        </p:nvSpPr>
        <p:spPr>
          <a:xfrm>
            <a:off x="4937760" y="1097280"/>
            <a:ext cx="5486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D02</a:t>
            </a:r>
            <a:endParaRPr lang="en-US" sz="1100" dirty="0"/>
          </a:p>
        </p:txBody>
      </p:sp>
      <p:sp>
        <p:nvSpPr>
          <p:cNvPr id="13" name="Text 11"/>
          <p:cNvSpPr/>
          <p:nvPr/>
        </p:nvSpPr>
        <p:spPr>
          <a:xfrm>
            <a:off x="5623560" y="1051560"/>
            <a:ext cx="2560320" cy="32004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Clasificacion de la Informacion</a:t>
            </a:r>
            <a:endParaRPr lang="en-US" sz="1400" dirty="0"/>
          </a:p>
        </p:txBody>
      </p:sp>
      <p:sp>
        <p:nvSpPr>
          <p:cNvPr id="14" name="Text 12"/>
          <p:cNvSpPr/>
          <p:nvPr/>
        </p:nvSpPr>
        <p:spPr>
          <a:xfrm>
            <a:off x="4937760" y="1508760"/>
            <a:ext cx="3291840" cy="54864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Criterios para clasificar y proteger la informacion segun su sensibilidad.</a:t>
            </a:r>
            <a:endParaRPr lang="en-US" sz="1100" dirty="0"/>
          </a:p>
        </p:txBody>
      </p:sp>
      <p:sp>
        <p:nvSpPr>
          <p:cNvPr id="15" name="Shape 13"/>
          <p:cNvSpPr/>
          <p:nvPr/>
        </p:nvSpPr>
        <p:spPr>
          <a:xfrm>
            <a:off x="731520" y="2423160"/>
            <a:ext cx="3657600" cy="1280160"/>
          </a:xfrm>
          <a:prstGeom prst="roundRect">
            <a:avLst>
              <a:gd name="adj" fmla="val 5714"/>
            </a:avLst>
          </a:prstGeom>
          <a:solidFill>
            <a:srgbClr val="FFFFFF"/>
          </a:solidFill>
          <a:ln/>
          <a:effectLst>
            <a:outerShdw sx="100000" sy="100000" kx="0" ky="0" algn="bl" rotWithShape="0" blurRad="50800" dist="25400" dir="8100000">
              <a:srgbClr val="000000">
                <a:alpha val="10000"/>
              </a:srgbClr>
            </a:outerShdw>
          </a:effectLst>
        </p:spPr>
      </p:sp>
      <p:sp>
        <p:nvSpPr>
          <p:cNvPr id="16" name="Shape 14"/>
          <p:cNvSpPr/>
          <p:nvPr/>
        </p:nvSpPr>
        <p:spPr>
          <a:xfrm>
            <a:off x="731520" y="2423160"/>
            <a:ext cx="54864" cy="1280160"/>
          </a:xfrm>
          <a:prstGeom prst="rect">
            <a:avLst>
              <a:gd name="adj" fmla="val 50000"/>
            </a:avLst>
          </a:prstGeom>
          <a:solidFill>
            <a:srgbClr val="0D9A76"/>
          </a:solidFill>
          <a:ln/>
        </p:spPr>
      </p:sp>
      <p:sp>
        <p:nvSpPr>
          <p:cNvPr id="17" name="Shape 15"/>
          <p:cNvSpPr/>
          <p:nvPr/>
        </p:nvSpPr>
        <p:spPr>
          <a:xfrm>
            <a:off x="914400" y="2606040"/>
            <a:ext cx="548640" cy="320040"/>
          </a:xfrm>
          <a:prstGeom prst="roundRect">
            <a:avLst>
              <a:gd name="adj" fmla="val 14286"/>
            </a:avLst>
          </a:prstGeom>
          <a:solidFill>
            <a:srgbClr val="0D9A76"/>
          </a:solidFill>
          <a:ln/>
        </p:spPr>
      </p:sp>
      <p:sp>
        <p:nvSpPr>
          <p:cNvPr id="18" name="Text 16"/>
          <p:cNvSpPr/>
          <p:nvPr/>
        </p:nvSpPr>
        <p:spPr>
          <a:xfrm>
            <a:off x="914400" y="2606040"/>
            <a:ext cx="5486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D03</a:t>
            </a:r>
            <a:endParaRPr lang="en-US" sz="1100" dirty="0"/>
          </a:p>
        </p:txBody>
      </p:sp>
      <p:sp>
        <p:nvSpPr>
          <p:cNvPr id="19" name="Text 17"/>
          <p:cNvSpPr/>
          <p:nvPr/>
        </p:nvSpPr>
        <p:spPr>
          <a:xfrm>
            <a:off x="1600200" y="2560320"/>
            <a:ext cx="2560320" cy="32004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Directrices de Seguridad</a:t>
            </a:r>
            <a:endParaRPr lang="en-US" sz="1400" dirty="0"/>
          </a:p>
        </p:txBody>
      </p:sp>
      <p:sp>
        <p:nvSpPr>
          <p:cNvPr id="20" name="Text 18"/>
          <p:cNvSpPr/>
          <p:nvPr/>
        </p:nvSpPr>
        <p:spPr>
          <a:xfrm>
            <a:off x="914400" y="3017520"/>
            <a:ext cx="3291840" cy="54864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Normas tecnicas y organizativas que todo empleado debe seguir.</a:t>
            </a:r>
            <a:endParaRPr lang="en-US" sz="1100" dirty="0"/>
          </a:p>
        </p:txBody>
      </p:sp>
      <p:sp>
        <p:nvSpPr>
          <p:cNvPr id="21" name="Shape 19"/>
          <p:cNvSpPr/>
          <p:nvPr/>
        </p:nvSpPr>
        <p:spPr>
          <a:xfrm>
            <a:off x="4754880" y="2423160"/>
            <a:ext cx="3657600" cy="1280160"/>
          </a:xfrm>
          <a:prstGeom prst="roundRect">
            <a:avLst>
              <a:gd name="adj" fmla="val 5714"/>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754880" y="2423160"/>
            <a:ext cx="54864" cy="1280160"/>
          </a:xfrm>
          <a:prstGeom prst="rect">
            <a:avLst>
              <a:gd name="adj" fmla="val 50000"/>
            </a:avLst>
          </a:prstGeom>
          <a:solidFill>
            <a:srgbClr val="0D9A76"/>
          </a:solidFill>
          <a:ln/>
        </p:spPr>
      </p:sp>
      <p:sp>
        <p:nvSpPr>
          <p:cNvPr id="23" name="Shape 21"/>
          <p:cNvSpPr/>
          <p:nvPr/>
        </p:nvSpPr>
        <p:spPr>
          <a:xfrm>
            <a:off x="4937760" y="2606040"/>
            <a:ext cx="548640" cy="320040"/>
          </a:xfrm>
          <a:prstGeom prst="roundRect">
            <a:avLst>
              <a:gd name="adj" fmla="val 14286"/>
            </a:avLst>
          </a:prstGeom>
          <a:solidFill>
            <a:srgbClr val="0D9A76"/>
          </a:solidFill>
          <a:ln/>
        </p:spPr>
      </p:sp>
      <p:sp>
        <p:nvSpPr>
          <p:cNvPr id="24" name="Text 22"/>
          <p:cNvSpPr/>
          <p:nvPr/>
        </p:nvSpPr>
        <p:spPr>
          <a:xfrm>
            <a:off x="4937760" y="2606040"/>
            <a:ext cx="5486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D10</a:t>
            </a:r>
            <a:endParaRPr lang="en-US" sz="1100" dirty="0"/>
          </a:p>
        </p:txBody>
      </p:sp>
      <p:sp>
        <p:nvSpPr>
          <p:cNvPr id="25" name="Text 23"/>
          <p:cNvSpPr/>
          <p:nvPr/>
        </p:nvSpPr>
        <p:spPr>
          <a:xfrm>
            <a:off x="5623560" y="2560320"/>
            <a:ext cx="2560320" cy="32004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Proteccion de Datos</a:t>
            </a:r>
            <a:endParaRPr lang="en-US" sz="1400" dirty="0"/>
          </a:p>
        </p:txBody>
      </p:sp>
      <p:sp>
        <p:nvSpPr>
          <p:cNvPr id="26" name="Text 24"/>
          <p:cNvSpPr/>
          <p:nvPr/>
        </p:nvSpPr>
        <p:spPr>
          <a:xfrm>
            <a:off x="4937760" y="3017520"/>
            <a:ext cx="3291840" cy="54864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Cumplimiento del RGPD y normativa de proteccion de datos personales.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Normativa que te Afecta (I01)</a:t>
            </a:r>
            <a:endParaRPr lang="en-US" sz="2200" dirty="0"/>
          </a:p>
        </p:txBody>
      </p:sp>
      <p:sp>
        <p:nvSpPr>
          <p:cNvPr id="3" name="Shape 1"/>
          <p:cNvSpPr/>
          <p:nvPr/>
        </p:nvSpPr>
        <p:spPr>
          <a:xfrm>
            <a:off x="457200" y="914400"/>
            <a:ext cx="8229600" cy="530352"/>
          </a:xfrm>
          <a:prstGeom prst="rect">
            <a:avLst>
              <a:gd name="adj" fmla="val 6897"/>
            </a:avLst>
          </a:prstGeom>
          <a:solidFill>
            <a:srgbClr val="FFFFFF"/>
          </a:solidFill>
          <a:ln/>
        </p:spPr>
      </p:sp>
      <p:pic>
        <p:nvPicPr>
          <p:cNvPr id="4" name="Image 0" descr="preencoded.png"/>
          <p:cNvPicPr>
            <a:picLocks noChangeAspect="1"/>
          </p:cNvPicPr>
          <p:nvPr/>
        </p:nvPicPr>
        <p:blipFill>
          <a:blip r:embed="rId1"/>
          <a:stretch>
            <a:fillRect/>
          </a:stretch>
        </p:blipFill>
        <p:spPr>
          <a:xfrm>
            <a:off x="640080" y="996696"/>
            <a:ext cx="320040" cy="320040"/>
          </a:xfrm>
          <a:prstGeom prst="rect">
            <a:avLst/>
          </a:prstGeom>
        </p:spPr>
      </p:pic>
      <p:sp>
        <p:nvSpPr>
          <p:cNvPr id="5" name="Text 2"/>
          <p:cNvSpPr/>
          <p:nvPr/>
        </p:nvSpPr>
        <p:spPr>
          <a:xfrm>
            <a:off x="1097280" y="914400"/>
            <a:ext cx="7315200" cy="53035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Contrasenas: Min. 12 caracteres + MFA obligatorio</a:t>
            </a:r>
            <a:endParaRPr lang="en-US" sz="1200" dirty="0"/>
          </a:p>
        </p:txBody>
      </p:sp>
      <p:pic>
        <p:nvPicPr>
          <p:cNvPr id="6" name="Image 1" descr="preencoded.png"/>
          <p:cNvPicPr>
            <a:picLocks noChangeAspect="1"/>
          </p:cNvPicPr>
          <p:nvPr/>
        </p:nvPicPr>
        <p:blipFill>
          <a:blip r:embed="rId2"/>
          <a:stretch>
            <a:fillRect/>
          </a:stretch>
        </p:blipFill>
        <p:spPr>
          <a:xfrm>
            <a:off x="640080" y="1527048"/>
            <a:ext cx="320040" cy="320040"/>
          </a:xfrm>
          <a:prstGeom prst="rect">
            <a:avLst/>
          </a:prstGeom>
        </p:spPr>
      </p:pic>
      <p:sp>
        <p:nvSpPr>
          <p:cNvPr id="7" name="Text 3"/>
          <p:cNvSpPr/>
          <p:nvPr/>
        </p:nvSpPr>
        <p:spPr>
          <a:xfrm>
            <a:off x="1097280" y="1444752"/>
            <a:ext cx="7315200" cy="53035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Correo: No abrir adjuntos sospechosos. Reportar phishing.</a:t>
            </a:r>
            <a:endParaRPr lang="en-US" sz="1200" dirty="0"/>
          </a:p>
        </p:txBody>
      </p:sp>
      <p:sp>
        <p:nvSpPr>
          <p:cNvPr id="8" name="Shape 4"/>
          <p:cNvSpPr/>
          <p:nvPr/>
        </p:nvSpPr>
        <p:spPr>
          <a:xfrm>
            <a:off x="457200" y="1975104"/>
            <a:ext cx="8229600" cy="530352"/>
          </a:xfrm>
          <a:prstGeom prst="rect">
            <a:avLst>
              <a:gd name="adj" fmla="val 6897"/>
            </a:avLst>
          </a:prstGeom>
          <a:solidFill>
            <a:srgbClr val="FFFFFF"/>
          </a:solidFill>
          <a:ln/>
        </p:spPr>
      </p:sp>
      <p:pic>
        <p:nvPicPr>
          <p:cNvPr id="9" name="Image 2" descr="preencoded.png"/>
          <p:cNvPicPr>
            <a:picLocks noChangeAspect="1"/>
          </p:cNvPicPr>
          <p:nvPr/>
        </p:nvPicPr>
        <p:blipFill>
          <a:blip r:embed="rId3"/>
          <a:stretch>
            <a:fillRect/>
          </a:stretch>
        </p:blipFill>
        <p:spPr>
          <a:xfrm>
            <a:off x="640080" y="2057400"/>
            <a:ext cx="320040" cy="320040"/>
          </a:xfrm>
          <a:prstGeom prst="rect">
            <a:avLst/>
          </a:prstGeom>
        </p:spPr>
      </p:pic>
      <p:sp>
        <p:nvSpPr>
          <p:cNvPr id="10" name="Text 5"/>
          <p:cNvSpPr/>
          <p:nvPr/>
        </p:nvSpPr>
        <p:spPr>
          <a:xfrm>
            <a:off x="1097280" y="1975104"/>
            <a:ext cx="7315200" cy="53035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Internet: Solo uso profesional. Sin software no autorizado.</a:t>
            </a:r>
            <a:endParaRPr lang="en-US" sz="1200" dirty="0"/>
          </a:p>
        </p:txBody>
      </p:sp>
      <p:pic>
        <p:nvPicPr>
          <p:cNvPr id="11" name="Image 3" descr="preencoded.png"/>
          <p:cNvPicPr>
            <a:picLocks noChangeAspect="1"/>
          </p:cNvPicPr>
          <p:nvPr/>
        </p:nvPicPr>
        <p:blipFill>
          <a:blip r:embed="rId4"/>
          <a:stretch>
            <a:fillRect/>
          </a:stretch>
        </p:blipFill>
        <p:spPr>
          <a:xfrm>
            <a:off x="640080" y="2587752"/>
            <a:ext cx="320040" cy="320040"/>
          </a:xfrm>
          <a:prstGeom prst="rect">
            <a:avLst/>
          </a:prstGeom>
        </p:spPr>
      </p:pic>
      <p:sp>
        <p:nvSpPr>
          <p:cNvPr id="12" name="Text 6"/>
          <p:cNvSpPr/>
          <p:nvPr/>
        </p:nvSpPr>
        <p:spPr>
          <a:xfrm>
            <a:off x="1097280" y="2505456"/>
            <a:ext cx="7315200" cy="53035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Moviles: Cifrado + PIN/biometria obligatorios.</a:t>
            </a:r>
            <a:endParaRPr lang="en-US" sz="1200" dirty="0"/>
          </a:p>
        </p:txBody>
      </p:sp>
      <p:sp>
        <p:nvSpPr>
          <p:cNvPr id="13" name="Shape 7"/>
          <p:cNvSpPr/>
          <p:nvPr/>
        </p:nvSpPr>
        <p:spPr>
          <a:xfrm>
            <a:off x="457200" y="3035808"/>
            <a:ext cx="8229600" cy="530352"/>
          </a:xfrm>
          <a:prstGeom prst="rect">
            <a:avLst>
              <a:gd name="adj" fmla="val 6897"/>
            </a:avLst>
          </a:prstGeom>
          <a:solidFill>
            <a:srgbClr val="FFFFFF"/>
          </a:solidFill>
          <a:ln/>
        </p:spPr>
      </p:sp>
      <p:pic>
        <p:nvPicPr>
          <p:cNvPr id="14" name="Image 4" descr="preencoded.png"/>
          <p:cNvPicPr>
            <a:picLocks noChangeAspect="1"/>
          </p:cNvPicPr>
          <p:nvPr/>
        </p:nvPicPr>
        <p:blipFill>
          <a:blip r:embed="rId5"/>
          <a:stretch>
            <a:fillRect/>
          </a:stretch>
        </p:blipFill>
        <p:spPr>
          <a:xfrm>
            <a:off x="640080" y="3118104"/>
            <a:ext cx="320040" cy="320040"/>
          </a:xfrm>
          <a:prstGeom prst="rect">
            <a:avLst/>
          </a:prstGeom>
        </p:spPr>
      </p:pic>
      <p:sp>
        <p:nvSpPr>
          <p:cNvPr id="15" name="Text 8"/>
          <p:cNvSpPr/>
          <p:nvPr/>
        </p:nvSpPr>
        <p:spPr>
          <a:xfrm>
            <a:off x="1097280" y="3035808"/>
            <a:ext cx="7315200" cy="53035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Teletrabajo: VPN siempre. Sin WiFi publicas.</a:t>
            </a:r>
            <a:endParaRPr lang="en-US" sz="1200" dirty="0"/>
          </a:p>
        </p:txBody>
      </p:sp>
      <p:pic>
        <p:nvPicPr>
          <p:cNvPr id="16" name="Image 5" descr="preencoded.png"/>
          <p:cNvPicPr>
            <a:picLocks noChangeAspect="1"/>
          </p:cNvPicPr>
          <p:nvPr/>
        </p:nvPicPr>
        <p:blipFill>
          <a:blip r:embed="rId6"/>
          <a:stretch>
            <a:fillRect/>
          </a:stretch>
        </p:blipFill>
        <p:spPr>
          <a:xfrm>
            <a:off x="640080" y="3648456"/>
            <a:ext cx="320040" cy="320040"/>
          </a:xfrm>
          <a:prstGeom prst="rect">
            <a:avLst/>
          </a:prstGeom>
        </p:spPr>
      </p:pic>
      <p:sp>
        <p:nvSpPr>
          <p:cNvPr id="17" name="Text 9"/>
          <p:cNvSpPr/>
          <p:nvPr/>
        </p:nvSpPr>
        <p:spPr>
          <a:xfrm>
            <a:off x="1097280" y="3566160"/>
            <a:ext cx="7315200" cy="53035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Puesto: Mesa limpia. Bloquear pantalla (Win+L / Cmd+Q).</a:t>
            </a:r>
            <a:endParaRPr lang="en-US" sz="1200" dirty="0"/>
          </a:p>
        </p:txBody>
      </p:sp>
      <p:sp>
        <p:nvSpPr>
          <p:cNvPr id="18" name="Shape 10"/>
          <p:cNvSpPr/>
          <p:nvPr/>
        </p:nvSpPr>
        <p:spPr>
          <a:xfrm>
            <a:off x="457200" y="4096512"/>
            <a:ext cx="8229600" cy="530352"/>
          </a:xfrm>
          <a:prstGeom prst="rect">
            <a:avLst>
              <a:gd name="adj" fmla="val 6897"/>
            </a:avLst>
          </a:prstGeom>
          <a:solidFill>
            <a:srgbClr val="FFFFFF"/>
          </a:solidFill>
          <a:ln/>
        </p:spPr>
      </p:sp>
      <p:pic>
        <p:nvPicPr>
          <p:cNvPr id="19" name="Image 6" descr="preencoded.png"/>
          <p:cNvPicPr>
            <a:picLocks noChangeAspect="1"/>
          </p:cNvPicPr>
          <p:nvPr/>
        </p:nvPicPr>
        <p:blipFill>
          <a:blip r:embed="rId7"/>
          <a:stretch>
            <a:fillRect/>
          </a:stretch>
        </p:blipFill>
        <p:spPr>
          <a:xfrm>
            <a:off x="640080" y="4178808"/>
            <a:ext cx="320040" cy="320040"/>
          </a:xfrm>
          <a:prstGeom prst="rect">
            <a:avLst/>
          </a:prstGeom>
        </p:spPr>
      </p:pic>
      <p:sp>
        <p:nvSpPr>
          <p:cNvPr id="20" name="Text 11"/>
          <p:cNvSpPr/>
          <p:nvPr/>
        </p:nvSpPr>
        <p:spPr>
          <a:xfrm>
            <a:off x="1097280" y="4096512"/>
            <a:ext cx="7315200" cy="530352"/>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BYOD: Requiere autorizacion formal (I05).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Procedimientos Operativos</a:t>
            </a:r>
            <a:endParaRPr lang="en-US" sz="2200" dirty="0"/>
          </a:p>
        </p:txBody>
      </p:sp>
      <p:sp>
        <p:nvSpPr>
          <p:cNvPr id="3" name="Shape 1"/>
          <p:cNvSpPr/>
          <p:nvPr/>
        </p:nvSpPr>
        <p:spPr>
          <a:xfrm>
            <a:off x="731520" y="914400"/>
            <a:ext cx="7680960" cy="640080"/>
          </a:xfrm>
          <a:prstGeom prst="roundRect">
            <a:avLst>
              <a:gd name="adj" fmla="val 8571"/>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868680" y="1024128"/>
            <a:ext cx="502920" cy="320040"/>
          </a:xfrm>
          <a:prstGeom prst="roundRect">
            <a:avLst>
              <a:gd name="adj" fmla="val 14286"/>
            </a:avLst>
          </a:prstGeom>
          <a:solidFill>
            <a:srgbClr val="0D9A76"/>
          </a:solidFill>
          <a:ln/>
        </p:spPr>
      </p:sp>
      <p:sp>
        <p:nvSpPr>
          <p:cNvPr id="5" name="Text 3"/>
          <p:cNvSpPr/>
          <p:nvPr/>
        </p:nvSpPr>
        <p:spPr>
          <a:xfrm>
            <a:off x="868680" y="1024128"/>
            <a:ext cx="502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P01</a:t>
            </a:r>
            <a:endParaRPr lang="en-US" sz="1100" dirty="0"/>
          </a:p>
        </p:txBody>
      </p:sp>
      <p:sp>
        <p:nvSpPr>
          <p:cNvPr id="6" name="Text 4"/>
          <p:cNvSpPr/>
          <p:nvPr/>
        </p:nvSpPr>
        <p:spPr>
          <a:xfrm>
            <a:off x="1508760" y="960120"/>
            <a:ext cx="274320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Gestion de Riesgos</a:t>
            </a:r>
            <a:endParaRPr lang="en-US" sz="1400" dirty="0"/>
          </a:p>
        </p:txBody>
      </p:sp>
      <p:sp>
        <p:nvSpPr>
          <p:cNvPr id="7" name="Text 5"/>
          <p:cNvSpPr/>
          <p:nvPr/>
        </p:nvSpPr>
        <p:spPr>
          <a:xfrm>
            <a:off x="1508760" y="1234440"/>
            <a:ext cx="6675120" cy="22860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Identificacion y tratamiento de riesgos</a:t>
            </a:r>
            <a:endParaRPr lang="en-US" sz="1100" dirty="0"/>
          </a:p>
        </p:txBody>
      </p:sp>
      <p:sp>
        <p:nvSpPr>
          <p:cNvPr id="8" name="Shape 6"/>
          <p:cNvSpPr/>
          <p:nvPr/>
        </p:nvSpPr>
        <p:spPr>
          <a:xfrm>
            <a:off x="731520" y="1645920"/>
            <a:ext cx="7680960" cy="640080"/>
          </a:xfrm>
          <a:prstGeom prst="roundRect">
            <a:avLst>
              <a:gd name="adj" fmla="val 8571"/>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868680" y="1755648"/>
            <a:ext cx="502920" cy="320040"/>
          </a:xfrm>
          <a:prstGeom prst="roundRect">
            <a:avLst>
              <a:gd name="adj" fmla="val 14286"/>
            </a:avLst>
          </a:prstGeom>
          <a:solidFill>
            <a:srgbClr val="0D9A76"/>
          </a:solidFill>
          <a:ln/>
        </p:spPr>
      </p:sp>
      <p:sp>
        <p:nvSpPr>
          <p:cNvPr id="10" name="Text 8"/>
          <p:cNvSpPr/>
          <p:nvPr/>
        </p:nvSpPr>
        <p:spPr>
          <a:xfrm>
            <a:off x="868680" y="1755648"/>
            <a:ext cx="502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P02</a:t>
            </a:r>
            <a:endParaRPr lang="en-US" sz="1100" dirty="0"/>
          </a:p>
        </p:txBody>
      </p:sp>
      <p:sp>
        <p:nvSpPr>
          <p:cNvPr id="11" name="Text 9"/>
          <p:cNvSpPr/>
          <p:nvPr/>
        </p:nvSpPr>
        <p:spPr>
          <a:xfrm>
            <a:off x="1508760" y="1691640"/>
            <a:ext cx="274320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Adquisicion TIC</a:t>
            </a:r>
            <a:endParaRPr lang="en-US" sz="1400" dirty="0"/>
          </a:p>
        </p:txBody>
      </p:sp>
      <p:sp>
        <p:nvSpPr>
          <p:cNvPr id="12" name="Text 10"/>
          <p:cNvSpPr/>
          <p:nvPr/>
        </p:nvSpPr>
        <p:spPr>
          <a:xfrm>
            <a:off x="1508760" y="1965960"/>
            <a:ext cx="6675120" cy="22860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Evaluacion de proveedores y herramientas</a:t>
            </a:r>
            <a:endParaRPr lang="en-US" sz="1100" dirty="0"/>
          </a:p>
        </p:txBody>
      </p:sp>
      <p:sp>
        <p:nvSpPr>
          <p:cNvPr id="13" name="Shape 11"/>
          <p:cNvSpPr/>
          <p:nvPr/>
        </p:nvSpPr>
        <p:spPr>
          <a:xfrm>
            <a:off x="731520" y="2377440"/>
            <a:ext cx="7680960" cy="640080"/>
          </a:xfrm>
          <a:prstGeom prst="roundRect">
            <a:avLst>
              <a:gd name="adj" fmla="val 8571"/>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868680" y="2487168"/>
            <a:ext cx="502920" cy="320040"/>
          </a:xfrm>
          <a:prstGeom prst="roundRect">
            <a:avLst>
              <a:gd name="adj" fmla="val 14286"/>
            </a:avLst>
          </a:prstGeom>
          <a:solidFill>
            <a:srgbClr val="0D9A76"/>
          </a:solidFill>
          <a:ln/>
        </p:spPr>
      </p:sp>
      <p:sp>
        <p:nvSpPr>
          <p:cNvPr id="15" name="Text 13"/>
          <p:cNvSpPr/>
          <p:nvPr/>
        </p:nvSpPr>
        <p:spPr>
          <a:xfrm>
            <a:off x="868680" y="2487168"/>
            <a:ext cx="502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P03</a:t>
            </a:r>
            <a:endParaRPr lang="en-US" sz="1100" dirty="0"/>
          </a:p>
        </p:txBody>
      </p:sp>
      <p:sp>
        <p:nvSpPr>
          <p:cNvPr id="16" name="Text 14"/>
          <p:cNvSpPr/>
          <p:nvPr/>
        </p:nvSpPr>
        <p:spPr>
          <a:xfrm>
            <a:off x="1508760" y="2423160"/>
            <a:ext cx="274320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Gestion de Cambios</a:t>
            </a:r>
            <a:endParaRPr lang="en-US" sz="1400" dirty="0"/>
          </a:p>
        </p:txBody>
      </p:sp>
      <p:sp>
        <p:nvSpPr>
          <p:cNvPr id="17" name="Text 15"/>
          <p:cNvSpPr/>
          <p:nvPr/>
        </p:nvSpPr>
        <p:spPr>
          <a:xfrm>
            <a:off x="1508760" y="2697480"/>
            <a:ext cx="6675120" cy="22860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Control formal de cambios en sistemas</a:t>
            </a:r>
            <a:endParaRPr lang="en-US" sz="1100" dirty="0"/>
          </a:p>
        </p:txBody>
      </p:sp>
      <p:sp>
        <p:nvSpPr>
          <p:cNvPr id="18" name="Shape 16"/>
          <p:cNvSpPr/>
          <p:nvPr/>
        </p:nvSpPr>
        <p:spPr>
          <a:xfrm>
            <a:off x="731520" y="3108960"/>
            <a:ext cx="7680960" cy="640080"/>
          </a:xfrm>
          <a:prstGeom prst="roundRect">
            <a:avLst>
              <a:gd name="adj" fmla="val 8571"/>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868680" y="3218688"/>
            <a:ext cx="502920" cy="320040"/>
          </a:xfrm>
          <a:prstGeom prst="roundRect">
            <a:avLst>
              <a:gd name="adj" fmla="val 14286"/>
            </a:avLst>
          </a:prstGeom>
          <a:solidFill>
            <a:srgbClr val="0D9A76"/>
          </a:solidFill>
          <a:ln/>
        </p:spPr>
      </p:sp>
      <p:sp>
        <p:nvSpPr>
          <p:cNvPr id="20" name="Text 18"/>
          <p:cNvSpPr/>
          <p:nvPr/>
        </p:nvSpPr>
        <p:spPr>
          <a:xfrm>
            <a:off x="868680" y="3218688"/>
            <a:ext cx="502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P04</a:t>
            </a:r>
            <a:endParaRPr lang="en-US" sz="1100" dirty="0"/>
          </a:p>
        </p:txBody>
      </p:sp>
      <p:sp>
        <p:nvSpPr>
          <p:cNvPr id="21" name="Text 19"/>
          <p:cNvSpPr/>
          <p:nvPr/>
        </p:nvSpPr>
        <p:spPr>
          <a:xfrm>
            <a:off x="1508760" y="3154680"/>
            <a:ext cx="274320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Gestion de Usuarios</a:t>
            </a:r>
            <a:endParaRPr lang="en-US" sz="1400" dirty="0"/>
          </a:p>
        </p:txBody>
      </p:sp>
      <p:sp>
        <p:nvSpPr>
          <p:cNvPr id="22" name="Text 20"/>
          <p:cNvSpPr/>
          <p:nvPr/>
        </p:nvSpPr>
        <p:spPr>
          <a:xfrm>
            <a:off x="1508760" y="3429000"/>
            <a:ext cx="6675120" cy="22860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Altas, bajas y modificaciones de accesos</a:t>
            </a:r>
            <a:endParaRPr lang="en-US" sz="1100" dirty="0"/>
          </a:p>
        </p:txBody>
      </p:sp>
      <p:sp>
        <p:nvSpPr>
          <p:cNvPr id="23" name="Shape 21"/>
          <p:cNvSpPr/>
          <p:nvPr/>
        </p:nvSpPr>
        <p:spPr>
          <a:xfrm>
            <a:off x="731520" y="3840480"/>
            <a:ext cx="7680960" cy="640080"/>
          </a:xfrm>
          <a:prstGeom prst="roundRect">
            <a:avLst>
              <a:gd name="adj" fmla="val 8571"/>
            </a:avLst>
          </a:prstGeom>
          <a:solidFill>
            <a:srgbClr val="FFFFFF"/>
          </a:solidFill>
          <a:ln/>
          <a:effectLst>
            <a:outerShdw sx="100000" sy="100000" kx="0" ky="0" algn="bl" rotWithShape="0" blurRad="50800" dist="25400" dir="8100000">
              <a:srgbClr val="000000">
                <a:alpha val="10000"/>
              </a:srgbClr>
            </a:outerShdw>
          </a:effectLst>
        </p:spPr>
      </p:sp>
      <p:sp>
        <p:nvSpPr>
          <p:cNvPr id="24" name="Shape 22"/>
          <p:cNvSpPr/>
          <p:nvPr/>
        </p:nvSpPr>
        <p:spPr>
          <a:xfrm>
            <a:off x="868680" y="3950208"/>
            <a:ext cx="502920" cy="320040"/>
          </a:xfrm>
          <a:prstGeom prst="roundRect">
            <a:avLst>
              <a:gd name="adj" fmla="val 14286"/>
            </a:avLst>
          </a:prstGeom>
          <a:solidFill>
            <a:srgbClr val="0D9A76"/>
          </a:solidFill>
          <a:ln/>
        </p:spPr>
      </p:sp>
      <p:sp>
        <p:nvSpPr>
          <p:cNvPr id="25" name="Text 23"/>
          <p:cNvSpPr/>
          <p:nvPr/>
        </p:nvSpPr>
        <p:spPr>
          <a:xfrm>
            <a:off x="868680" y="3950208"/>
            <a:ext cx="50292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P05</a:t>
            </a:r>
            <a:endParaRPr lang="en-US" sz="1100" dirty="0"/>
          </a:p>
        </p:txBody>
      </p:sp>
      <p:sp>
        <p:nvSpPr>
          <p:cNvPr id="26" name="Text 24"/>
          <p:cNvSpPr/>
          <p:nvPr/>
        </p:nvSpPr>
        <p:spPr>
          <a:xfrm>
            <a:off x="1508760" y="3886200"/>
            <a:ext cx="274320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Gestion de Incidentes</a:t>
            </a:r>
            <a:endParaRPr lang="en-US" sz="1400" dirty="0"/>
          </a:p>
        </p:txBody>
      </p:sp>
      <p:sp>
        <p:nvSpPr>
          <p:cNvPr id="27" name="Text 25"/>
          <p:cNvSpPr/>
          <p:nvPr/>
        </p:nvSpPr>
        <p:spPr>
          <a:xfrm>
            <a:off x="1508760" y="4160520"/>
            <a:ext cx="6675120" cy="22860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Deteccion, respuesta y notificacion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Desarrollo Seguro (mp.sw.1 / mp.sw.2)</a:t>
            </a:r>
            <a:endParaRPr lang="en-US" sz="2200" dirty="0"/>
          </a:p>
        </p:txBody>
      </p:sp>
      <p:sp>
        <p:nvSpPr>
          <p:cNvPr id="3" name="Shape 1"/>
          <p:cNvSpPr/>
          <p:nvPr/>
        </p:nvSpPr>
        <p:spPr>
          <a:xfrm>
            <a:off x="731520" y="1005840"/>
            <a:ext cx="7680960" cy="594360"/>
          </a:xfrm>
          <a:prstGeom prst="roundRect">
            <a:avLst>
              <a:gd name="adj" fmla="val 9231"/>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731520" y="1005840"/>
            <a:ext cx="54864" cy="594360"/>
          </a:xfrm>
          <a:prstGeom prst="rect">
            <a:avLst>
              <a:gd name="adj" fmla="val 50000"/>
            </a:avLst>
          </a:prstGeom>
          <a:solidFill>
            <a:srgbClr val="0D9A76"/>
          </a:solidFill>
          <a:ln/>
        </p:spPr>
      </p:sp>
      <p:pic>
        <p:nvPicPr>
          <p:cNvPr id="5" name="Image 0" descr="preencoded.png"/>
          <p:cNvPicPr>
            <a:picLocks noChangeAspect="1"/>
          </p:cNvPicPr>
          <p:nvPr/>
        </p:nvPicPr>
        <p:blipFill>
          <a:blip r:embed="rId1"/>
          <a:stretch>
            <a:fillRect/>
          </a:stretch>
        </p:blipFill>
        <p:spPr>
          <a:xfrm>
            <a:off x="960120" y="1097280"/>
            <a:ext cx="320040" cy="320040"/>
          </a:xfrm>
          <a:prstGeom prst="rect">
            <a:avLst/>
          </a:prstGeom>
        </p:spPr>
      </p:pic>
      <p:sp>
        <p:nvSpPr>
          <p:cNvPr id="6" name="Text 3"/>
          <p:cNvSpPr/>
          <p:nvPr/>
        </p:nvSpPr>
        <p:spPr>
          <a:xfrm>
            <a:off x="1417320" y="1005840"/>
            <a:ext cx="6766560" cy="5943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SDLC seguro: Seguridad integrada en cada fase del desarrollo</a:t>
            </a:r>
            <a:endParaRPr lang="en-US" sz="1300" dirty="0"/>
          </a:p>
        </p:txBody>
      </p:sp>
      <p:sp>
        <p:nvSpPr>
          <p:cNvPr id="7" name="Shape 4"/>
          <p:cNvSpPr/>
          <p:nvPr/>
        </p:nvSpPr>
        <p:spPr>
          <a:xfrm>
            <a:off x="731520" y="1691640"/>
            <a:ext cx="7680960" cy="594360"/>
          </a:xfrm>
          <a:prstGeom prst="roundRect">
            <a:avLst>
              <a:gd name="adj" fmla="val 9231"/>
            </a:avLst>
          </a:prstGeom>
          <a:solidFill>
            <a:srgbClr val="FFFFFF"/>
          </a:solidFill>
          <a:ln/>
          <a:effectLst>
            <a:outerShdw sx="100000" sy="100000" kx="0" ky="0" algn="bl" rotWithShape="0" blurRad="50800" dist="25400" dir="8100000">
              <a:srgbClr val="000000">
                <a:alpha val="10000"/>
              </a:srgbClr>
            </a:outerShdw>
          </a:effectLst>
        </p:spPr>
      </p:sp>
      <p:sp>
        <p:nvSpPr>
          <p:cNvPr id="8" name="Shape 5"/>
          <p:cNvSpPr/>
          <p:nvPr/>
        </p:nvSpPr>
        <p:spPr>
          <a:xfrm>
            <a:off x="731520" y="1691640"/>
            <a:ext cx="54864" cy="594360"/>
          </a:xfrm>
          <a:prstGeom prst="rect">
            <a:avLst>
              <a:gd name="adj" fmla="val 50000"/>
            </a:avLst>
          </a:prstGeom>
          <a:solidFill>
            <a:srgbClr val="0D9A76"/>
          </a:solidFill>
          <a:ln/>
        </p:spPr>
      </p:sp>
      <p:pic>
        <p:nvPicPr>
          <p:cNvPr id="9" name="Image 1" descr="preencoded.png"/>
          <p:cNvPicPr>
            <a:picLocks noChangeAspect="1"/>
          </p:cNvPicPr>
          <p:nvPr/>
        </p:nvPicPr>
        <p:blipFill>
          <a:blip r:embed="rId2"/>
          <a:stretch>
            <a:fillRect/>
          </a:stretch>
        </p:blipFill>
        <p:spPr>
          <a:xfrm>
            <a:off x="960120" y="1783080"/>
            <a:ext cx="320040" cy="320040"/>
          </a:xfrm>
          <a:prstGeom prst="rect">
            <a:avLst/>
          </a:prstGeom>
        </p:spPr>
      </p:pic>
      <p:sp>
        <p:nvSpPr>
          <p:cNvPr id="10" name="Text 6"/>
          <p:cNvSpPr/>
          <p:nvPr/>
        </p:nvSpPr>
        <p:spPr>
          <a:xfrm>
            <a:off x="1417320" y="1691640"/>
            <a:ext cx="6766560" cy="5943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Revision de codigo obligatoria antes de cada despliegue</a:t>
            </a:r>
            <a:endParaRPr lang="en-US" sz="1300" dirty="0"/>
          </a:p>
        </p:txBody>
      </p:sp>
      <p:sp>
        <p:nvSpPr>
          <p:cNvPr id="11" name="Shape 7"/>
          <p:cNvSpPr/>
          <p:nvPr/>
        </p:nvSpPr>
        <p:spPr>
          <a:xfrm>
            <a:off x="731520" y="2377440"/>
            <a:ext cx="7680960" cy="594360"/>
          </a:xfrm>
          <a:prstGeom prst="roundRect">
            <a:avLst>
              <a:gd name="adj" fmla="val 9231"/>
            </a:avLst>
          </a:prstGeom>
          <a:solidFill>
            <a:srgbClr val="FFFFFF"/>
          </a:solidFill>
          <a:ln/>
          <a:effectLst>
            <a:outerShdw sx="100000" sy="100000" kx="0" ky="0" algn="bl" rotWithShape="0" blurRad="50800" dist="25400" dir="8100000">
              <a:srgbClr val="000000">
                <a:alpha val="10000"/>
              </a:srgbClr>
            </a:outerShdw>
          </a:effectLst>
        </p:spPr>
      </p:sp>
      <p:sp>
        <p:nvSpPr>
          <p:cNvPr id="12" name="Shape 8"/>
          <p:cNvSpPr/>
          <p:nvPr/>
        </p:nvSpPr>
        <p:spPr>
          <a:xfrm>
            <a:off x="731520" y="2377440"/>
            <a:ext cx="54864" cy="594360"/>
          </a:xfrm>
          <a:prstGeom prst="rect">
            <a:avLst>
              <a:gd name="adj" fmla="val 50000"/>
            </a:avLst>
          </a:prstGeom>
          <a:solidFill>
            <a:srgbClr val="0D9A76"/>
          </a:solidFill>
          <a:ln/>
        </p:spPr>
      </p:sp>
      <p:pic>
        <p:nvPicPr>
          <p:cNvPr id="13" name="Image 2" descr="preencoded.png"/>
          <p:cNvPicPr>
            <a:picLocks noChangeAspect="1"/>
          </p:cNvPicPr>
          <p:nvPr/>
        </p:nvPicPr>
        <p:blipFill>
          <a:blip r:embed="rId3"/>
          <a:stretch>
            <a:fillRect/>
          </a:stretch>
        </p:blipFill>
        <p:spPr>
          <a:xfrm>
            <a:off x="960120" y="2468880"/>
            <a:ext cx="320040" cy="320040"/>
          </a:xfrm>
          <a:prstGeom prst="rect">
            <a:avLst/>
          </a:prstGeom>
        </p:spPr>
      </p:pic>
      <p:sp>
        <p:nvSpPr>
          <p:cNvPr id="14" name="Text 9"/>
          <p:cNvSpPr/>
          <p:nvPr/>
        </p:nvSpPr>
        <p:spPr>
          <a:xfrm>
            <a:off x="1417320" y="2377440"/>
            <a:ext cx="6766560" cy="5943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Pruebas de seguridad y analisis de vulnerabilidades</a:t>
            </a:r>
            <a:endParaRPr lang="en-US" sz="1300" dirty="0"/>
          </a:p>
        </p:txBody>
      </p:sp>
      <p:sp>
        <p:nvSpPr>
          <p:cNvPr id="15" name="Shape 10"/>
          <p:cNvSpPr/>
          <p:nvPr/>
        </p:nvSpPr>
        <p:spPr>
          <a:xfrm>
            <a:off x="731520" y="3063240"/>
            <a:ext cx="7680960" cy="594360"/>
          </a:xfrm>
          <a:prstGeom prst="roundRect">
            <a:avLst>
              <a:gd name="adj" fmla="val 9231"/>
            </a:avLst>
          </a:prstGeom>
          <a:solidFill>
            <a:srgbClr val="FFFFFF"/>
          </a:solidFill>
          <a:ln/>
          <a:effectLst>
            <a:outerShdw sx="100000" sy="100000" kx="0" ky="0" algn="bl" rotWithShape="0" blurRad="50800" dist="25400" dir="8100000">
              <a:srgbClr val="000000">
                <a:alpha val="10000"/>
              </a:srgbClr>
            </a:outerShdw>
          </a:effectLst>
        </p:spPr>
      </p:sp>
      <p:sp>
        <p:nvSpPr>
          <p:cNvPr id="16" name="Shape 11"/>
          <p:cNvSpPr/>
          <p:nvPr/>
        </p:nvSpPr>
        <p:spPr>
          <a:xfrm>
            <a:off x="731520" y="3063240"/>
            <a:ext cx="54864" cy="594360"/>
          </a:xfrm>
          <a:prstGeom prst="rect">
            <a:avLst>
              <a:gd name="adj" fmla="val 50000"/>
            </a:avLst>
          </a:prstGeom>
          <a:solidFill>
            <a:srgbClr val="0D9A76"/>
          </a:solidFill>
          <a:ln/>
        </p:spPr>
      </p:sp>
      <p:pic>
        <p:nvPicPr>
          <p:cNvPr id="17" name="Image 3" descr="preencoded.png"/>
          <p:cNvPicPr>
            <a:picLocks noChangeAspect="1"/>
          </p:cNvPicPr>
          <p:nvPr/>
        </p:nvPicPr>
        <p:blipFill>
          <a:blip r:embed="rId4"/>
          <a:stretch>
            <a:fillRect/>
          </a:stretch>
        </p:blipFill>
        <p:spPr>
          <a:xfrm>
            <a:off x="960120" y="3154680"/>
            <a:ext cx="320040" cy="320040"/>
          </a:xfrm>
          <a:prstGeom prst="rect">
            <a:avLst/>
          </a:prstGeom>
        </p:spPr>
      </p:pic>
      <p:sp>
        <p:nvSpPr>
          <p:cNvPr id="18" name="Text 12"/>
          <p:cNvSpPr/>
          <p:nvPr/>
        </p:nvSpPr>
        <p:spPr>
          <a:xfrm>
            <a:off x="1417320" y="3063240"/>
            <a:ext cx="6766560" cy="5943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Control de versiones: Azure DevOps, ramas protegidas</a:t>
            </a:r>
            <a:endParaRPr lang="en-US" sz="1300" dirty="0"/>
          </a:p>
        </p:txBody>
      </p:sp>
      <p:sp>
        <p:nvSpPr>
          <p:cNvPr id="19" name="Shape 13"/>
          <p:cNvSpPr/>
          <p:nvPr/>
        </p:nvSpPr>
        <p:spPr>
          <a:xfrm>
            <a:off x="731520" y="3749040"/>
            <a:ext cx="7680960" cy="594360"/>
          </a:xfrm>
          <a:prstGeom prst="roundRect">
            <a:avLst>
              <a:gd name="adj" fmla="val 9231"/>
            </a:avLst>
          </a:prstGeom>
          <a:solidFill>
            <a:srgbClr val="FFFFFF"/>
          </a:solidFill>
          <a:ln/>
          <a:effectLst>
            <a:outerShdw sx="100000" sy="100000" kx="0" ky="0" algn="bl" rotWithShape="0" blurRad="50800" dist="25400" dir="8100000">
              <a:srgbClr val="000000">
                <a:alpha val="10000"/>
              </a:srgbClr>
            </a:outerShdw>
          </a:effectLst>
        </p:spPr>
      </p:sp>
      <p:sp>
        <p:nvSpPr>
          <p:cNvPr id="20" name="Shape 14"/>
          <p:cNvSpPr/>
          <p:nvPr/>
        </p:nvSpPr>
        <p:spPr>
          <a:xfrm>
            <a:off x="731520" y="3749040"/>
            <a:ext cx="54864" cy="594360"/>
          </a:xfrm>
          <a:prstGeom prst="rect">
            <a:avLst>
              <a:gd name="adj" fmla="val 50000"/>
            </a:avLst>
          </a:prstGeom>
          <a:solidFill>
            <a:srgbClr val="0D9A76"/>
          </a:solidFill>
          <a:ln/>
        </p:spPr>
      </p:sp>
      <p:pic>
        <p:nvPicPr>
          <p:cNvPr id="21" name="Image 4" descr="preencoded.png"/>
          <p:cNvPicPr>
            <a:picLocks noChangeAspect="1"/>
          </p:cNvPicPr>
          <p:nvPr/>
        </p:nvPicPr>
        <p:blipFill>
          <a:blip r:embed="rId5"/>
          <a:stretch>
            <a:fillRect/>
          </a:stretch>
        </p:blipFill>
        <p:spPr>
          <a:xfrm>
            <a:off x="960120" y="3840480"/>
            <a:ext cx="320040" cy="320040"/>
          </a:xfrm>
          <a:prstGeom prst="rect">
            <a:avLst/>
          </a:prstGeom>
        </p:spPr>
      </p:pic>
      <p:sp>
        <p:nvSpPr>
          <p:cNvPr id="22" name="Text 15"/>
          <p:cNvSpPr/>
          <p:nvPr/>
        </p:nvSpPr>
        <p:spPr>
          <a:xfrm>
            <a:off x="1417320" y="3749040"/>
            <a:ext cx="6766560" cy="5943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Gestion de dependencias: actualizaciones prioritarias de seguridad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Clasificacion de la Informacion</a:t>
            </a:r>
            <a:endParaRPr lang="en-US" sz="2200" dirty="0"/>
          </a:p>
        </p:txBody>
      </p:sp>
      <p:sp>
        <p:nvSpPr>
          <p:cNvPr id="3" name="Shape 1"/>
          <p:cNvSpPr/>
          <p:nvPr/>
        </p:nvSpPr>
        <p:spPr>
          <a:xfrm>
            <a:off x="914400" y="1097280"/>
            <a:ext cx="7315200" cy="731520"/>
          </a:xfrm>
          <a:prstGeom prst="roundRect">
            <a:avLst>
              <a:gd name="adj" fmla="val 7500"/>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914400" y="1097280"/>
            <a:ext cx="73152" cy="731520"/>
          </a:xfrm>
          <a:prstGeom prst="rect">
            <a:avLst>
              <a:gd name="adj" fmla="val 37500"/>
            </a:avLst>
          </a:prstGeom>
          <a:solidFill>
            <a:srgbClr val="38A169"/>
          </a:solidFill>
          <a:ln/>
        </p:spPr>
      </p:sp>
      <p:sp>
        <p:nvSpPr>
          <p:cNvPr id="5" name="Shape 3"/>
          <p:cNvSpPr/>
          <p:nvPr/>
        </p:nvSpPr>
        <p:spPr>
          <a:xfrm>
            <a:off x="1188720" y="1348740"/>
            <a:ext cx="228600" cy="228600"/>
          </a:xfrm>
          <a:prstGeom prst="ellipse">
            <a:avLst/>
          </a:prstGeom>
          <a:solidFill>
            <a:srgbClr val="38A169"/>
          </a:solidFill>
          <a:ln/>
        </p:spPr>
      </p:sp>
      <p:sp>
        <p:nvSpPr>
          <p:cNvPr id="6" name="Text 4"/>
          <p:cNvSpPr/>
          <p:nvPr/>
        </p:nvSpPr>
        <p:spPr>
          <a:xfrm>
            <a:off x="1554480" y="1143000"/>
            <a:ext cx="2286000" cy="64008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PUBLICO</a:t>
            </a:r>
            <a:endParaRPr lang="en-US" sz="1400" dirty="0"/>
          </a:p>
        </p:txBody>
      </p:sp>
      <p:sp>
        <p:nvSpPr>
          <p:cNvPr id="7" name="Text 5"/>
          <p:cNvSpPr/>
          <p:nvPr/>
        </p:nvSpPr>
        <p:spPr>
          <a:xfrm>
            <a:off x="3931920" y="1143000"/>
            <a:ext cx="4023360" cy="64008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Acceso libre. Sin proteccion especial.</a:t>
            </a:r>
            <a:endParaRPr lang="en-US" sz="1200" dirty="0"/>
          </a:p>
        </p:txBody>
      </p:sp>
      <p:sp>
        <p:nvSpPr>
          <p:cNvPr id="8" name="Shape 6"/>
          <p:cNvSpPr/>
          <p:nvPr/>
        </p:nvSpPr>
        <p:spPr>
          <a:xfrm>
            <a:off x="914400" y="1920240"/>
            <a:ext cx="7315200" cy="731520"/>
          </a:xfrm>
          <a:prstGeom prst="roundRect">
            <a:avLst>
              <a:gd name="adj" fmla="val 7500"/>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914400" y="1920240"/>
            <a:ext cx="73152" cy="731520"/>
          </a:xfrm>
          <a:prstGeom prst="rect">
            <a:avLst>
              <a:gd name="adj" fmla="val 37500"/>
            </a:avLst>
          </a:prstGeom>
          <a:solidFill>
            <a:srgbClr val="2E74B5"/>
          </a:solidFill>
          <a:ln/>
        </p:spPr>
      </p:sp>
      <p:sp>
        <p:nvSpPr>
          <p:cNvPr id="10" name="Shape 8"/>
          <p:cNvSpPr/>
          <p:nvPr/>
        </p:nvSpPr>
        <p:spPr>
          <a:xfrm>
            <a:off x="1188720" y="2171700"/>
            <a:ext cx="228600" cy="228600"/>
          </a:xfrm>
          <a:prstGeom prst="ellipse">
            <a:avLst/>
          </a:prstGeom>
          <a:solidFill>
            <a:srgbClr val="2E74B5"/>
          </a:solidFill>
          <a:ln/>
        </p:spPr>
      </p:sp>
      <p:sp>
        <p:nvSpPr>
          <p:cNvPr id="11" name="Text 9"/>
          <p:cNvSpPr/>
          <p:nvPr/>
        </p:nvSpPr>
        <p:spPr>
          <a:xfrm>
            <a:off x="1554480" y="1965960"/>
            <a:ext cx="2286000" cy="64008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USO INTERNO (por defecto)</a:t>
            </a:r>
            <a:endParaRPr lang="en-US" sz="1400" dirty="0"/>
          </a:p>
        </p:txBody>
      </p:sp>
      <p:sp>
        <p:nvSpPr>
          <p:cNvPr id="12" name="Text 10"/>
          <p:cNvSpPr/>
          <p:nvPr/>
        </p:nvSpPr>
        <p:spPr>
          <a:xfrm>
            <a:off x="3931920" y="1965960"/>
            <a:ext cx="4023360" cy="64008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Solo empleados. Etiquetado en cabecera.</a:t>
            </a:r>
            <a:endParaRPr lang="en-US" sz="1200" dirty="0"/>
          </a:p>
        </p:txBody>
      </p:sp>
      <p:sp>
        <p:nvSpPr>
          <p:cNvPr id="13" name="Shape 11"/>
          <p:cNvSpPr/>
          <p:nvPr/>
        </p:nvSpPr>
        <p:spPr>
          <a:xfrm>
            <a:off x="914400" y="2743200"/>
            <a:ext cx="7315200" cy="731520"/>
          </a:xfrm>
          <a:prstGeom prst="roundRect">
            <a:avLst>
              <a:gd name="adj" fmla="val 7500"/>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914400" y="2743200"/>
            <a:ext cx="73152" cy="731520"/>
          </a:xfrm>
          <a:prstGeom prst="rect">
            <a:avLst>
              <a:gd name="adj" fmla="val 37500"/>
            </a:avLst>
          </a:prstGeom>
          <a:solidFill>
            <a:srgbClr val="DD6B20"/>
          </a:solidFill>
          <a:ln/>
        </p:spPr>
      </p:sp>
      <p:sp>
        <p:nvSpPr>
          <p:cNvPr id="15" name="Shape 13"/>
          <p:cNvSpPr/>
          <p:nvPr/>
        </p:nvSpPr>
        <p:spPr>
          <a:xfrm>
            <a:off x="1188720" y="2994660"/>
            <a:ext cx="228600" cy="228600"/>
          </a:xfrm>
          <a:prstGeom prst="ellipse">
            <a:avLst/>
          </a:prstGeom>
          <a:solidFill>
            <a:srgbClr val="DD6B20"/>
          </a:solidFill>
          <a:ln/>
        </p:spPr>
      </p:sp>
      <p:sp>
        <p:nvSpPr>
          <p:cNvPr id="16" name="Text 14"/>
          <p:cNvSpPr/>
          <p:nvPr/>
        </p:nvSpPr>
        <p:spPr>
          <a:xfrm>
            <a:off x="1554480" y="2788920"/>
            <a:ext cx="2286000" cy="64008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CONFIDENCIAL</a:t>
            </a:r>
            <a:endParaRPr lang="en-US" sz="1400" dirty="0"/>
          </a:p>
        </p:txBody>
      </p:sp>
      <p:sp>
        <p:nvSpPr>
          <p:cNvPr id="17" name="Text 15"/>
          <p:cNvSpPr/>
          <p:nvPr/>
        </p:nvSpPr>
        <p:spPr>
          <a:xfrm>
            <a:off x="3931920" y="2788920"/>
            <a:ext cx="4023360" cy="64008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Acceso restringido. Cifrado en transmision.</a:t>
            </a:r>
            <a:endParaRPr lang="en-US" sz="1200" dirty="0"/>
          </a:p>
        </p:txBody>
      </p:sp>
      <p:sp>
        <p:nvSpPr>
          <p:cNvPr id="18" name="Shape 16"/>
          <p:cNvSpPr/>
          <p:nvPr/>
        </p:nvSpPr>
        <p:spPr>
          <a:xfrm>
            <a:off x="914400" y="3566160"/>
            <a:ext cx="7315200" cy="731520"/>
          </a:xfrm>
          <a:prstGeom prst="roundRect">
            <a:avLst>
              <a:gd name="adj" fmla="val 7500"/>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914400" y="3566160"/>
            <a:ext cx="73152" cy="731520"/>
          </a:xfrm>
          <a:prstGeom prst="rect">
            <a:avLst>
              <a:gd name="adj" fmla="val 37500"/>
            </a:avLst>
          </a:prstGeom>
          <a:solidFill>
            <a:srgbClr val="E53E3E"/>
          </a:solidFill>
          <a:ln/>
        </p:spPr>
      </p:sp>
      <p:sp>
        <p:nvSpPr>
          <p:cNvPr id="20" name="Shape 18"/>
          <p:cNvSpPr/>
          <p:nvPr/>
        </p:nvSpPr>
        <p:spPr>
          <a:xfrm>
            <a:off x="1188720" y="3817620"/>
            <a:ext cx="228600" cy="228600"/>
          </a:xfrm>
          <a:prstGeom prst="ellipse">
            <a:avLst/>
          </a:prstGeom>
          <a:solidFill>
            <a:srgbClr val="E53E3E"/>
          </a:solidFill>
          <a:ln/>
        </p:spPr>
      </p:sp>
      <p:sp>
        <p:nvSpPr>
          <p:cNvPr id="21" name="Text 19"/>
          <p:cNvSpPr/>
          <p:nvPr/>
        </p:nvSpPr>
        <p:spPr>
          <a:xfrm>
            <a:off x="1554480" y="3611880"/>
            <a:ext cx="2286000" cy="64008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SECRETO</a:t>
            </a:r>
            <a:endParaRPr lang="en-US" sz="1400" dirty="0"/>
          </a:p>
        </p:txBody>
      </p:sp>
      <p:sp>
        <p:nvSpPr>
          <p:cNvPr id="22" name="Text 20"/>
          <p:cNvSpPr/>
          <p:nvPr/>
        </p:nvSpPr>
        <p:spPr>
          <a:xfrm>
            <a:off x="3931920" y="3611880"/>
            <a:ext cx="4023360" cy="640080"/>
          </a:xfrm>
          <a:prstGeom prst="rect">
            <a:avLst/>
          </a:prstGeom>
          <a:noFill/>
          <a:ln/>
        </p:spPr>
        <p:txBody>
          <a:bodyPr wrap="square" lIns="0" tIns="0" rIns="0" bIns="0" rtlCol="0" anchor="ctr"/>
          <a:lstStyle/>
          <a:p>
            <a:pPr indent="0" marL="0">
              <a:buNone/>
            </a:pPr>
            <a:r>
              <a:rPr lang="en-US" sz="1200" dirty="0">
                <a:solidFill>
                  <a:srgbClr val="6B7B8D"/>
                </a:solidFill>
                <a:latin typeface="Calibri" pitchFamily="34" charset="0"/>
                <a:ea typeface="Calibri" pitchFamily="34" charset="-122"/>
                <a:cs typeface="Calibri" pitchFamily="34" charset="-120"/>
              </a:rPr>
              <a:t>Acceso nominal. Cifrado obligatorio.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Proteccion de Datos (RGPD)</a:t>
            </a:r>
            <a:endParaRPr lang="en-US" sz="2200" dirty="0"/>
          </a:p>
        </p:txBody>
      </p:sp>
      <p:sp>
        <p:nvSpPr>
          <p:cNvPr id="3" name="Shape 1"/>
          <p:cNvSpPr/>
          <p:nvPr/>
        </p:nvSpPr>
        <p:spPr>
          <a:xfrm>
            <a:off x="640080" y="914400"/>
            <a:ext cx="3657600" cy="3474720"/>
          </a:xfrm>
          <a:prstGeom prst="roundRect">
            <a:avLst>
              <a:gd name="adj" fmla="val 2105"/>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640080" y="914400"/>
            <a:ext cx="54864" cy="3474720"/>
          </a:xfrm>
          <a:prstGeom prst="rect">
            <a:avLst>
              <a:gd name="adj" fmla="val 50000"/>
            </a:avLst>
          </a:prstGeom>
          <a:solidFill>
            <a:srgbClr val="0D9A76"/>
          </a:solidFill>
          <a:ln/>
        </p:spPr>
      </p:sp>
      <p:sp>
        <p:nvSpPr>
          <p:cNvPr id="5" name="Text 3"/>
          <p:cNvSpPr/>
          <p:nvPr/>
        </p:nvSpPr>
        <p:spPr>
          <a:xfrm>
            <a:off x="822960" y="1051560"/>
            <a:ext cx="3291840" cy="320040"/>
          </a:xfrm>
          <a:prstGeom prst="rect">
            <a:avLst/>
          </a:prstGeom>
          <a:noFill/>
          <a:ln/>
        </p:spPr>
        <p:txBody>
          <a:bodyPr wrap="square" lIns="0" tIns="0" rIns="0" bIns="0" rtlCol="0" anchor="ctr"/>
          <a:lstStyle/>
          <a:p>
            <a:pPr indent="0" marL="0">
              <a:buNone/>
            </a:pPr>
            <a:r>
              <a:rPr lang="en-US" sz="1400" b="1" dirty="0">
                <a:solidFill>
                  <a:srgbClr val="0D9A76"/>
                </a:solidFill>
                <a:latin typeface="Calibri" pitchFamily="34" charset="0"/>
                <a:ea typeface="Calibri" pitchFamily="34" charset="-122"/>
                <a:cs typeface="Calibri" pitchFamily="34" charset="-120"/>
              </a:rPr>
              <a:t>Derechos de los interesados</a:t>
            </a:r>
            <a:endParaRPr lang="en-US" sz="1400" dirty="0"/>
          </a:p>
        </p:txBody>
      </p:sp>
      <p:sp>
        <p:nvSpPr>
          <p:cNvPr id="6" name="Text 4"/>
          <p:cNvSpPr/>
          <p:nvPr/>
        </p:nvSpPr>
        <p:spPr>
          <a:xfrm>
            <a:off x="822960" y="1463040"/>
            <a:ext cx="3291840" cy="27432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Acceso</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Rectificacion</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Supresion (derecho al olvido)</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Portabilidad</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Oposicion</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Limitacion del tratamiento</a:t>
            </a:r>
            <a:endParaRPr lang="en-US" sz="1200" dirty="0"/>
          </a:p>
        </p:txBody>
      </p:sp>
      <p:sp>
        <p:nvSpPr>
          <p:cNvPr id="7" name="Shape 5"/>
          <p:cNvSpPr/>
          <p:nvPr/>
        </p:nvSpPr>
        <p:spPr>
          <a:xfrm>
            <a:off x="4846320" y="914400"/>
            <a:ext cx="3657600" cy="3474720"/>
          </a:xfrm>
          <a:prstGeom prst="roundRect">
            <a:avLst>
              <a:gd name="adj" fmla="val 2105"/>
            </a:avLst>
          </a:prstGeom>
          <a:solidFill>
            <a:srgbClr val="FFFFFF"/>
          </a:solidFill>
          <a:ln/>
          <a:effectLst>
            <a:outerShdw sx="100000" sy="100000" kx="0" ky="0" algn="bl" rotWithShape="0" blurRad="50800" dist="25400" dir="8100000">
              <a:srgbClr val="000000">
                <a:alpha val="10000"/>
              </a:srgbClr>
            </a:outerShdw>
          </a:effectLst>
        </p:spPr>
      </p:sp>
      <p:sp>
        <p:nvSpPr>
          <p:cNvPr id="8" name="Shape 6"/>
          <p:cNvSpPr/>
          <p:nvPr/>
        </p:nvSpPr>
        <p:spPr>
          <a:xfrm>
            <a:off x="4846320" y="914400"/>
            <a:ext cx="54864" cy="3474720"/>
          </a:xfrm>
          <a:prstGeom prst="rect">
            <a:avLst>
              <a:gd name="adj" fmla="val 50000"/>
            </a:avLst>
          </a:prstGeom>
          <a:solidFill>
            <a:srgbClr val="0D9A76"/>
          </a:solidFill>
          <a:ln/>
        </p:spPr>
      </p:sp>
      <p:sp>
        <p:nvSpPr>
          <p:cNvPr id="9" name="Text 7"/>
          <p:cNvSpPr/>
          <p:nvPr/>
        </p:nvSpPr>
        <p:spPr>
          <a:xfrm>
            <a:off x="5029200" y="1051560"/>
            <a:ext cx="3291840" cy="320040"/>
          </a:xfrm>
          <a:prstGeom prst="rect">
            <a:avLst/>
          </a:prstGeom>
          <a:noFill/>
          <a:ln/>
        </p:spPr>
        <p:txBody>
          <a:bodyPr wrap="square" lIns="0" tIns="0" rIns="0" bIns="0" rtlCol="0" anchor="ctr"/>
          <a:lstStyle/>
          <a:p>
            <a:pPr indent="0" marL="0">
              <a:buNone/>
            </a:pPr>
            <a:r>
              <a:rPr lang="en-US" sz="1400" b="1" dirty="0">
                <a:solidFill>
                  <a:srgbClr val="0D9A76"/>
                </a:solidFill>
                <a:latin typeface="Calibri" pitchFamily="34" charset="0"/>
                <a:ea typeface="Calibri" pitchFamily="34" charset="-122"/>
                <a:cs typeface="Calibri" pitchFamily="34" charset="-120"/>
              </a:rPr>
              <a:t>Proceso ante brecha de datos</a:t>
            </a:r>
            <a:endParaRPr lang="en-US" sz="1400" dirty="0"/>
          </a:p>
        </p:txBody>
      </p:sp>
      <p:sp>
        <p:nvSpPr>
          <p:cNvPr id="10" name="Text 8"/>
          <p:cNvSpPr/>
          <p:nvPr/>
        </p:nvSpPr>
        <p:spPr>
          <a:xfrm>
            <a:off x="5029200" y="1463040"/>
            <a:ext cx="3291840" cy="2743200"/>
          </a:xfrm>
          <a:prstGeom prst="rect">
            <a:avLst/>
          </a:prstGeom>
          <a:noFill/>
          <a:ln/>
        </p:spPr>
        <p:txBody>
          <a:bodyPr wrap="square" lIns="0" tIns="0" rIns="0" bIns="0" rtlCol="0" anchor="ctr"/>
          <a:lstStyle/>
          <a:p>
            <a:pPr indent="0" marL="0">
              <a:spcAft>
                <a:spcPts val="1000"/>
              </a:spcAft>
              <a:buNone/>
            </a:pPr>
            <a:r>
              <a:rPr lang="en-US" sz="1200" dirty="0">
                <a:solidFill>
                  <a:srgbClr val="2D3748"/>
                </a:solidFill>
                <a:latin typeface="Calibri" pitchFamily="34" charset="0"/>
                <a:ea typeface="Calibri" pitchFamily="34" charset="-122"/>
                <a:cs typeface="Calibri" pitchFamily="34" charset="-120"/>
              </a:rPr>
              <a:t>1. Detectar el incidente</a:t>
            </a:r>
            <a:endParaRPr lang="en-US" sz="1200" dirty="0"/>
          </a:p>
          <a:p>
            <a:pPr indent="0" marL="0">
              <a:spcAft>
                <a:spcPts val="1000"/>
              </a:spcAft>
              <a:buNone/>
            </a:pPr>
            <a:r>
              <a:rPr lang="en-US" sz="1200" dirty="0">
                <a:solidFill>
                  <a:srgbClr val="2D3748"/>
                </a:solidFill>
                <a:latin typeface="Calibri" pitchFamily="34" charset="0"/>
                <a:ea typeface="Calibri" pitchFamily="34" charset="-122"/>
                <a:cs typeface="Calibri" pitchFamily="34" charset="-120"/>
              </a:rPr>
              <a:t>2. Notificar al DPO y al CISO</a:t>
            </a:r>
            <a:endParaRPr lang="en-US" sz="1200" dirty="0"/>
          </a:p>
          <a:p>
            <a:pPr indent="0" marL="0">
              <a:spcAft>
                <a:spcPts val="1000"/>
              </a:spcAft>
              <a:buNone/>
            </a:pPr>
            <a:r>
              <a:rPr lang="en-US" sz="1200" dirty="0">
                <a:solidFill>
                  <a:srgbClr val="2D3748"/>
                </a:solidFill>
                <a:latin typeface="Calibri" pitchFamily="34" charset="0"/>
                <a:ea typeface="Calibri" pitchFamily="34" charset="-122"/>
                <a:cs typeface="Calibri" pitchFamily="34" charset="-120"/>
              </a:rPr>
              <a:t>3. Documentar los hechos</a:t>
            </a:r>
            <a:endParaRPr lang="en-US" sz="1200" dirty="0"/>
          </a:p>
          <a:p>
            <a:pPr indent="0" marL="0">
              <a:spcAft>
                <a:spcPts val="1000"/>
              </a:spcAft>
              <a:buNone/>
            </a:pPr>
            <a:r>
              <a:rPr lang="en-US" sz="1200" dirty="0">
                <a:solidFill>
                  <a:srgbClr val="2D3748"/>
                </a:solidFill>
                <a:latin typeface="Calibri" pitchFamily="34" charset="0"/>
                <a:ea typeface="Calibri" pitchFamily="34" charset="-122"/>
                <a:cs typeface="Calibri" pitchFamily="34" charset="-120"/>
              </a:rPr>
              <a:t>4. Comunicar a la AEPD en 72h si procede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Que Hago Si...?</a:t>
            </a:r>
            <a:endParaRPr lang="en-US" sz="2200" dirty="0"/>
          </a:p>
        </p:txBody>
      </p:sp>
      <p:sp>
        <p:nvSpPr>
          <p:cNvPr id="3" name="Shape 1"/>
          <p:cNvSpPr/>
          <p:nvPr/>
        </p:nvSpPr>
        <p:spPr>
          <a:xfrm>
            <a:off x="640080" y="914400"/>
            <a:ext cx="3749040" cy="2011680"/>
          </a:xfrm>
          <a:prstGeom prst="roundRect">
            <a:avLst>
              <a:gd name="adj" fmla="val 3636"/>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640080" y="914400"/>
            <a:ext cx="3749040" cy="411480"/>
          </a:xfrm>
          <a:prstGeom prst="rect">
            <a:avLst/>
          </a:prstGeom>
          <a:solidFill>
            <a:srgbClr val="DD6B20"/>
          </a:solidFill>
          <a:ln/>
        </p:spPr>
      </p:sp>
      <p:sp>
        <p:nvSpPr>
          <p:cNvPr id="5" name="Shape 3"/>
          <p:cNvSpPr/>
          <p:nvPr/>
        </p:nvSpPr>
        <p:spPr>
          <a:xfrm>
            <a:off x="640080" y="914400"/>
            <a:ext cx="3749040" cy="457200"/>
          </a:xfrm>
          <a:prstGeom prst="roundRect">
            <a:avLst>
              <a:gd name="adj" fmla="val 16000"/>
            </a:avLst>
          </a:prstGeom>
          <a:solidFill>
            <a:srgbClr val="DD6B20"/>
          </a:solidFill>
          <a:ln/>
        </p:spPr>
      </p:sp>
      <p:sp>
        <p:nvSpPr>
          <p:cNvPr id="6" name="Shape 4"/>
          <p:cNvSpPr/>
          <p:nvPr/>
        </p:nvSpPr>
        <p:spPr>
          <a:xfrm>
            <a:off x="640080" y="1097280"/>
            <a:ext cx="3749040" cy="274320"/>
          </a:xfrm>
          <a:prstGeom prst="rect">
            <a:avLst/>
          </a:prstGeom>
          <a:solidFill>
            <a:srgbClr val="DD6B20"/>
          </a:solidFill>
          <a:ln/>
        </p:spPr>
      </p:sp>
      <p:pic>
        <p:nvPicPr>
          <p:cNvPr id="7" name="Image 0" descr="preencoded.png"/>
          <p:cNvPicPr>
            <a:picLocks noChangeAspect="1"/>
          </p:cNvPicPr>
          <p:nvPr/>
        </p:nvPicPr>
        <p:blipFill>
          <a:blip r:embed="rId1"/>
          <a:stretch>
            <a:fillRect/>
          </a:stretch>
        </p:blipFill>
        <p:spPr>
          <a:xfrm>
            <a:off x="777240" y="978408"/>
            <a:ext cx="274320" cy="274320"/>
          </a:xfrm>
          <a:prstGeom prst="rect">
            <a:avLst/>
          </a:prstGeom>
        </p:spPr>
      </p:pic>
      <p:sp>
        <p:nvSpPr>
          <p:cNvPr id="8" name="Text 5"/>
          <p:cNvSpPr/>
          <p:nvPr/>
        </p:nvSpPr>
        <p:spPr>
          <a:xfrm>
            <a:off x="1097280" y="932688"/>
            <a:ext cx="31089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Email sospechoso</a:t>
            </a:r>
            <a:endParaRPr lang="en-US" sz="1300" dirty="0"/>
          </a:p>
        </p:txBody>
      </p:sp>
      <p:sp>
        <p:nvSpPr>
          <p:cNvPr id="9" name="Text 6"/>
          <p:cNvSpPr/>
          <p:nvPr/>
        </p:nvSpPr>
        <p:spPr>
          <a:xfrm>
            <a:off x="822960" y="1463040"/>
            <a:ext cx="3383280" cy="1280160"/>
          </a:xfrm>
          <a:prstGeom prst="rect">
            <a:avLst/>
          </a:prstGeom>
          <a:noFill/>
          <a:ln/>
        </p:spPr>
        <p:txBody>
          <a:bodyPr wrap="square" lIns="0" tIns="0" rIns="0" bIns="0" rtlCol="0" anchor="t"/>
          <a:lstStyle/>
          <a:p>
            <a:pPr indent="0" marL="0">
              <a:buNone/>
            </a:pPr>
            <a:r>
              <a:rPr lang="en-US" sz="1200" dirty="0">
                <a:solidFill>
                  <a:srgbClr val="2D3748"/>
                </a:solidFill>
                <a:latin typeface="Calibri" pitchFamily="34" charset="0"/>
                <a:ea typeface="Calibri" pitchFamily="34" charset="-122"/>
                <a:cs typeface="Calibri" pitchFamily="34" charset="-120"/>
              </a:rPr>
              <a:t>No clicar. Reportar al CISO.</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Marcar como spam.</a:t>
            </a:r>
            <a:endParaRPr lang="en-US" sz="1200" dirty="0"/>
          </a:p>
        </p:txBody>
      </p:sp>
      <p:sp>
        <p:nvSpPr>
          <p:cNvPr id="10" name="Shape 7"/>
          <p:cNvSpPr/>
          <p:nvPr/>
        </p:nvSpPr>
        <p:spPr>
          <a:xfrm>
            <a:off x="4754880" y="914400"/>
            <a:ext cx="3749040" cy="2011680"/>
          </a:xfrm>
          <a:prstGeom prst="roundRect">
            <a:avLst>
              <a:gd name="adj" fmla="val 3636"/>
            </a:avLst>
          </a:prstGeom>
          <a:solidFill>
            <a:srgbClr val="FFFFFF"/>
          </a:solidFill>
          <a:ln/>
          <a:effectLst>
            <a:outerShdw sx="100000" sy="100000" kx="0" ky="0" algn="bl" rotWithShape="0" blurRad="50800" dist="25400" dir="8100000">
              <a:srgbClr val="000000">
                <a:alpha val="10000"/>
              </a:srgbClr>
            </a:outerShdw>
          </a:effectLst>
        </p:spPr>
      </p:sp>
      <p:sp>
        <p:nvSpPr>
          <p:cNvPr id="11" name="Shape 8"/>
          <p:cNvSpPr/>
          <p:nvPr/>
        </p:nvSpPr>
        <p:spPr>
          <a:xfrm>
            <a:off x="4754880" y="914400"/>
            <a:ext cx="3749040" cy="411480"/>
          </a:xfrm>
          <a:prstGeom prst="rect">
            <a:avLst/>
          </a:prstGeom>
          <a:solidFill>
            <a:srgbClr val="E53E3E"/>
          </a:solidFill>
          <a:ln/>
        </p:spPr>
      </p:sp>
      <p:sp>
        <p:nvSpPr>
          <p:cNvPr id="12" name="Shape 9"/>
          <p:cNvSpPr/>
          <p:nvPr/>
        </p:nvSpPr>
        <p:spPr>
          <a:xfrm>
            <a:off x="4754880" y="914400"/>
            <a:ext cx="3749040" cy="457200"/>
          </a:xfrm>
          <a:prstGeom prst="roundRect">
            <a:avLst>
              <a:gd name="adj" fmla="val 16000"/>
            </a:avLst>
          </a:prstGeom>
          <a:solidFill>
            <a:srgbClr val="E53E3E"/>
          </a:solidFill>
          <a:ln/>
        </p:spPr>
      </p:sp>
      <p:sp>
        <p:nvSpPr>
          <p:cNvPr id="13" name="Shape 10"/>
          <p:cNvSpPr/>
          <p:nvPr/>
        </p:nvSpPr>
        <p:spPr>
          <a:xfrm>
            <a:off x="4754880" y="1097280"/>
            <a:ext cx="3749040" cy="274320"/>
          </a:xfrm>
          <a:prstGeom prst="rect">
            <a:avLst/>
          </a:prstGeom>
          <a:solidFill>
            <a:srgbClr val="E53E3E"/>
          </a:solidFill>
          <a:ln/>
        </p:spPr>
      </p:sp>
      <p:pic>
        <p:nvPicPr>
          <p:cNvPr id="14" name="Image 1" descr="preencoded.png"/>
          <p:cNvPicPr>
            <a:picLocks noChangeAspect="1"/>
          </p:cNvPicPr>
          <p:nvPr/>
        </p:nvPicPr>
        <p:blipFill>
          <a:blip r:embed="rId2"/>
          <a:stretch>
            <a:fillRect/>
          </a:stretch>
        </p:blipFill>
        <p:spPr>
          <a:xfrm>
            <a:off x="4892040" y="978408"/>
            <a:ext cx="274320" cy="274320"/>
          </a:xfrm>
          <a:prstGeom prst="rect">
            <a:avLst/>
          </a:prstGeom>
        </p:spPr>
      </p:pic>
      <p:sp>
        <p:nvSpPr>
          <p:cNvPr id="15" name="Text 11"/>
          <p:cNvSpPr/>
          <p:nvPr/>
        </p:nvSpPr>
        <p:spPr>
          <a:xfrm>
            <a:off x="5212080" y="932688"/>
            <a:ext cx="31089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Dispositivo perdido/robado</a:t>
            </a:r>
            <a:endParaRPr lang="en-US" sz="1300" dirty="0"/>
          </a:p>
        </p:txBody>
      </p:sp>
      <p:sp>
        <p:nvSpPr>
          <p:cNvPr id="16" name="Text 12"/>
          <p:cNvSpPr/>
          <p:nvPr/>
        </p:nvSpPr>
        <p:spPr>
          <a:xfrm>
            <a:off x="4937760" y="1463040"/>
            <a:ext cx="3383280" cy="1280160"/>
          </a:xfrm>
          <a:prstGeom prst="rect">
            <a:avLst/>
          </a:prstGeom>
          <a:noFill/>
          <a:ln/>
        </p:spPr>
        <p:txBody>
          <a:bodyPr wrap="square" lIns="0" tIns="0" rIns="0" bIns="0" rtlCol="0" anchor="t"/>
          <a:lstStyle/>
          <a:p>
            <a:pPr indent="0" marL="0">
              <a:buNone/>
            </a:pPr>
            <a:r>
              <a:rPr lang="en-US" sz="1200" dirty="0">
                <a:solidFill>
                  <a:srgbClr val="2D3748"/>
                </a:solidFill>
                <a:latin typeface="Calibri" pitchFamily="34" charset="0"/>
                <a:ea typeface="Calibri" pitchFamily="34" charset="-122"/>
                <a:cs typeface="Calibri" pitchFamily="34" charset="-120"/>
              </a:rPr>
              <a:t>Notificar al CISO &lt;24h.</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Cambiar contrasenas.</a:t>
            </a:r>
            <a:endParaRPr lang="en-US" sz="1200" dirty="0"/>
          </a:p>
        </p:txBody>
      </p:sp>
      <p:sp>
        <p:nvSpPr>
          <p:cNvPr id="17" name="Shape 13"/>
          <p:cNvSpPr/>
          <p:nvPr/>
        </p:nvSpPr>
        <p:spPr>
          <a:xfrm>
            <a:off x="640080" y="3108960"/>
            <a:ext cx="3749040" cy="2011680"/>
          </a:xfrm>
          <a:prstGeom prst="roundRect">
            <a:avLst>
              <a:gd name="adj" fmla="val 3636"/>
            </a:avLst>
          </a:prstGeom>
          <a:solidFill>
            <a:srgbClr val="FFFFFF"/>
          </a:solidFill>
          <a:ln/>
          <a:effectLst>
            <a:outerShdw sx="100000" sy="100000" kx="0" ky="0" algn="bl" rotWithShape="0" blurRad="50800" dist="25400" dir="8100000">
              <a:srgbClr val="000000">
                <a:alpha val="10000"/>
              </a:srgbClr>
            </a:outerShdw>
          </a:effectLst>
        </p:spPr>
      </p:sp>
      <p:sp>
        <p:nvSpPr>
          <p:cNvPr id="18" name="Shape 14"/>
          <p:cNvSpPr/>
          <p:nvPr/>
        </p:nvSpPr>
        <p:spPr>
          <a:xfrm>
            <a:off x="640080" y="3108960"/>
            <a:ext cx="3749040" cy="411480"/>
          </a:xfrm>
          <a:prstGeom prst="rect">
            <a:avLst/>
          </a:prstGeom>
          <a:solidFill>
            <a:srgbClr val="6B46C1"/>
          </a:solidFill>
          <a:ln/>
        </p:spPr>
      </p:sp>
      <p:sp>
        <p:nvSpPr>
          <p:cNvPr id="19" name="Shape 15"/>
          <p:cNvSpPr/>
          <p:nvPr/>
        </p:nvSpPr>
        <p:spPr>
          <a:xfrm>
            <a:off x="640080" y="3108960"/>
            <a:ext cx="3749040" cy="457200"/>
          </a:xfrm>
          <a:prstGeom prst="roundRect">
            <a:avLst>
              <a:gd name="adj" fmla="val 16000"/>
            </a:avLst>
          </a:prstGeom>
          <a:solidFill>
            <a:srgbClr val="6B46C1"/>
          </a:solidFill>
          <a:ln/>
        </p:spPr>
      </p:sp>
      <p:sp>
        <p:nvSpPr>
          <p:cNvPr id="20" name="Shape 16"/>
          <p:cNvSpPr/>
          <p:nvPr/>
        </p:nvSpPr>
        <p:spPr>
          <a:xfrm>
            <a:off x="640080" y="3291840"/>
            <a:ext cx="3749040" cy="274320"/>
          </a:xfrm>
          <a:prstGeom prst="rect">
            <a:avLst/>
          </a:prstGeom>
          <a:solidFill>
            <a:srgbClr val="6B46C1"/>
          </a:solidFill>
          <a:ln/>
        </p:spPr>
      </p:sp>
      <p:pic>
        <p:nvPicPr>
          <p:cNvPr id="21" name="Image 2" descr="preencoded.png"/>
          <p:cNvPicPr>
            <a:picLocks noChangeAspect="1"/>
          </p:cNvPicPr>
          <p:nvPr/>
        </p:nvPicPr>
        <p:blipFill>
          <a:blip r:embed="rId3"/>
          <a:stretch>
            <a:fillRect/>
          </a:stretch>
        </p:blipFill>
        <p:spPr>
          <a:xfrm>
            <a:off x="777240" y="3172968"/>
            <a:ext cx="274320" cy="274320"/>
          </a:xfrm>
          <a:prstGeom prst="rect">
            <a:avLst/>
          </a:prstGeom>
        </p:spPr>
      </p:pic>
      <p:sp>
        <p:nvSpPr>
          <p:cNvPr id="22" name="Text 17"/>
          <p:cNvSpPr/>
          <p:nvPr/>
        </p:nvSpPr>
        <p:spPr>
          <a:xfrm>
            <a:off x="1097280" y="3127248"/>
            <a:ext cx="31089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Sospecha de brecha</a:t>
            </a:r>
            <a:endParaRPr lang="en-US" sz="1300" dirty="0"/>
          </a:p>
        </p:txBody>
      </p:sp>
      <p:sp>
        <p:nvSpPr>
          <p:cNvPr id="23" name="Text 18"/>
          <p:cNvSpPr/>
          <p:nvPr/>
        </p:nvSpPr>
        <p:spPr>
          <a:xfrm>
            <a:off x="822960" y="3657600"/>
            <a:ext cx="3383280" cy="1280160"/>
          </a:xfrm>
          <a:prstGeom prst="rect">
            <a:avLst/>
          </a:prstGeom>
          <a:noFill/>
          <a:ln/>
        </p:spPr>
        <p:txBody>
          <a:bodyPr wrap="square" lIns="0" tIns="0" rIns="0" bIns="0" rtlCol="0" anchor="t"/>
          <a:lstStyle/>
          <a:p>
            <a:pPr indent="0" marL="0">
              <a:buNone/>
            </a:pPr>
            <a:r>
              <a:rPr lang="en-US" sz="1200" dirty="0">
                <a:solidFill>
                  <a:srgbClr val="2D3748"/>
                </a:solidFill>
                <a:latin typeface="Calibri" pitchFamily="34" charset="0"/>
                <a:ea typeface="Calibri" pitchFamily="34" charset="-122"/>
                <a:cs typeface="Calibri" pitchFamily="34" charset="-120"/>
              </a:rPr>
              <a:t>Notificar DPO+CISO.</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Documentar. No investigar solo.</a:t>
            </a:r>
            <a:endParaRPr lang="en-US" sz="1200" dirty="0"/>
          </a:p>
        </p:txBody>
      </p:sp>
      <p:sp>
        <p:nvSpPr>
          <p:cNvPr id="24" name="Shape 19"/>
          <p:cNvSpPr/>
          <p:nvPr/>
        </p:nvSpPr>
        <p:spPr>
          <a:xfrm>
            <a:off x="4754880" y="3108960"/>
            <a:ext cx="3749040" cy="2011680"/>
          </a:xfrm>
          <a:prstGeom prst="roundRect">
            <a:avLst>
              <a:gd name="adj" fmla="val 3636"/>
            </a:avLst>
          </a:prstGeom>
          <a:solidFill>
            <a:srgbClr val="FFFFFF"/>
          </a:solidFill>
          <a:ln/>
          <a:effectLst>
            <a:outerShdw sx="100000" sy="100000" kx="0" ky="0" algn="bl" rotWithShape="0" blurRad="50800" dist="25400" dir="8100000">
              <a:srgbClr val="000000">
                <a:alpha val="10000"/>
              </a:srgbClr>
            </a:outerShdw>
          </a:effectLst>
        </p:spPr>
      </p:sp>
      <p:sp>
        <p:nvSpPr>
          <p:cNvPr id="25" name="Shape 20"/>
          <p:cNvSpPr/>
          <p:nvPr/>
        </p:nvSpPr>
        <p:spPr>
          <a:xfrm>
            <a:off x="4754880" y="3108960"/>
            <a:ext cx="3749040" cy="411480"/>
          </a:xfrm>
          <a:prstGeom prst="rect">
            <a:avLst/>
          </a:prstGeom>
          <a:solidFill>
            <a:srgbClr val="2E74B5"/>
          </a:solidFill>
          <a:ln/>
        </p:spPr>
      </p:sp>
      <p:sp>
        <p:nvSpPr>
          <p:cNvPr id="26" name="Shape 21"/>
          <p:cNvSpPr/>
          <p:nvPr/>
        </p:nvSpPr>
        <p:spPr>
          <a:xfrm>
            <a:off x="4754880" y="3108960"/>
            <a:ext cx="3749040" cy="457200"/>
          </a:xfrm>
          <a:prstGeom prst="roundRect">
            <a:avLst>
              <a:gd name="adj" fmla="val 16000"/>
            </a:avLst>
          </a:prstGeom>
          <a:solidFill>
            <a:srgbClr val="2E74B5"/>
          </a:solidFill>
          <a:ln/>
        </p:spPr>
      </p:sp>
      <p:sp>
        <p:nvSpPr>
          <p:cNvPr id="27" name="Shape 22"/>
          <p:cNvSpPr/>
          <p:nvPr/>
        </p:nvSpPr>
        <p:spPr>
          <a:xfrm>
            <a:off x="4754880" y="3291840"/>
            <a:ext cx="3749040" cy="274320"/>
          </a:xfrm>
          <a:prstGeom prst="rect">
            <a:avLst/>
          </a:prstGeom>
          <a:solidFill>
            <a:srgbClr val="2E74B5"/>
          </a:solidFill>
          <a:ln/>
        </p:spPr>
      </p:sp>
      <p:pic>
        <p:nvPicPr>
          <p:cNvPr id="28" name="Image 3" descr="preencoded.png"/>
          <p:cNvPicPr>
            <a:picLocks noChangeAspect="1"/>
          </p:cNvPicPr>
          <p:nvPr/>
        </p:nvPicPr>
        <p:blipFill>
          <a:blip r:embed="rId4"/>
          <a:stretch>
            <a:fillRect/>
          </a:stretch>
        </p:blipFill>
        <p:spPr>
          <a:xfrm>
            <a:off x="4892040" y="3172968"/>
            <a:ext cx="274320" cy="274320"/>
          </a:xfrm>
          <a:prstGeom prst="rect">
            <a:avLst/>
          </a:prstGeom>
        </p:spPr>
      </p:pic>
      <p:sp>
        <p:nvSpPr>
          <p:cNvPr id="29" name="Text 23"/>
          <p:cNvSpPr/>
          <p:nvPr/>
        </p:nvSpPr>
        <p:spPr>
          <a:xfrm>
            <a:off x="5212080" y="3127248"/>
            <a:ext cx="31089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Nuevo proveedor/herramienta</a:t>
            </a:r>
            <a:endParaRPr lang="en-US" sz="1300" dirty="0"/>
          </a:p>
        </p:txBody>
      </p:sp>
      <p:sp>
        <p:nvSpPr>
          <p:cNvPr id="30" name="Text 24"/>
          <p:cNvSpPr/>
          <p:nvPr/>
        </p:nvSpPr>
        <p:spPr>
          <a:xfrm>
            <a:off x="4937760" y="3657600"/>
            <a:ext cx="3383280" cy="1280160"/>
          </a:xfrm>
          <a:prstGeom prst="rect">
            <a:avLst/>
          </a:prstGeom>
          <a:noFill/>
          <a:ln/>
        </p:spPr>
        <p:txBody>
          <a:bodyPr wrap="square" lIns="0" tIns="0" rIns="0" bIns="0" rtlCol="0" anchor="t"/>
          <a:lstStyle/>
          <a:p>
            <a:pPr indent="0" marL="0">
              <a:buNone/>
            </a:pPr>
            <a:r>
              <a:rPr lang="en-US" sz="1200" dirty="0">
                <a:solidFill>
                  <a:srgbClr val="2D3748"/>
                </a:solidFill>
                <a:latin typeface="Calibri" pitchFamily="34" charset="0"/>
                <a:ea typeface="Calibri" pitchFamily="34" charset="-122"/>
                <a:cs typeface="Calibri" pitchFamily="34" charset="-120"/>
              </a:rPr>
              <a:t>Seguir P02. Verificar</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certificaciones. No usar sin aprobacion.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Tus Obligaciones como Empleado</a:t>
            </a:r>
            <a:endParaRPr lang="en-US" sz="2200" dirty="0"/>
          </a:p>
        </p:txBody>
      </p:sp>
      <p:pic>
        <p:nvPicPr>
          <p:cNvPr id="3" name="Image 0" descr="preencoded.png"/>
          <p:cNvPicPr>
            <a:picLocks noChangeAspect="1"/>
          </p:cNvPicPr>
          <p:nvPr/>
        </p:nvPicPr>
        <p:blipFill>
          <a:blip r:embed="rId1"/>
          <a:stretch>
            <a:fillRect/>
          </a:stretch>
        </p:blipFill>
        <p:spPr>
          <a:xfrm>
            <a:off x="731520" y="969264"/>
            <a:ext cx="274320" cy="274320"/>
          </a:xfrm>
          <a:prstGeom prst="rect">
            <a:avLst/>
          </a:prstGeom>
        </p:spPr>
      </p:pic>
      <p:sp>
        <p:nvSpPr>
          <p:cNvPr id="4" name="Text 1"/>
          <p:cNvSpPr/>
          <p:nvPr/>
        </p:nvSpPr>
        <p:spPr>
          <a:xfrm>
            <a:off x="1143000" y="914400"/>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Contrasenas 12+ caracteres con MFA activado</a:t>
            </a:r>
            <a:endParaRPr lang="en-US" sz="1300" dirty="0"/>
          </a:p>
        </p:txBody>
      </p:sp>
      <p:pic>
        <p:nvPicPr>
          <p:cNvPr id="5" name="Image 1" descr="preencoded.png"/>
          <p:cNvPicPr>
            <a:picLocks noChangeAspect="1"/>
          </p:cNvPicPr>
          <p:nvPr/>
        </p:nvPicPr>
        <p:blipFill>
          <a:blip r:embed="rId2"/>
          <a:stretch>
            <a:fillRect/>
          </a:stretch>
        </p:blipFill>
        <p:spPr>
          <a:xfrm>
            <a:off x="731520" y="1444752"/>
            <a:ext cx="274320" cy="274320"/>
          </a:xfrm>
          <a:prstGeom prst="rect">
            <a:avLst/>
          </a:prstGeom>
        </p:spPr>
      </p:pic>
      <p:sp>
        <p:nvSpPr>
          <p:cNvPr id="6" name="Text 2"/>
          <p:cNvSpPr/>
          <p:nvPr/>
        </p:nvSpPr>
        <p:spPr>
          <a:xfrm>
            <a:off x="1143000" y="1389888"/>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Bloquear pantalla al levantarte del puesto</a:t>
            </a:r>
            <a:endParaRPr lang="en-US" sz="1300" dirty="0"/>
          </a:p>
        </p:txBody>
      </p:sp>
      <p:pic>
        <p:nvPicPr>
          <p:cNvPr id="7" name="Image 2" descr="preencoded.png"/>
          <p:cNvPicPr>
            <a:picLocks noChangeAspect="1"/>
          </p:cNvPicPr>
          <p:nvPr/>
        </p:nvPicPr>
        <p:blipFill>
          <a:blip r:embed="rId3"/>
          <a:stretch>
            <a:fillRect/>
          </a:stretch>
        </p:blipFill>
        <p:spPr>
          <a:xfrm>
            <a:off x="731520" y="1920240"/>
            <a:ext cx="274320" cy="274320"/>
          </a:xfrm>
          <a:prstGeom prst="rect">
            <a:avLst/>
          </a:prstGeom>
        </p:spPr>
      </p:pic>
      <p:sp>
        <p:nvSpPr>
          <p:cNvPr id="8" name="Text 3"/>
          <p:cNvSpPr/>
          <p:nvPr/>
        </p:nvSpPr>
        <p:spPr>
          <a:xfrm>
            <a:off x="1143000" y="1865376"/>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Reportar incidentes de seguridad en menos de 24h</a:t>
            </a:r>
            <a:endParaRPr lang="en-US" sz="1300" dirty="0"/>
          </a:p>
        </p:txBody>
      </p:sp>
      <p:pic>
        <p:nvPicPr>
          <p:cNvPr id="9" name="Image 3" descr="preencoded.png"/>
          <p:cNvPicPr>
            <a:picLocks noChangeAspect="1"/>
          </p:cNvPicPr>
          <p:nvPr/>
        </p:nvPicPr>
        <p:blipFill>
          <a:blip r:embed="rId4"/>
          <a:stretch>
            <a:fillRect/>
          </a:stretch>
        </p:blipFill>
        <p:spPr>
          <a:xfrm>
            <a:off x="731520" y="2395728"/>
            <a:ext cx="274320" cy="274320"/>
          </a:xfrm>
          <a:prstGeom prst="rect">
            <a:avLst/>
          </a:prstGeom>
        </p:spPr>
      </p:pic>
      <p:sp>
        <p:nvSpPr>
          <p:cNvPr id="10" name="Text 4"/>
          <p:cNvSpPr/>
          <p:nvPr/>
        </p:nvSpPr>
        <p:spPr>
          <a:xfrm>
            <a:off x="1143000" y="2340864"/>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Usar VPN para trabajo remoto siempre</a:t>
            </a:r>
            <a:endParaRPr lang="en-US" sz="1300" dirty="0"/>
          </a:p>
        </p:txBody>
      </p:sp>
      <p:pic>
        <p:nvPicPr>
          <p:cNvPr id="11" name="Image 4" descr="preencoded.png"/>
          <p:cNvPicPr>
            <a:picLocks noChangeAspect="1"/>
          </p:cNvPicPr>
          <p:nvPr/>
        </p:nvPicPr>
        <p:blipFill>
          <a:blip r:embed="rId5"/>
          <a:stretch>
            <a:fillRect/>
          </a:stretch>
        </p:blipFill>
        <p:spPr>
          <a:xfrm>
            <a:off x="731520" y="2871216"/>
            <a:ext cx="274320" cy="274320"/>
          </a:xfrm>
          <a:prstGeom prst="rect">
            <a:avLst/>
          </a:prstGeom>
        </p:spPr>
      </p:pic>
      <p:sp>
        <p:nvSpPr>
          <p:cNvPr id="12" name="Text 5"/>
          <p:cNvSpPr/>
          <p:nvPr/>
        </p:nvSpPr>
        <p:spPr>
          <a:xfrm>
            <a:off x="1143000" y="2816352"/>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No instalar software no autorizado</a:t>
            </a:r>
            <a:endParaRPr lang="en-US" sz="1300" dirty="0"/>
          </a:p>
        </p:txBody>
      </p:sp>
      <p:pic>
        <p:nvPicPr>
          <p:cNvPr id="13" name="Image 5" descr="preencoded.png"/>
          <p:cNvPicPr>
            <a:picLocks noChangeAspect="1"/>
          </p:cNvPicPr>
          <p:nvPr/>
        </p:nvPicPr>
        <p:blipFill>
          <a:blip r:embed="rId6"/>
          <a:stretch>
            <a:fillRect/>
          </a:stretch>
        </p:blipFill>
        <p:spPr>
          <a:xfrm>
            <a:off x="731520" y="3346704"/>
            <a:ext cx="274320" cy="274320"/>
          </a:xfrm>
          <a:prstGeom prst="rect">
            <a:avLst/>
          </a:prstGeom>
        </p:spPr>
      </p:pic>
      <p:sp>
        <p:nvSpPr>
          <p:cNvPr id="14" name="Text 6"/>
          <p:cNvSpPr/>
          <p:nvPr/>
        </p:nvSpPr>
        <p:spPr>
          <a:xfrm>
            <a:off x="1143000" y="3291840"/>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Mesa limpia: sin documentos sensibles visibles</a:t>
            </a:r>
            <a:endParaRPr lang="en-US" sz="1300" dirty="0"/>
          </a:p>
        </p:txBody>
      </p:sp>
      <p:pic>
        <p:nvPicPr>
          <p:cNvPr id="15" name="Image 6" descr="preencoded.png"/>
          <p:cNvPicPr>
            <a:picLocks noChangeAspect="1"/>
          </p:cNvPicPr>
          <p:nvPr/>
        </p:nvPicPr>
        <p:blipFill>
          <a:blip r:embed="rId7"/>
          <a:stretch>
            <a:fillRect/>
          </a:stretch>
        </p:blipFill>
        <p:spPr>
          <a:xfrm>
            <a:off x="731520" y="3822192"/>
            <a:ext cx="274320" cy="274320"/>
          </a:xfrm>
          <a:prstGeom prst="rect">
            <a:avLst/>
          </a:prstGeom>
        </p:spPr>
      </p:pic>
      <p:sp>
        <p:nvSpPr>
          <p:cNvPr id="16" name="Text 7"/>
          <p:cNvSpPr/>
          <p:nvPr/>
        </p:nvSpPr>
        <p:spPr>
          <a:xfrm>
            <a:off x="1143000" y="3767328"/>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Firmar normativa I01 y anexo I02</a:t>
            </a:r>
            <a:endParaRPr lang="en-US" sz="1300" dirty="0"/>
          </a:p>
        </p:txBody>
      </p:sp>
      <p:pic>
        <p:nvPicPr>
          <p:cNvPr id="17" name="Image 7" descr="preencoded.png"/>
          <p:cNvPicPr>
            <a:picLocks noChangeAspect="1"/>
          </p:cNvPicPr>
          <p:nvPr/>
        </p:nvPicPr>
        <p:blipFill>
          <a:blip r:embed="rId8"/>
          <a:stretch>
            <a:fillRect/>
          </a:stretch>
        </p:blipFill>
        <p:spPr>
          <a:xfrm>
            <a:off x="731520" y="4297680"/>
            <a:ext cx="274320" cy="274320"/>
          </a:xfrm>
          <a:prstGeom prst="rect">
            <a:avLst/>
          </a:prstGeom>
        </p:spPr>
      </p:pic>
      <p:sp>
        <p:nvSpPr>
          <p:cNvPr id="18" name="Text 8"/>
          <p:cNvSpPr/>
          <p:nvPr/>
        </p:nvSpPr>
        <p:spPr>
          <a:xfrm>
            <a:off x="1143000" y="4242816"/>
            <a:ext cx="6858000" cy="475488"/>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Autorizacion BYOD (I05) si usas equipo personal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Evidencias y Auditoria</a:t>
            </a:r>
            <a:endParaRPr lang="en-US" sz="2200" dirty="0"/>
          </a:p>
        </p:txBody>
      </p:sp>
      <p:sp>
        <p:nvSpPr>
          <p:cNvPr id="3" name="Shape 1"/>
          <p:cNvSpPr/>
          <p:nvPr/>
        </p:nvSpPr>
        <p:spPr>
          <a:xfrm>
            <a:off x="640080" y="914400"/>
            <a:ext cx="3657600" cy="3291840"/>
          </a:xfrm>
          <a:prstGeom prst="roundRect">
            <a:avLst>
              <a:gd name="adj" fmla="val 2222"/>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640080" y="914400"/>
            <a:ext cx="54864" cy="3291840"/>
          </a:xfrm>
          <a:prstGeom prst="rect">
            <a:avLst>
              <a:gd name="adj" fmla="val 50000"/>
            </a:avLst>
          </a:prstGeom>
          <a:solidFill>
            <a:srgbClr val="0D9A76"/>
          </a:solidFill>
          <a:ln/>
        </p:spPr>
      </p:sp>
      <p:sp>
        <p:nvSpPr>
          <p:cNvPr id="5" name="Text 3"/>
          <p:cNvSpPr/>
          <p:nvPr/>
        </p:nvSpPr>
        <p:spPr>
          <a:xfrm>
            <a:off x="822960" y="1051560"/>
            <a:ext cx="3291840" cy="320040"/>
          </a:xfrm>
          <a:prstGeom prst="rect">
            <a:avLst/>
          </a:prstGeom>
          <a:noFill/>
          <a:ln/>
        </p:spPr>
        <p:txBody>
          <a:bodyPr wrap="square" lIns="0" tIns="0" rIns="0" bIns="0" rtlCol="0" anchor="ctr"/>
          <a:lstStyle/>
          <a:p>
            <a:pPr indent="0" marL="0">
              <a:buNone/>
            </a:pPr>
            <a:r>
              <a:rPr lang="en-US" sz="1400" b="1" dirty="0">
                <a:solidFill>
                  <a:srgbClr val="0D9A76"/>
                </a:solidFill>
                <a:latin typeface="Calibri" pitchFamily="34" charset="0"/>
                <a:ea typeface="Calibri" pitchFamily="34" charset="-122"/>
                <a:cs typeface="Calibri" pitchFamily="34" charset="-120"/>
              </a:rPr>
              <a:t>Tipos de Evidencias</a:t>
            </a:r>
            <a:endParaRPr lang="en-US" sz="1400" dirty="0"/>
          </a:p>
        </p:txBody>
      </p:sp>
      <p:pic>
        <p:nvPicPr>
          <p:cNvPr id="6" name="Image 0" descr="preencoded.png"/>
          <p:cNvPicPr>
            <a:picLocks noChangeAspect="1"/>
          </p:cNvPicPr>
          <p:nvPr/>
        </p:nvPicPr>
        <p:blipFill>
          <a:blip r:embed="rId1"/>
          <a:stretch>
            <a:fillRect/>
          </a:stretch>
        </p:blipFill>
        <p:spPr>
          <a:xfrm>
            <a:off x="868680" y="1554480"/>
            <a:ext cx="274320" cy="274320"/>
          </a:xfrm>
          <a:prstGeom prst="rect">
            <a:avLst/>
          </a:prstGeom>
        </p:spPr>
      </p:pic>
      <p:sp>
        <p:nvSpPr>
          <p:cNvPr id="7" name="Text 4"/>
          <p:cNvSpPr/>
          <p:nvPr/>
        </p:nvSpPr>
        <p:spPr>
          <a:xfrm>
            <a:off x="1280160" y="1508760"/>
            <a:ext cx="274320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Documentos firmados (normativas, politicas)</a:t>
            </a:r>
            <a:endParaRPr lang="en-US" sz="1200" dirty="0"/>
          </a:p>
        </p:txBody>
      </p:sp>
      <p:pic>
        <p:nvPicPr>
          <p:cNvPr id="8" name="Image 1" descr="preencoded.png"/>
          <p:cNvPicPr>
            <a:picLocks noChangeAspect="1"/>
          </p:cNvPicPr>
          <p:nvPr/>
        </p:nvPicPr>
        <p:blipFill>
          <a:blip r:embed="rId2"/>
          <a:stretch>
            <a:fillRect/>
          </a:stretch>
        </p:blipFill>
        <p:spPr>
          <a:xfrm>
            <a:off x="868680" y="2286000"/>
            <a:ext cx="274320" cy="274320"/>
          </a:xfrm>
          <a:prstGeom prst="rect">
            <a:avLst/>
          </a:prstGeom>
        </p:spPr>
      </p:pic>
      <p:sp>
        <p:nvSpPr>
          <p:cNvPr id="9" name="Text 5"/>
          <p:cNvSpPr/>
          <p:nvPr/>
        </p:nvSpPr>
        <p:spPr>
          <a:xfrm>
            <a:off x="1280160" y="2240280"/>
            <a:ext cx="274320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Capturas de configuracion de seguridad</a:t>
            </a:r>
            <a:endParaRPr lang="en-US" sz="1200" dirty="0"/>
          </a:p>
        </p:txBody>
      </p:sp>
      <p:pic>
        <p:nvPicPr>
          <p:cNvPr id="10" name="Image 2" descr="preencoded.png"/>
          <p:cNvPicPr>
            <a:picLocks noChangeAspect="1"/>
          </p:cNvPicPr>
          <p:nvPr/>
        </p:nvPicPr>
        <p:blipFill>
          <a:blip r:embed="rId3"/>
          <a:stretch>
            <a:fillRect/>
          </a:stretch>
        </p:blipFill>
        <p:spPr>
          <a:xfrm>
            <a:off x="868680" y="3017520"/>
            <a:ext cx="274320" cy="274320"/>
          </a:xfrm>
          <a:prstGeom prst="rect">
            <a:avLst/>
          </a:prstGeom>
        </p:spPr>
      </p:pic>
      <p:sp>
        <p:nvSpPr>
          <p:cNvPr id="11" name="Text 6"/>
          <p:cNvSpPr/>
          <p:nvPr/>
        </p:nvSpPr>
        <p:spPr>
          <a:xfrm>
            <a:off x="1280160" y="2971800"/>
            <a:ext cx="274320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Certificados de proveedores (Azure, GCP)</a:t>
            </a:r>
            <a:endParaRPr lang="en-US" sz="1200" dirty="0"/>
          </a:p>
        </p:txBody>
      </p:sp>
      <p:sp>
        <p:nvSpPr>
          <p:cNvPr id="12" name="Shape 7"/>
          <p:cNvSpPr/>
          <p:nvPr/>
        </p:nvSpPr>
        <p:spPr>
          <a:xfrm>
            <a:off x="4846320" y="914400"/>
            <a:ext cx="3657600" cy="3291840"/>
          </a:xfrm>
          <a:prstGeom prst="roundRect">
            <a:avLst>
              <a:gd name="adj" fmla="val 2222"/>
            </a:avLst>
          </a:prstGeom>
          <a:solidFill>
            <a:srgbClr val="FFFFFF"/>
          </a:solidFill>
          <a:ln/>
          <a:effectLst>
            <a:outerShdw sx="100000" sy="100000" kx="0" ky="0" algn="bl" rotWithShape="0" blurRad="50800" dist="25400" dir="8100000">
              <a:srgbClr val="000000">
                <a:alpha val="10000"/>
              </a:srgbClr>
            </a:outerShdw>
          </a:effectLst>
        </p:spPr>
      </p:sp>
      <p:sp>
        <p:nvSpPr>
          <p:cNvPr id="13" name="Shape 8"/>
          <p:cNvSpPr/>
          <p:nvPr/>
        </p:nvSpPr>
        <p:spPr>
          <a:xfrm>
            <a:off x="4846320" y="914400"/>
            <a:ext cx="54864" cy="3291840"/>
          </a:xfrm>
          <a:prstGeom prst="rect">
            <a:avLst>
              <a:gd name="adj" fmla="val 50000"/>
            </a:avLst>
          </a:prstGeom>
          <a:solidFill>
            <a:srgbClr val="0D9A76"/>
          </a:solidFill>
          <a:ln/>
        </p:spPr>
      </p:sp>
      <p:sp>
        <p:nvSpPr>
          <p:cNvPr id="14" name="Text 9"/>
          <p:cNvSpPr/>
          <p:nvPr/>
        </p:nvSpPr>
        <p:spPr>
          <a:xfrm>
            <a:off x="5029200" y="1051560"/>
            <a:ext cx="3291840" cy="320040"/>
          </a:xfrm>
          <a:prstGeom prst="rect">
            <a:avLst/>
          </a:prstGeom>
          <a:noFill/>
          <a:ln/>
        </p:spPr>
        <p:txBody>
          <a:bodyPr wrap="square" lIns="0" tIns="0" rIns="0" bIns="0" rtlCol="0" anchor="ctr"/>
          <a:lstStyle/>
          <a:p>
            <a:pPr indent="0" marL="0">
              <a:buNone/>
            </a:pPr>
            <a:r>
              <a:rPr lang="en-US" sz="1400" b="1" dirty="0">
                <a:solidFill>
                  <a:srgbClr val="0D9A76"/>
                </a:solidFill>
                <a:latin typeface="Calibri" pitchFamily="34" charset="0"/>
                <a:ea typeface="Calibri" pitchFamily="34" charset="-122"/>
                <a:cs typeface="Calibri" pitchFamily="34" charset="-120"/>
              </a:rPr>
              <a:t>Auditoria 2025</a:t>
            </a:r>
            <a:endParaRPr lang="en-US" sz="1400" dirty="0"/>
          </a:p>
        </p:txBody>
      </p:sp>
      <p:sp>
        <p:nvSpPr>
          <p:cNvPr id="15" name="Text 10"/>
          <p:cNvSpPr/>
          <p:nvPr/>
        </p:nvSpPr>
        <p:spPr>
          <a:xfrm>
            <a:off x="5029200" y="1463040"/>
            <a:ext cx="3291840" cy="25603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2D3748"/>
                </a:solidFill>
                <a:latin typeface="Calibri" pitchFamily="34" charset="0"/>
                <a:ea typeface="Calibri" pitchFamily="34" charset="-122"/>
                <a:cs typeface="Calibri" pitchFamily="34" charset="-120"/>
              </a:rPr>
              <a:t>Noviembre 2025</a:t>
            </a:r>
            <a:endParaRPr lang="en-US" sz="1200" dirty="0"/>
          </a:p>
          <a:p>
            <a:pPr marL="342900" indent="-342900">
              <a:spcAft>
                <a:spcPts val="800"/>
              </a:spcAft>
              <a:buSzPct val="100000"/>
              <a:buChar char="•"/>
            </a:pPr>
            <a:r>
              <a:rPr lang="en-US" sz="1200" dirty="0">
                <a:solidFill>
                  <a:srgbClr val="2D3748"/>
                </a:solidFill>
                <a:latin typeface="Calibri" pitchFamily="34" charset="0"/>
                <a:ea typeface="Calibri" pitchFamily="34" charset="-122"/>
                <a:cs typeface="Calibri" pitchFamily="34" charset="-120"/>
              </a:rPr>
              <a:t>Auditor acreditado SGSI-ENS</a:t>
            </a:r>
            <a:endParaRPr lang="en-US" sz="1200" dirty="0"/>
          </a:p>
          <a:p>
            <a:pPr marL="342900" indent="-342900">
              <a:spcAft>
                <a:spcPts val="800"/>
              </a:spcAft>
              <a:buSzPct val="100000"/>
              <a:buChar char="•"/>
            </a:pPr>
            <a:r>
              <a:rPr lang="en-US" sz="1200" dirty="0">
                <a:solidFill>
                  <a:srgbClr val="2D3748"/>
                </a:solidFill>
                <a:latin typeface="Calibri" pitchFamily="34" charset="0"/>
                <a:ea typeface="Calibri" pitchFamily="34" charset="-122"/>
                <a:cs typeface="Calibri" pitchFamily="34" charset="-120"/>
              </a:rPr>
              <a:t>Areas de mejora identificadas</a:t>
            </a:r>
            <a:endParaRPr lang="en-US" sz="1200" dirty="0"/>
          </a:p>
          <a:p>
            <a:pPr marL="342900" indent="-342900">
              <a:spcAft>
                <a:spcPts val="800"/>
              </a:spcAft>
              <a:buSzPct val="100000"/>
              <a:buChar char="•"/>
            </a:pPr>
            <a:r>
              <a:rPr lang="en-US" sz="1200" dirty="0">
                <a:solidFill>
                  <a:srgbClr val="2D3748"/>
                </a:solidFill>
                <a:latin typeface="Calibri" pitchFamily="34" charset="0"/>
                <a:ea typeface="Calibri" pitchFamily="34" charset="-122"/>
                <a:cs typeface="Calibri" pitchFamily="34" charset="-120"/>
              </a:rPr>
              <a:t>Plan de accion en marcha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Plan de Concienciacion 2026</a:t>
            </a:r>
            <a:endParaRPr lang="en-US" sz="2200" dirty="0"/>
          </a:p>
        </p:txBody>
      </p:sp>
      <p:sp>
        <p:nvSpPr>
          <p:cNvPr id="3" name="Shape 1"/>
          <p:cNvSpPr/>
          <p:nvPr/>
        </p:nvSpPr>
        <p:spPr>
          <a:xfrm>
            <a:off x="1161288" y="1371600"/>
            <a:ext cx="54864" cy="548640"/>
          </a:xfrm>
          <a:prstGeom prst="rect">
            <a:avLst/>
          </a:prstGeom>
          <a:solidFill>
            <a:srgbClr val="D1FBF0"/>
          </a:solidFill>
          <a:ln/>
        </p:spPr>
      </p:sp>
      <p:sp>
        <p:nvSpPr>
          <p:cNvPr id="4" name="Shape 2"/>
          <p:cNvSpPr/>
          <p:nvPr/>
        </p:nvSpPr>
        <p:spPr>
          <a:xfrm>
            <a:off x="1005840" y="1005840"/>
            <a:ext cx="365760" cy="365760"/>
          </a:xfrm>
          <a:prstGeom prst="ellipse">
            <a:avLst/>
          </a:prstGeom>
          <a:solidFill>
            <a:srgbClr val="0D9A76"/>
          </a:solidFill>
          <a:ln/>
        </p:spPr>
      </p:sp>
      <p:sp>
        <p:nvSpPr>
          <p:cNvPr id="5" name="Text 3"/>
          <p:cNvSpPr/>
          <p:nvPr/>
        </p:nvSpPr>
        <p:spPr>
          <a:xfrm>
            <a:off x="1005840" y="10058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554480" y="932688"/>
            <a:ext cx="649224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Formacion anual obligatoria</a:t>
            </a:r>
            <a:endParaRPr lang="en-US" sz="1400" dirty="0"/>
          </a:p>
        </p:txBody>
      </p:sp>
      <p:sp>
        <p:nvSpPr>
          <p:cNvPr id="7" name="Text 5"/>
          <p:cNvSpPr/>
          <p:nvPr/>
        </p:nvSpPr>
        <p:spPr>
          <a:xfrm>
            <a:off x="1554480" y="1234440"/>
            <a:ext cx="649224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Sesiones presenciales y online para todo el equipo</a:t>
            </a:r>
            <a:endParaRPr lang="en-US" sz="1100" dirty="0"/>
          </a:p>
        </p:txBody>
      </p:sp>
      <p:sp>
        <p:nvSpPr>
          <p:cNvPr id="8" name="Shape 6"/>
          <p:cNvSpPr/>
          <p:nvPr/>
        </p:nvSpPr>
        <p:spPr>
          <a:xfrm>
            <a:off x="1161288" y="2103120"/>
            <a:ext cx="54864" cy="548640"/>
          </a:xfrm>
          <a:prstGeom prst="rect">
            <a:avLst/>
          </a:prstGeom>
          <a:solidFill>
            <a:srgbClr val="D1FBF0"/>
          </a:solidFill>
          <a:ln/>
        </p:spPr>
      </p:sp>
      <p:sp>
        <p:nvSpPr>
          <p:cNvPr id="9" name="Shape 7"/>
          <p:cNvSpPr/>
          <p:nvPr/>
        </p:nvSpPr>
        <p:spPr>
          <a:xfrm>
            <a:off x="1005840" y="1737360"/>
            <a:ext cx="365760" cy="365760"/>
          </a:xfrm>
          <a:prstGeom prst="ellipse">
            <a:avLst/>
          </a:prstGeom>
          <a:solidFill>
            <a:srgbClr val="0D9A76"/>
          </a:solidFill>
          <a:ln/>
        </p:spPr>
      </p:sp>
      <p:sp>
        <p:nvSpPr>
          <p:cNvPr id="10" name="Text 8"/>
          <p:cNvSpPr/>
          <p:nvPr/>
        </p:nvSpPr>
        <p:spPr>
          <a:xfrm>
            <a:off x="1005840" y="1737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554480" y="1664208"/>
            <a:ext cx="649224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Simulacros de phishing periodicos</a:t>
            </a:r>
            <a:endParaRPr lang="en-US" sz="1400" dirty="0"/>
          </a:p>
        </p:txBody>
      </p:sp>
      <p:sp>
        <p:nvSpPr>
          <p:cNvPr id="12" name="Text 10"/>
          <p:cNvSpPr/>
          <p:nvPr/>
        </p:nvSpPr>
        <p:spPr>
          <a:xfrm>
            <a:off x="1554480" y="1965960"/>
            <a:ext cx="649224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Ejercicios practicos para detectar ataques</a:t>
            </a:r>
            <a:endParaRPr lang="en-US" sz="1100" dirty="0"/>
          </a:p>
        </p:txBody>
      </p:sp>
      <p:sp>
        <p:nvSpPr>
          <p:cNvPr id="13" name="Shape 11"/>
          <p:cNvSpPr/>
          <p:nvPr/>
        </p:nvSpPr>
        <p:spPr>
          <a:xfrm>
            <a:off x="1161288" y="2834640"/>
            <a:ext cx="54864" cy="548640"/>
          </a:xfrm>
          <a:prstGeom prst="rect">
            <a:avLst/>
          </a:prstGeom>
          <a:solidFill>
            <a:srgbClr val="D1FBF0"/>
          </a:solidFill>
          <a:ln/>
        </p:spPr>
      </p:sp>
      <p:sp>
        <p:nvSpPr>
          <p:cNvPr id="14" name="Shape 12"/>
          <p:cNvSpPr/>
          <p:nvPr/>
        </p:nvSpPr>
        <p:spPr>
          <a:xfrm>
            <a:off x="1005840" y="2468880"/>
            <a:ext cx="365760" cy="365760"/>
          </a:xfrm>
          <a:prstGeom prst="ellipse">
            <a:avLst/>
          </a:prstGeom>
          <a:solidFill>
            <a:srgbClr val="0D9A76"/>
          </a:solidFill>
          <a:ln/>
        </p:spPr>
      </p:sp>
      <p:sp>
        <p:nvSpPr>
          <p:cNvPr id="15" name="Text 13"/>
          <p:cNvSpPr/>
          <p:nvPr/>
        </p:nvSpPr>
        <p:spPr>
          <a:xfrm>
            <a:off x="1005840" y="2468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554480" y="2395728"/>
            <a:ext cx="649224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Actualizaciones trimestrales del Comite</a:t>
            </a:r>
            <a:endParaRPr lang="en-US" sz="1400" dirty="0"/>
          </a:p>
        </p:txBody>
      </p:sp>
      <p:sp>
        <p:nvSpPr>
          <p:cNvPr id="17" name="Text 15"/>
          <p:cNvSpPr/>
          <p:nvPr/>
        </p:nvSpPr>
        <p:spPr>
          <a:xfrm>
            <a:off x="1554480" y="2697480"/>
            <a:ext cx="649224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Revision del estado del SGSI cada trimestre</a:t>
            </a:r>
            <a:endParaRPr lang="en-US" sz="1100" dirty="0"/>
          </a:p>
        </p:txBody>
      </p:sp>
      <p:sp>
        <p:nvSpPr>
          <p:cNvPr id="18" name="Shape 16"/>
          <p:cNvSpPr/>
          <p:nvPr/>
        </p:nvSpPr>
        <p:spPr>
          <a:xfrm>
            <a:off x="1161288" y="3566160"/>
            <a:ext cx="54864" cy="548640"/>
          </a:xfrm>
          <a:prstGeom prst="rect">
            <a:avLst/>
          </a:prstGeom>
          <a:solidFill>
            <a:srgbClr val="D1FBF0"/>
          </a:solidFill>
          <a:ln/>
        </p:spPr>
      </p:sp>
      <p:sp>
        <p:nvSpPr>
          <p:cNvPr id="19" name="Shape 17"/>
          <p:cNvSpPr/>
          <p:nvPr/>
        </p:nvSpPr>
        <p:spPr>
          <a:xfrm>
            <a:off x="1005840" y="3200400"/>
            <a:ext cx="365760" cy="365760"/>
          </a:xfrm>
          <a:prstGeom prst="ellipse">
            <a:avLst/>
          </a:prstGeom>
          <a:solidFill>
            <a:srgbClr val="0D9A76"/>
          </a:solidFill>
          <a:ln/>
        </p:spPr>
      </p:sp>
      <p:sp>
        <p:nvSpPr>
          <p:cNvPr id="20" name="Text 18"/>
          <p:cNvSpPr/>
          <p:nvPr/>
        </p:nvSpPr>
        <p:spPr>
          <a:xfrm>
            <a:off x="1005840" y="3200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554480" y="3127248"/>
            <a:ext cx="649224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Certificaciones tecnicas (roadmap)</a:t>
            </a:r>
            <a:endParaRPr lang="en-US" sz="1400" dirty="0"/>
          </a:p>
        </p:txBody>
      </p:sp>
      <p:sp>
        <p:nvSpPr>
          <p:cNvPr id="22" name="Text 20"/>
          <p:cNvSpPr/>
          <p:nvPr/>
        </p:nvSpPr>
        <p:spPr>
          <a:xfrm>
            <a:off x="1554480" y="3429000"/>
            <a:ext cx="649224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Formacion especializada para el equipo tecnico</a:t>
            </a:r>
            <a:endParaRPr lang="en-US" sz="1100" dirty="0"/>
          </a:p>
        </p:txBody>
      </p:sp>
      <p:sp>
        <p:nvSpPr>
          <p:cNvPr id="23" name="Shape 21"/>
          <p:cNvSpPr/>
          <p:nvPr/>
        </p:nvSpPr>
        <p:spPr>
          <a:xfrm>
            <a:off x="1005840" y="3931920"/>
            <a:ext cx="365760" cy="365760"/>
          </a:xfrm>
          <a:prstGeom prst="ellipse">
            <a:avLst/>
          </a:prstGeom>
          <a:solidFill>
            <a:srgbClr val="0D9A76"/>
          </a:solidFill>
          <a:ln/>
        </p:spPr>
      </p:sp>
      <p:sp>
        <p:nvSpPr>
          <p:cNvPr id="24" name="Text 22"/>
          <p:cNvSpPr/>
          <p:nvPr/>
        </p:nvSpPr>
        <p:spPr>
          <a:xfrm>
            <a:off x="1005840" y="3931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1554480" y="3858768"/>
            <a:ext cx="6492240" cy="274320"/>
          </a:xfrm>
          <a:prstGeom prst="rect">
            <a:avLst/>
          </a:prstGeom>
          <a:noFill/>
          <a:ln/>
        </p:spPr>
        <p:txBody>
          <a:bodyPr wrap="square" lIns="0" tIns="0" rIns="0" bIns="0" rtlCol="0" anchor="ctr"/>
          <a:lstStyle/>
          <a:p>
            <a:pPr indent="0" marL="0">
              <a:buNone/>
            </a:pPr>
            <a:r>
              <a:rPr lang="en-US" sz="1400" b="1" dirty="0">
                <a:solidFill>
                  <a:srgbClr val="2D3748"/>
                </a:solidFill>
                <a:latin typeface="Calibri" pitchFamily="34" charset="0"/>
                <a:ea typeface="Calibri" pitchFamily="34" charset="-122"/>
                <a:cs typeface="Calibri" pitchFamily="34" charset="-120"/>
              </a:rPr>
              <a:t>Revision de politicas y procedimientos</a:t>
            </a:r>
            <a:endParaRPr lang="en-US" sz="1400" dirty="0"/>
          </a:p>
        </p:txBody>
      </p:sp>
      <p:sp>
        <p:nvSpPr>
          <p:cNvPr id="26" name="Text 24"/>
          <p:cNvSpPr/>
          <p:nvPr/>
        </p:nvSpPr>
        <p:spPr>
          <a:xfrm>
            <a:off x="1554480" y="4160520"/>
            <a:ext cx="6492240" cy="2743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Actualizacion anual de toda la documentacion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Recursos y Contactos</a:t>
            </a:r>
            <a:endParaRPr lang="en-US" sz="2200" dirty="0"/>
          </a:p>
        </p:txBody>
      </p:sp>
      <p:sp>
        <p:nvSpPr>
          <p:cNvPr id="3" name="Shape 1"/>
          <p:cNvSpPr/>
          <p:nvPr/>
        </p:nvSpPr>
        <p:spPr>
          <a:xfrm>
            <a:off x="731520" y="914400"/>
            <a:ext cx="3657600" cy="1645920"/>
          </a:xfrm>
          <a:prstGeom prst="roundRect">
            <a:avLst>
              <a:gd name="adj" fmla="val 4444"/>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731520" y="914400"/>
            <a:ext cx="54864" cy="1645920"/>
          </a:xfrm>
          <a:prstGeom prst="rect">
            <a:avLst>
              <a:gd name="adj" fmla="val 50000"/>
            </a:avLst>
          </a:prstGeom>
          <a:solidFill>
            <a:srgbClr val="0D9A76"/>
          </a:solidFill>
          <a:ln/>
        </p:spPr>
      </p:sp>
      <p:sp>
        <p:nvSpPr>
          <p:cNvPr id="5" name="Shape 3"/>
          <p:cNvSpPr/>
          <p:nvPr/>
        </p:nvSpPr>
        <p:spPr>
          <a:xfrm>
            <a:off x="960120" y="1371600"/>
            <a:ext cx="457200" cy="457200"/>
          </a:xfrm>
          <a:prstGeom prst="ellipse">
            <a:avLst/>
          </a:prstGeom>
          <a:solidFill>
            <a:srgbClr val="D1FBF0"/>
          </a:solidFill>
          <a:ln/>
        </p:spPr>
      </p:sp>
      <p:pic>
        <p:nvPicPr>
          <p:cNvPr id="6" name="Image 0" descr="preencoded.png"/>
          <p:cNvPicPr>
            <a:picLocks noChangeAspect="1"/>
          </p:cNvPicPr>
          <p:nvPr/>
        </p:nvPicPr>
        <p:blipFill>
          <a:blip r:embed="rId1"/>
          <a:stretch>
            <a:fillRect/>
          </a:stretch>
        </p:blipFill>
        <p:spPr>
          <a:xfrm>
            <a:off x="1051560" y="1463040"/>
            <a:ext cx="274320" cy="274320"/>
          </a:xfrm>
          <a:prstGeom prst="rect">
            <a:avLst/>
          </a:prstGeom>
        </p:spPr>
      </p:pic>
      <p:sp>
        <p:nvSpPr>
          <p:cNvPr id="7" name="Text 4"/>
          <p:cNvSpPr/>
          <p:nvPr/>
        </p:nvSpPr>
        <p:spPr>
          <a:xfrm>
            <a:off x="1554480" y="1143000"/>
            <a:ext cx="2651760" cy="32004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BOE — RD 311/2022</a:t>
            </a:r>
            <a:endParaRPr lang="en-US" sz="1500" dirty="0"/>
          </a:p>
        </p:txBody>
      </p:sp>
      <p:sp>
        <p:nvSpPr>
          <p:cNvPr id="8" name="Text 5"/>
          <p:cNvSpPr/>
          <p:nvPr/>
        </p:nvSpPr>
        <p:spPr>
          <a:xfrm>
            <a:off x="1554480" y="1508760"/>
            <a:ext cx="2651760" cy="7315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Texto completo del Esquema Nacional de Seguridad (boe.es)</a:t>
            </a:r>
            <a:endParaRPr lang="en-US" sz="1100" dirty="0"/>
          </a:p>
        </p:txBody>
      </p:sp>
      <p:sp>
        <p:nvSpPr>
          <p:cNvPr id="9" name="Shape 6"/>
          <p:cNvSpPr/>
          <p:nvPr/>
        </p:nvSpPr>
        <p:spPr>
          <a:xfrm>
            <a:off x="4754880" y="914400"/>
            <a:ext cx="3657600" cy="1645920"/>
          </a:xfrm>
          <a:prstGeom prst="roundRect">
            <a:avLst>
              <a:gd name="adj" fmla="val 4444"/>
            </a:avLst>
          </a:prstGeom>
          <a:solidFill>
            <a:srgbClr val="FFFFFF"/>
          </a:solidFill>
          <a:ln/>
          <a:effectLst>
            <a:outerShdw sx="100000" sy="100000" kx="0" ky="0" algn="bl" rotWithShape="0" blurRad="50800" dist="25400" dir="8100000">
              <a:srgbClr val="000000">
                <a:alpha val="10000"/>
              </a:srgbClr>
            </a:outerShdw>
          </a:effectLst>
        </p:spPr>
      </p:sp>
      <p:sp>
        <p:nvSpPr>
          <p:cNvPr id="10" name="Shape 7"/>
          <p:cNvSpPr/>
          <p:nvPr/>
        </p:nvSpPr>
        <p:spPr>
          <a:xfrm>
            <a:off x="4754880" y="914400"/>
            <a:ext cx="54864" cy="1645920"/>
          </a:xfrm>
          <a:prstGeom prst="rect">
            <a:avLst>
              <a:gd name="adj" fmla="val 50000"/>
            </a:avLst>
          </a:prstGeom>
          <a:solidFill>
            <a:srgbClr val="0D9A76"/>
          </a:solidFill>
          <a:ln/>
        </p:spPr>
      </p:sp>
      <p:sp>
        <p:nvSpPr>
          <p:cNvPr id="11" name="Shape 8"/>
          <p:cNvSpPr/>
          <p:nvPr/>
        </p:nvSpPr>
        <p:spPr>
          <a:xfrm>
            <a:off x="4983480" y="1371600"/>
            <a:ext cx="457200" cy="457200"/>
          </a:xfrm>
          <a:prstGeom prst="ellipse">
            <a:avLst/>
          </a:prstGeom>
          <a:solidFill>
            <a:srgbClr val="D1FBF0"/>
          </a:solidFill>
          <a:ln/>
        </p:spPr>
      </p:sp>
      <p:pic>
        <p:nvPicPr>
          <p:cNvPr id="12" name="Image 1" descr="preencoded.png"/>
          <p:cNvPicPr>
            <a:picLocks noChangeAspect="1"/>
          </p:cNvPicPr>
          <p:nvPr/>
        </p:nvPicPr>
        <p:blipFill>
          <a:blip r:embed="rId2"/>
          <a:stretch>
            <a:fillRect/>
          </a:stretch>
        </p:blipFill>
        <p:spPr>
          <a:xfrm>
            <a:off x="5074920" y="1463040"/>
            <a:ext cx="274320" cy="274320"/>
          </a:xfrm>
          <a:prstGeom prst="rect">
            <a:avLst/>
          </a:prstGeom>
        </p:spPr>
      </p:pic>
      <p:sp>
        <p:nvSpPr>
          <p:cNvPr id="13" name="Text 9"/>
          <p:cNvSpPr/>
          <p:nvPr/>
        </p:nvSpPr>
        <p:spPr>
          <a:xfrm>
            <a:off x="5577840" y="1143000"/>
            <a:ext cx="2651760" cy="32004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CISO</a:t>
            </a:r>
            <a:endParaRPr lang="en-US" sz="1500" dirty="0"/>
          </a:p>
        </p:txBody>
      </p:sp>
      <p:sp>
        <p:nvSpPr>
          <p:cNvPr id="14" name="Text 10"/>
          <p:cNvSpPr/>
          <p:nvPr/>
        </p:nvSpPr>
        <p:spPr>
          <a:xfrm>
            <a:off x="5577840" y="1508760"/>
            <a:ext cx="2651760" cy="7315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Incidentes de seguridad y consultas tecnicas</a:t>
            </a:r>
            <a:endParaRPr lang="en-US" sz="1100" dirty="0"/>
          </a:p>
        </p:txBody>
      </p:sp>
      <p:sp>
        <p:nvSpPr>
          <p:cNvPr id="15" name="Shape 11"/>
          <p:cNvSpPr/>
          <p:nvPr/>
        </p:nvSpPr>
        <p:spPr>
          <a:xfrm>
            <a:off x="731520" y="2834640"/>
            <a:ext cx="3657600" cy="1645920"/>
          </a:xfrm>
          <a:prstGeom prst="roundRect">
            <a:avLst>
              <a:gd name="adj" fmla="val 4444"/>
            </a:avLst>
          </a:prstGeom>
          <a:solidFill>
            <a:srgbClr val="FFFFFF"/>
          </a:solidFill>
          <a:ln/>
          <a:effectLst>
            <a:outerShdw sx="100000" sy="100000" kx="0" ky="0" algn="bl" rotWithShape="0" blurRad="50800" dist="25400" dir="8100000">
              <a:srgbClr val="000000">
                <a:alpha val="10000"/>
              </a:srgbClr>
            </a:outerShdw>
          </a:effectLst>
        </p:spPr>
      </p:sp>
      <p:sp>
        <p:nvSpPr>
          <p:cNvPr id="16" name="Shape 12"/>
          <p:cNvSpPr/>
          <p:nvPr/>
        </p:nvSpPr>
        <p:spPr>
          <a:xfrm>
            <a:off x="731520" y="2834640"/>
            <a:ext cx="54864" cy="1645920"/>
          </a:xfrm>
          <a:prstGeom prst="rect">
            <a:avLst>
              <a:gd name="adj" fmla="val 50000"/>
            </a:avLst>
          </a:prstGeom>
          <a:solidFill>
            <a:srgbClr val="0D9A76"/>
          </a:solidFill>
          <a:ln/>
        </p:spPr>
      </p:sp>
      <p:sp>
        <p:nvSpPr>
          <p:cNvPr id="17" name="Shape 13"/>
          <p:cNvSpPr/>
          <p:nvPr/>
        </p:nvSpPr>
        <p:spPr>
          <a:xfrm>
            <a:off x="960120" y="3291840"/>
            <a:ext cx="457200" cy="457200"/>
          </a:xfrm>
          <a:prstGeom prst="ellipse">
            <a:avLst/>
          </a:prstGeom>
          <a:solidFill>
            <a:srgbClr val="D1FBF0"/>
          </a:solidFill>
          <a:ln/>
        </p:spPr>
      </p:sp>
      <p:pic>
        <p:nvPicPr>
          <p:cNvPr id="18" name="Image 2" descr="preencoded.png"/>
          <p:cNvPicPr>
            <a:picLocks noChangeAspect="1"/>
          </p:cNvPicPr>
          <p:nvPr/>
        </p:nvPicPr>
        <p:blipFill>
          <a:blip r:embed="rId3"/>
          <a:stretch>
            <a:fillRect/>
          </a:stretch>
        </p:blipFill>
        <p:spPr>
          <a:xfrm>
            <a:off x="1051560" y="3383280"/>
            <a:ext cx="274320" cy="274320"/>
          </a:xfrm>
          <a:prstGeom prst="rect">
            <a:avLst/>
          </a:prstGeom>
        </p:spPr>
      </p:pic>
      <p:sp>
        <p:nvSpPr>
          <p:cNvPr id="19" name="Text 14"/>
          <p:cNvSpPr/>
          <p:nvPr/>
        </p:nvSpPr>
        <p:spPr>
          <a:xfrm>
            <a:off x="1554480" y="3063240"/>
            <a:ext cx="2651760" cy="32004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DPO</a:t>
            </a:r>
            <a:endParaRPr lang="en-US" sz="1500" dirty="0"/>
          </a:p>
        </p:txBody>
      </p:sp>
      <p:sp>
        <p:nvSpPr>
          <p:cNvPr id="20" name="Text 15"/>
          <p:cNvSpPr/>
          <p:nvPr/>
        </p:nvSpPr>
        <p:spPr>
          <a:xfrm>
            <a:off x="1554480" y="3429000"/>
            <a:ext cx="2651760" cy="7315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Proteccion de datos personales y derechos RGPD</a:t>
            </a:r>
            <a:endParaRPr lang="en-US" sz="1100" dirty="0"/>
          </a:p>
        </p:txBody>
      </p:sp>
      <p:sp>
        <p:nvSpPr>
          <p:cNvPr id="21" name="Shape 16"/>
          <p:cNvSpPr/>
          <p:nvPr/>
        </p:nvSpPr>
        <p:spPr>
          <a:xfrm>
            <a:off x="4754880" y="2834640"/>
            <a:ext cx="3657600" cy="1645920"/>
          </a:xfrm>
          <a:prstGeom prst="roundRect">
            <a:avLst>
              <a:gd name="adj" fmla="val 4444"/>
            </a:avLst>
          </a:prstGeom>
          <a:solidFill>
            <a:srgbClr val="FFFFFF"/>
          </a:solidFill>
          <a:ln/>
          <a:effectLst>
            <a:outerShdw sx="100000" sy="100000" kx="0" ky="0" algn="bl" rotWithShape="0" blurRad="50800" dist="25400" dir="8100000">
              <a:srgbClr val="000000">
                <a:alpha val="10000"/>
              </a:srgbClr>
            </a:outerShdw>
          </a:effectLst>
        </p:spPr>
      </p:sp>
      <p:sp>
        <p:nvSpPr>
          <p:cNvPr id="22" name="Shape 17"/>
          <p:cNvSpPr/>
          <p:nvPr/>
        </p:nvSpPr>
        <p:spPr>
          <a:xfrm>
            <a:off x="4754880" y="2834640"/>
            <a:ext cx="54864" cy="1645920"/>
          </a:xfrm>
          <a:prstGeom prst="rect">
            <a:avLst>
              <a:gd name="adj" fmla="val 50000"/>
            </a:avLst>
          </a:prstGeom>
          <a:solidFill>
            <a:srgbClr val="0D9A76"/>
          </a:solidFill>
          <a:ln/>
        </p:spPr>
      </p:sp>
      <p:sp>
        <p:nvSpPr>
          <p:cNvPr id="23" name="Shape 18"/>
          <p:cNvSpPr/>
          <p:nvPr/>
        </p:nvSpPr>
        <p:spPr>
          <a:xfrm>
            <a:off x="4983480" y="3291840"/>
            <a:ext cx="457200" cy="457200"/>
          </a:xfrm>
          <a:prstGeom prst="ellipse">
            <a:avLst/>
          </a:prstGeom>
          <a:solidFill>
            <a:srgbClr val="D1FBF0"/>
          </a:solidFill>
          <a:ln/>
        </p:spPr>
      </p:sp>
      <p:pic>
        <p:nvPicPr>
          <p:cNvPr id="24" name="Image 3" descr="preencoded.png"/>
          <p:cNvPicPr>
            <a:picLocks noChangeAspect="1"/>
          </p:cNvPicPr>
          <p:nvPr/>
        </p:nvPicPr>
        <p:blipFill>
          <a:blip r:embed="rId4"/>
          <a:stretch>
            <a:fillRect/>
          </a:stretch>
        </p:blipFill>
        <p:spPr>
          <a:xfrm>
            <a:off x="5074920" y="3383280"/>
            <a:ext cx="274320" cy="274320"/>
          </a:xfrm>
          <a:prstGeom prst="rect">
            <a:avLst/>
          </a:prstGeom>
        </p:spPr>
      </p:pic>
      <p:sp>
        <p:nvSpPr>
          <p:cNvPr id="25" name="Text 19"/>
          <p:cNvSpPr/>
          <p:nvPr/>
        </p:nvSpPr>
        <p:spPr>
          <a:xfrm>
            <a:off x="5577840" y="3063240"/>
            <a:ext cx="2651760" cy="320040"/>
          </a:xfrm>
          <a:prstGeom prst="rect">
            <a:avLst/>
          </a:prstGeom>
          <a:noFill/>
          <a:ln/>
        </p:spPr>
        <p:txBody>
          <a:bodyPr wrap="square" lIns="0" tIns="0" rIns="0" bIns="0" rtlCol="0" anchor="ctr"/>
          <a:lstStyle/>
          <a:p>
            <a:pPr indent="0" marL="0">
              <a:buNone/>
            </a:pPr>
            <a:r>
              <a:rPr lang="en-US" sz="1500" b="1" dirty="0">
                <a:solidFill>
                  <a:srgbClr val="2D3748"/>
                </a:solidFill>
                <a:latin typeface="Calibri" pitchFamily="34" charset="0"/>
                <a:ea typeface="Calibri" pitchFamily="34" charset="-122"/>
                <a:cs typeface="Calibri" pitchFamily="34" charset="-120"/>
              </a:rPr>
              <a:t>Comite de Seguridad</a:t>
            </a:r>
            <a:endParaRPr lang="en-US" sz="1500" dirty="0"/>
          </a:p>
        </p:txBody>
      </p:sp>
      <p:sp>
        <p:nvSpPr>
          <p:cNvPr id="26" name="Text 20"/>
          <p:cNvSpPr/>
          <p:nvPr/>
        </p:nvSpPr>
        <p:spPr>
          <a:xfrm>
            <a:off x="5577840" y="3429000"/>
            <a:ext cx="2651760" cy="731520"/>
          </a:xfrm>
          <a:prstGeom prst="rect">
            <a:avLst/>
          </a:prstGeom>
          <a:noFill/>
          <a:ln/>
        </p:spPr>
        <p:txBody>
          <a:bodyPr wrap="square" lIns="0" tIns="0" rIns="0" bIns="0" rtlCol="0" anchor="ctr"/>
          <a:lstStyle/>
          <a:p>
            <a:pPr indent="0" marL="0">
              <a:buNone/>
            </a:pPr>
            <a:r>
              <a:rPr lang="en-US" sz="1100" dirty="0">
                <a:solidFill>
                  <a:srgbClr val="6B7B8D"/>
                </a:solidFill>
                <a:latin typeface="Calibri" pitchFamily="34" charset="0"/>
                <a:ea typeface="Calibri" pitchFamily="34" charset="-122"/>
                <a:cs typeface="Calibri" pitchFamily="34" charset="-120"/>
              </a:rPr>
              <a:t>Supervision general del SGSI y toma de decisiones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914400"/>
            <a:ext cx="8229600" cy="91440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Preguntas?</a:t>
            </a:r>
            <a:endParaRPr lang="en-US" sz="4400" dirty="0"/>
          </a:p>
        </p:txBody>
      </p:sp>
      <p:sp>
        <p:nvSpPr>
          <p:cNvPr id="3" name="Text 1"/>
          <p:cNvSpPr/>
          <p:nvPr/>
        </p:nvSpPr>
        <p:spPr>
          <a:xfrm>
            <a:off x="1828800" y="2286000"/>
            <a:ext cx="5486400" cy="182880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La seguridad es responsabilidad de todos</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Es mejor una falsa alarma que un incidente no reportado</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Gracias por vuestro compromiso</a:t>
            </a:r>
            <a:endParaRPr lang="en-US" sz="1400" dirty="0"/>
          </a:p>
        </p:txBody>
      </p:sp>
      <p:pic>
        <p:nvPicPr>
          <p:cNvPr id="4" name="Image 0" descr="preencoded.png"/>
          <p:cNvPicPr>
            <a:picLocks noChangeAspect="1"/>
          </p:cNvPicPr>
          <p:nvPr/>
        </p:nvPicPr>
        <p:blipFill>
          <a:blip r:embed="rId1"/>
          <a:stretch>
            <a:fillRect/>
          </a:stretch>
        </p:blipFill>
        <p:spPr>
          <a:xfrm>
            <a:off x="3886200" y="4114800"/>
            <a:ext cx="1371600" cy="55842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7FAF9"/>
        </a:solidFill>
      </p:bgPr>
    </p:bg>
    <p:spTree>
      <p:nvGrpSpPr>
        <p:cNvPr id="1" name=""/>
        <p:cNvGrpSpPr/>
        <p:nvPr/>
      </p:nvGrpSpPr>
      <p:grpSpPr>
        <a:xfrm>
          <a:off x="0" y="0"/>
          <a:ext cx="0" cy="0"/>
          <a:chOff x="0" y="0"/>
          <a:chExt cx="0" cy="0"/>
        </a:xfrm>
      </p:grpSpPr>
      <p:sp>
        <p:nvSpPr>
          <p:cNvPr id="2" name="Text 0"/>
          <p:cNvSpPr/>
          <p:nvPr/>
        </p:nvSpPr>
        <p:spPr>
          <a:xfrm>
            <a:off x="548640" y="274320"/>
            <a:ext cx="7315200" cy="457200"/>
          </a:xfrm>
          <a:prstGeom prst="rect">
            <a:avLst/>
          </a:prstGeom>
          <a:noFill/>
          <a:ln/>
        </p:spPr>
        <p:txBody>
          <a:bodyPr wrap="square" rtlCol="0" anchor="ctr"/>
          <a:lstStyle/>
          <a:p>
            <a:pPr indent="0" marL="0">
              <a:buNone/>
            </a:pPr>
            <a:r>
              <a:rPr lang="en-US" sz="2200" b="1" dirty="0">
                <a:solidFill>
                  <a:srgbClr val="0D9A76"/>
                </a:solidFill>
                <a:latin typeface="Calibri" pitchFamily="34" charset="0"/>
                <a:ea typeface="Calibri" pitchFamily="34" charset="-122"/>
                <a:cs typeface="Calibri" pitchFamily="34" charset="-120"/>
              </a:rPr>
              <a:t>Nuevas Herramientas = Nuevo Tratamiento de Datos</a:t>
            </a:r>
            <a:endParaRPr lang="en-US" sz="2200" dirty="0"/>
          </a:p>
        </p:txBody>
      </p:sp>
      <p:sp>
        <p:nvSpPr>
          <p:cNvPr id="3" name="Shape 1"/>
          <p:cNvSpPr/>
          <p:nvPr/>
        </p:nvSpPr>
        <p:spPr>
          <a:xfrm>
            <a:off x="640080" y="914400"/>
            <a:ext cx="3657600" cy="3474720"/>
          </a:xfrm>
          <a:prstGeom prst="roundRect">
            <a:avLst>
              <a:gd name="adj" fmla="val 2105"/>
            </a:avLst>
          </a:prstGeom>
          <a:solidFill>
            <a:srgbClr val="FFFFFF"/>
          </a:solidFill>
          <a:ln/>
          <a:effectLst>
            <a:outerShdw sx="100000" sy="100000" kx="0" ky="0" algn="bl" rotWithShape="0" blurRad="50800" dist="25400" dir="8100000">
              <a:srgbClr val="000000">
                <a:alpha val="10000"/>
              </a:srgbClr>
            </a:outerShdw>
          </a:effectLst>
        </p:spPr>
      </p:sp>
      <p:sp>
        <p:nvSpPr>
          <p:cNvPr id="4" name="Shape 2"/>
          <p:cNvSpPr/>
          <p:nvPr/>
        </p:nvSpPr>
        <p:spPr>
          <a:xfrm>
            <a:off x="640080" y="914400"/>
            <a:ext cx="54864" cy="3474720"/>
          </a:xfrm>
          <a:prstGeom prst="rect">
            <a:avLst>
              <a:gd name="adj" fmla="val 50000"/>
            </a:avLst>
          </a:prstGeom>
          <a:solidFill>
            <a:srgbClr val="0D9A76"/>
          </a:solidFill>
          <a:ln/>
        </p:spPr>
      </p:sp>
      <p:sp>
        <p:nvSpPr>
          <p:cNvPr id="5" name="Text 3"/>
          <p:cNvSpPr/>
          <p:nvPr/>
        </p:nvSpPr>
        <p:spPr>
          <a:xfrm>
            <a:off x="822960" y="1051560"/>
            <a:ext cx="3291840" cy="320040"/>
          </a:xfrm>
          <a:prstGeom prst="rect">
            <a:avLst/>
          </a:prstGeom>
          <a:noFill/>
          <a:ln/>
        </p:spPr>
        <p:txBody>
          <a:bodyPr wrap="square" lIns="0" tIns="0" rIns="0" bIns="0" rtlCol="0" anchor="ctr"/>
          <a:lstStyle/>
          <a:p>
            <a:pPr indent="0" marL="0">
              <a:buNone/>
            </a:pPr>
            <a:r>
              <a:rPr lang="en-US" sz="1400" b="1" dirty="0">
                <a:solidFill>
                  <a:srgbClr val="0D9A76"/>
                </a:solidFill>
                <a:latin typeface="Calibri" pitchFamily="34" charset="0"/>
                <a:ea typeface="Calibri" pitchFamily="34" charset="-122"/>
                <a:cs typeface="Calibri" pitchFamily="34" charset="-120"/>
              </a:rPr>
              <a:t>Cuando actualizar el RAT (D11)</a:t>
            </a:r>
            <a:endParaRPr lang="en-US" sz="1400" dirty="0"/>
          </a:p>
        </p:txBody>
      </p:sp>
      <p:sp>
        <p:nvSpPr>
          <p:cNvPr id="6" name="Text 4"/>
          <p:cNvSpPr/>
          <p:nvPr/>
        </p:nvSpPr>
        <p:spPr>
          <a:xfrm>
            <a:off x="822960" y="1463040"/>
            <a:ext cx="3291840" cy="27432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Nueva herramienta que trata datos personales (HubSpot, LinkedIn Ads, Mailchimp...)</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Nueva actividad de tratamiento no cubierta en el registro actual</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Nuevo proveedor con acceso a datos personales</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Cambio en la finalidad del tratamiento existente</a:t>
            </a:r>
            <a:endParaRPr lang="en-US" sz="1200" dirty="0"/>
          </a:p>
        </p:txBody>
      </p:sp>
      <p:sp>
        <p:nvSpPr>
          <p:cNvPr id="7" name="Shape 5"/>
          <p:cNvSpPr/>
          <p:nvPr/>
        </p:nvSpPr>
        <p:spPr>
          <a:xfrm>
            <a:off x="4846320" y="914400"/>
            <a:ext cx="3657600" cy="3474720"/>
          </a:xfrm>
          <a:prstGeom prst="roundRect">
            <a:avLst>
              <a:gd name="adj" fmla="val 2105"/>
            </a:avLst>
          </a:prstGeom>
          <a:solidFill>
            <a:srgbClr val="FFFFFF"/>
          </a:solidFill>
          <a:ln/>
          <a:effectLst>
            <a:outerShdw sx="100000" sy="100000" kx="0" ky="0" algn="bl" rotWithShape="0" blurRad="50800" dist="25400" dir="8100000">
              <a:srgbClr val="000000">
                <a:alpha val="10000"/>
              </a:srgbClr>
            </a:outerShdw>
          </a:effectLst>
        </p:spPr>
      </p:sp>
      <p:sp>
        <p:nvSpPr>
          <p:cNvPr id="8" name="Shape 6"/>
          <p:cNvSpPr/>
          <p:nvPr/>
        </p:nvSpPr>
        <p:spPr>
          <a:xfrm>
            <a:off x="4846320" y="914400"/>
            <a:ext cx="54864" cy="3474720"/>
          </a:xfrm>
          <a:prstGeom prst="rect">
            <a:avLst>
              <a:gd name="adj" fmla="val 50000"/>
            </a:avLst>
          </a:prstGeom>
          <a:solidFill>
            <a:srgbClr val="0D9A76"/>
          </a:solidFill>
          <a:ln/>
        </p:spPr>
      </p:sp>
      <p:sp>
        <p:nvSpPr>
          <p:cNvPr id="9" name="Text 7"/>
          <p:cNvSpPr/>
          <p:nvPr/>
        </p:nvSpPr>
        <p:spPr>
          <a:xfrm>
            <a:off x="5029200" y="1051560"/>
            <a:ext cx="3291840" cy="320040"/>
          </a:xfrm>
          <a:prstGeom prst="rect">
            <a:avLst/>
          </a:prstGeom>
          <a:noFill/>
          <a:ln/>
        </p:spPr>
        <p:txBody>
          <a:bodyPr wrap="square" lIns="0" tIns="0" rIns="0" bIns="0" rtlCol="0" anchor="ctr"/>
          <a:lstStyle/>
          <a:p>
            <a:pPr indent="0" marL="0">
              <a:buNone/>
            </a:pPr>
            <a:r>
              <a:rPr lang="en-US" sz="1400" b="1" dirty="0">
                <a:solidFill>
                  <a:srgbClr val="0D9A76"/>
                </a:solidFill>
                <a:latin typeface="Calibri" pitchFamily="34" charset="0"/>
                <a:ea typeface="Calibri" pitchFamily="34" charset="-122"/>
                <a:cs typeface="Calibri" pitchFamily="34" charset="-120"/>
              </a:rPr>
              <a:t>Como notificarlo</a:t>
            </a:r>
            <a:endParaRPr lang="en-US" sz="1400" dirty="0"/>
          </a:p>
        </p:txBody>
      </p:sp>
      <p:sp>
        <p:nvSpPr>
          <p:cNvPr id="10" name="Text 8"/>
          <p:cNvSpPr/>
          <p:nvPr/>
        </p:nvSpPr>
        <p:spPr>
          <a:xfrm>
            <a:off x="5029200" y="1463040"/>
            <a:ext cx="3291840" cy="27432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Opcion 1: Crear ticket en Jira Service Management (tipo: “Solicitud de cambio ENS”)</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Opcion 2: Contactar directamente al DPO o Resp. Seguridad</a:t>
            </a:r>
            <a:endParaRPr lang="en-US" sz="1200" dirty="0"/>
          </a:p>
          <a:p>
            <a:pPr marL="342900" indent="-342900">
              <a:spcAft>
                <a:spcPts val="600"/>
              </a:spcAft>
              <a:buSzPct val="100000"/>
              <a:buChar char="•"/>
            </a:pPr>
            <a:r>
              <a:rPr lang="en-US" sz="1200" b="1" dirty="0">
                <a:solidFill>
                  <a:srgbClr val="2D3748"/>
                </a:solidFill>
                <a:latin typeface="Calibri" pitchFamily="34" charset="0"/>
                <a:ea typeface="Calibri" pitchFamily="34" charset="-122"/>
                <a:cs typeface="Calibri" pitchFamily="34" charset="-120"/>
              </a:rPr>
              <a:t>Obligatorio ANTES de empezar a usar la herramienta</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El DPO evaluara si requiere EIPD (Evaluacion de Impacto)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 en optimTech</dc:title>
  <dc:subject>PptxGenJS Presentation</dc:subject>
  <dc:creator>optimTech</dc:creator>
  <cp:lastModifiedBy>optimTech</cp:lastModifiedBy>
  <cp:revision>1</cp:revision>
  <dcterms:created xsi:type="dcterms:W3CDTF">2026-03-06T15:06:20Z</dcterms:created>
  <dcterms:modified xsi:type="dcterms:W3CDTF">2026-03-06T15:06:20Z</dcterms:modified>
</cp:coreProperties>
</file>